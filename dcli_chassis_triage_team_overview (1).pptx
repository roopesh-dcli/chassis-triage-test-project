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49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focused proof of concept for chassis damage triage. I approached it as a workflow-design exercise rather than a model-accuracy exercise.</a:t>
            </a:r>
          </a:p>
          <a:p>
            <a:r>
              <a:rPr lang="en-US" dirty="0"/>
              <a:t>The central design decision is simple: the model interprets ambiguous language, but deterministic rules and humans retain authority for safety, cost, and consequential decisions.</a:t>
            </a:r>
          </a:p>
          <a:p>
            <a:r>
              <a:rPr lang="en-US" dirty="0"/>
              <a:t>The system accepts a depot report, interprets the narrative, applies structured roadability and policy rules, either resolves it or pauses it for a human, and makes the entire path visible in an operator console.</a:t>
            </a:r>
          </a:p>
          <a:p>
            <a:r>
              <a:rPr lang="en-US" dirty="0"/>
              <a:t>I deliberately kept the scope narrow. The goal is to prove that the agent boundaries, orchestration state, human handoff, and AWS operating model are sound.”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by separating the kinds of uncertainty in the input because that determines the right mechanism.</a:t>
            </a:r>
          </a:p>
          <a:p>
            <a:r>
              <a:rPr lang="en-US" dirty="0"/>
              <a:t>The free-text narrative is genuinely ambiguous. A report may say the chassis feels loose, mention a collision, or contain conflicting observations. That is where an LLM adds value: it turns language into a structured assessment.</a:t>
            </a:r>
          </a:p>
          <a:p>
            <a:r>
              <a:rPr lang="en-US" dirty="0"/>
              <a:t>Roadability is different. The supplied data contains machine-checkable fields and explicit DOT/FMCSA out-of-service rules. I do not want a model deciding whether a brake percentage or tire tread depth is legal. That belongs in deterministic code.</a:t>
            </a:r>
          </a:p>
          <a:p>
            <a:r>
              <a:rPr lang="en-US" dirty="0"/>
              <a:t>Finally, disposition involves business accountability: repair spend, vendor capability, retirement economics, and risk acceptance. Those are named policy thresholds and, when needed, a human decision.</a:t>
            </a:r>
          </a:p>
          <a:p>
            <a:r>
              <a:rPr lang="en-US" dirty="0"/>
              <a:t>My principle is to use the least powerful mechanism that can safely solve the problem. That limits nondeterminism to the one place where it is useful.”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made exactly one node agentic: the Damage Assessor.</a:t>
            </a:r>
          </a:p>
          <a:p>
            <a:r>
              <a:rPr lang="en-US" dirty="0"/>
              <a:t>It receives only the narrative evidence—damage description, incident context, and reporter confidence—and returns a validated Assessment. That Assessment includes severity, repair-scope hint, confidence, rationale, and narrative risk flags such as conflict or total-loss suspicion.</a:t>
            </a:r>
          </a:p>
          <a:p>
            <a:r>
              <a:rPr lang="en-US" dirty="0"/>
              <a:t>I intentionally did not use an LLM for Roadability. The supplied field dictionary explicitly defines the safety rules, so a deterministic implementation is safer, faster, cheaper, and unit-testable.</a:t>
            </a:r>
          </a:p>
          <a:p>
            <a:r>
              <a:rPr lang="en-US" dirty="0"/>
              <a:t>I also did not use an LLM for Cost, Disposition, or the Supervisor. Cost is a structured cost-book lookup. Disposition is a policy tree over roadability, cost, age, and repair capability. And after Assessment, routing is a pure function of graph state.</a:t>
            </a:r>
          </a:p>
          <a:p>
            <a:r>
              <a:rPr lang="en-US" dirty="0"/>
              <a:t>The trade-off is that this is less flashy than a broad ‘agent team.’ But it is far easier to audit and defend, especially for safety and spend decisions.”</a:t>
            </a:r>
          </a:p>
          <a:p>
            <a:r>
              <a:rPr lang="en-US" dirty="0"/>
              <a:t>ֿ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execution model, read left to right.</a:t>
            </a:r>
          </a:p>
          <a:p>
            <a:r>
              <a:rPr lang="en-US" dirty="0"/>
              <a:t>The graph starts with a report. The Supervisor routes it to the Damage Assessor. Once the assessment is written to state, the Supervisor re-enters and routes to Roadability.</a:t>
            </a:r>
          </a:p>
          <a:p>
            <a:r>
              <a:rPr lang="en-US" dirty="0"/>
              <a:t>If there is no early review reason, the Supervisor then routes to Cost, re-enters again, routes to Disposition, and finally decides between Resolve or Human Review.</a:t>
            </a:r>
          </a:p>
          <a:p>
            <a:r>
              <a:rPr lang="en-US" dirty="0"/>
              <a:t>The repeated Supervisor boxes represent the same </a:t>
            </a:r>
            <a:r>
              <a:rPr lang="en-US" dirty="0" err="1"/>
              <a:t>LangGraph</a:t>
            </a:r>
            <a:r>
              <a:rPr lang="en-US" dirty="0"/>
              <a:t> node being re-entered after each specialist step. They are not separate supervisors and the specialists do not run in parallel.</a:t>
            </a:r>
          </a:p>
          <a:p>
            <a:r>
              <a:rPr lang="en-US" dirty="0"/>
              <a:t>There are two terminal patterns. If there is no review trigger, the Supervisor routes directly to Resolve. If there is uncertainty or a high-consequence decision, the Supervisor routes to Human Review, and the human decision then goes directly to Resolve.</a:t>
            </a:r>
          </a:p>
          <a:p>
            <a:r>
              <a:rPr lang="en-US" dirty="0"/>
              <a:t>This is why I used </a:t>
            </a:r>
            <a:r>
              <a:rPr lang="en-US" dirty="0" err="1"/>
              <a:t>LangGraph</a:t>
            </a:r>
            <a:r>
              <a:rPr lang="en-US" dirty="0"/>
              <a:t> rather than a hand-written loop. The graph gives me a checkpointed state machine, durable interrupts, and a framework-owned next transition.”</a:t>
            </a:r>
          </a:p>
          <a:p>
            <a:r>
              <a:rPr lang="en-US" dirty="0"/>
              <a:t>YǠ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review is a real </a:t>
            </a:r>
            <a:r>
              <a:rPr lang="en-US" dirty="0" err="1"/>
              <a:t>LangGraph</a:t>
            </a:r>
            <a:r>
              <a:rPr lang="en-US" dirty="0"/>
              <a:t> interrupt, not simply a status label.</a:t>
            </a:r>
          </a:p>
          <a:p>
            <a:r>
              <a:rPr lang="en-US" dirty="0"/>
              <a:t>There are two reasons a case may pause.</a:t>
            </a:r>
          </a:p>
          <a:p>
            <a:r>
              <a:rPr lang="en-US" dirty="0"/>
              <a:t>The first is early review, before a disposition exists. Report #0013 is the example: the gate note says no visible damage, but the telemetry feed indicates an ABS fault. The system does not pretend that this ambiguity can be resolved by applying more policy. It pauses after Assessment and Roadability, before Cost and Disposition.</a:t>
            </a:r>
          </a:p>
          <a:p>
            <a:r>
              <a:rPr lang="en-US" dirty="0"/>
              <a:t>The second is post-decision review. Report #0004 has a structural frame crack. Deterministic rules mark it out of service, the policy can recommend retirement, and the cost is consequential. The system produces a complete recommendation, but a human must approve or override it.</a:t>
            </a:r>
          </a:p>
          <a:p>
            <a:r>
              <a:rPr lang="en-US" dirty="0"/>
              <a:t>The review triggers are principled, not report-specific hacks: narrative conflict, advisory signals, low confidence, high cost, retirement recommendation, or suspected total loss.</a:t>
            </a:r>
          </a:p>
          <a:p>
            <a:r>
              <a:rPr lang="en-US" dirty="0"/>
              <a:t>When the human acts, the graph resumes with an explicit approve or override decision and then resolves the case. That decision is stored in state and logged.”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the dashboard as an evidence surface for an operator, not as a visualization for its own sake.</a:t>
            </a:r>
          </a:p>
          <a:p>
            <a:r>
              <a:rPr lang="en-US" dirty="0"/>
              <a:t>It answers five questions:</a:t>
            </a:r>
          </a:p>
          <a:p>
            <a:r>
              <a:rPr lang="en-US" dirty="0"/>
              <a:t>First, what is currently active? The SSE stream updates the active node as the graph executes.</a:t>
            </a:r>
          </a:p>
          <a:p>
            <a:r>
              <a:rPr lang="en-US" dirty="0"/>
              <a:t>Second, why did it decide that? Each step displays its rationale.</a:t>
            </a:r>
          </a:p>
          <a:p>
            <a:r>
              <a:rPr lang="en-US" dirty="0"/>
              <a:t>Third, what evidence was used? Tool calls and confidence are carried with the node result.</a:t>
            </a:r>
          </a:p>
          <a:p>
            <a:r>
              <a:rPr lang="en-US" dirty="0"/>
              <a:t>Fourth, what will happen next? The planned node comes from the graph’s actual state transition.</a:t>
            </a:r>
          </a:p>
          <a:p>
            <a:r>
              <a:rPr lang="en-US" dirty="0"/>
              <a:t>Finally, when must a human act? If the graph interrupts, the review reason and decision controls become visible.</a:t>
            </a:r>
          </a:p>
          <a:p>
            <a:r>
              <a:rPr lang="en-US" dirty="0"/>
              <a:t>I kept the frontend intentionally light: a static page, inline SVG, browser-native </a:t>
            </a:r>
            <a:r>
              <a:rPr lang="en-US" dirty="0" err="1"/>
              <a:t>EventSource</a:t>
            </a:r>
            <a:r>
              <a:rPr lang="en-US" dirty="0"/>
              <a:t> for SSE, and no React/Vite toolchain. The graph is fixed and small, so additional frontend infrastructure would add setup cost without improving the assessment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evaluate this PoC primarily by whether the model gives a perfect answer. I evaluate whether the overall decision system behaves predictably and safely.</a:t>
            </a:r>
          </a:p>
          <a:p>
            <a:r>
              <a:rPr lang="en-US" dirty="0"/>
              <a:t>First, the deterministic behavior is tested against the 15 supplied reports. That includes roadability outcomes, policy paths, and the cases that must pause for a human.</a:t>
            </a:r>
          </a:p>
          <a:p>
            <a:r>
              <a:rPr lang="en-US" dirty="0"/>
              <a:t>Second, the Bedrock and stub implementations share the same validated Assessment contract. This means I can test the graph without AWS, then validate the live model at the boundary without changing the rest of the system.</a:t>
            </a:r>
          </a:p>
          <a:p>
            <a:r>
              <a:rPr lang="en-US" dirty="0"/>
              <a:t>Third, each graph node emits a structured JSON event with thread ID, decision, rationale, confidence, tool calls, and elapsed time. That gives operations a way to reconstruct a bad route.</a:t>
            </a:r>
          </a:p>
          <a:p>
            <a:r>
              <a:rPr lang="en-US" dirty="0"/>
              <a:t>Finally, the strongest production feedback signal is human behavior. If review or override rate rises, that tells us a policy rule or narrative interpretation needs investigation.</a:t>
            </a:r>
          </a:p>
          <a:p>
            <a:r>
              <a:rPr lang="en-US" dirty="0"/>
              <a:t>For live validation, Sonnet is the normal development model, and Opus is used only for final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target deployment architecture, not infrastructure I claim to have provisioned for the take-home.</a:t>
            </a:r>
          </a:p>
          <a:p>
            <a:r>
              <a:rPr lang="en-US" dirty="0"/>
              <a:t>The browser receives the static dashboard through S3 and CloudFront. The API and </a:t>
            </a:r>
            <a:r>
              <a:rPr lang="en-US" dirty="0" err="1"/>
              <a:t>LangGraph</a:t>
            </a:r>
            <a:r>
              <a:rPr lang="en-US" dirty="0"/>
              <a:t> service run on ECS Fargate behind an Application Load Balancer because this is an HTTP and SSE workload; Fargate avoids unnecessary cluster management.</a:t>
            </a:r>
          </a:p>
          <a:p>
            <a:r>
              <a:rPr lang="en-US" dirty="0"/>
              <a:t>The service invokes Claude through Amazon Bedrock. It stores durable graph checkpoints in DynamoDB because a human review may last hours or days and must survive container restart or scale-out.</a:t>
            </a:r>
          </a:p>
          <a:p>
            <a:r>
              <a:rPr lang="en-US" dirty="0"/>
              <a:t>Structured logs go to CloudWatch, while model and graph traces can go to </a:t>
            </a:r>
            <a:r>
              <a:rPr lang="en-US" dirty="0" err="1"/>
              <a:t>LangSmith</a:t>
            </a:r>
            <a:r>
              <a:rPr lang="en-US" dirty="0"/>
              <a:t> or an </a:t>
            </a:r>
            <a:r>
              <a:rPr lang="en-US" dirty="0" err="1"/>
              <a:t>OpenTelemetry</a:t>
            </a:r>
            <a:r>
              <a:rPr lang="en-US" dirty="0"/>
              <a:t>-compatible observability system.</a:t>
            </a:r>
          </a:p>
          <a:p>
            <a:r>
              <a:rPr lang="en-US" dirty="0"/>
              <a:t>The key security decision is that production uses an ECS task role. Developer SSO credentials and local </a:t>
            </a:r>
            <a:r>
              <a:rPr lang="en-US" sz="1200" kern="1200" dirty="0"/>
              <a:t>.</a:t>
            </a:r>
            <a:r>
              <a:rPr lang="en-US" sz="1200" kern="1200" dirty="0" err="1"/>
              <a:t>aws</a:t>
            </a:r>
            <a:r>
              <a:rPr lang="en-US" dirty="0"/>
              <a:t> files never ship with the service. The task role receives only the approved Bedrock Mantle inference permission.</a:t>
            </a:r>
          </a:p>
          <a:p>
            <a:r>
              <a:rPr lang="en-US" dirty="0"/>
              <a:t>I did not deploy Fargate, DynamoDB, CloudFront, or </a:t>
            </a:r>
            <a:r>
              <a:rPr lang="en-US" dirty="0" err="1"/>
              <a:t>LangSmith</a:t>
            </a:r>
            <a:r>
              <a:rPr lang="en-US" dirty="0"/>
              <a:t> for this one-day PoC because that would not better demonstrate the rubric. </a:t>
            </a:r>
            <a:r>
              <a:rPr lang="en-US"/>
              <a:t>The architecture explains where each concern belongs.”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walkthrough sequence. Do not lead with the dashboard. Lead with #0001 to establish the normal path, then #0013 to defend uncertainty handling, then #0004 to defend high-consequence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consequence of the choices. Do not describe this as production-ready: describe it as an auditable, focused architecture with a credible production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1BE3D9-13E8-4E61-ABED-E4D4AEB422DD}"/>
              </a:ext>
            </a:extLst>
          </p:cNvPr>
          <p:cNvSpPr>
            <a:spLocks noGrp="1"/>
          </p:cNvSpPr>
          <p:nvPr/>
        </p:nvSpPr>
        <p:spPr>
          <a:xfrm>
            <a:off x="0" y="0"/>
            <a:ext cx="171450" cy="6858000"/>
          </a:xfrm>
          <a:prstGeom prst="rect">
            <a:avLst/>
          </a:prstGeom>
          <a:solidFill>
            <a:srgbClr val="F58220"/>
          </a:solidFill>
          <a:ln w="0">
            <a:solidFill>
              <a:srgbClr val="F58220"/>
            </a:solidFill>
            <a:prstDash val="solid"/>
          </a:ln>
        </p:spPr>
        <p:txBody>
          <a:bodyPr/>
          <a:lstStyle/>
          <a:p>
            <a:endParaRPr lang="en-US"/>
          </a:p>
        </p:txBody>
      </p:sp>
      <p:sp>
        <p:nvSpPr>
          <p:cNvPr id="2" name="Rectangle 1">
            <a:extLst>
              <a:ext uri="{FF2B5EF4-FFF2-40B4-BE49-F238E27FC236}">
                <a16:creationId xmlns:a16="http://schemas.microsoft.com/office/drawing/2014/main" id="{4F19A131-53F4-4DFF-81C7-3214E4F8BF2E}"/>
              </a:ext>
            </a:extLst>
          </p:cNvPr>
          <p:cNvSpPr>
            <a:spLocks noGrp="1"/>
          </p:cNvSpPr>
          <p:nvPr/>
        </p:nvSpPr>
        <p:spPr>
          <a:xfrm>
            <a:off x="609600" y="685800"/>
            <a:ext cx="1905000" cy="266700"/>
          </a:xfrm>
          <a:prstGeom prst="rect">
            <a:avLst/>
          </a:prstGeom>
          <a:noFill/>
          <a:ln w="0">
            <a:noFill/>
            <a:prstDash val="solid"/>
          </a:ln>
        </p:spPr>
        <p:txBody>
          <a:bodyPr/>
          <a:lstStyle/>
          <a:p>
            <a:pPr algn="l">
              <a:defRPr sz="1425" b="1">
                <a:solidFill>
                  <a:srgbClr val="B9DDF0"/>
                </a:solidFill>
              </a:defRPr>
            </a:pPr>
            <a:r>
              <a:rPr sz="1425" b="1">
                <a:solidFill>
                  <a:srgbClr val="B9DDF0"/>
                </a:solidFill>
              </a:rPr>
              <a:t>DCLI</a:t>
            </a:r>
          </a:p>
        </p:txBody>
      </p:sp>
      <p:sp>
        <p:nvSpPr>
          <p:cNvPr id="3" name="Rectangle 2">
            <a:extLst>
              <a:ext uri="{FF2B5EF4-FFF2-40B4-BE49-F238E27FC236}">
                <a16:creationId xmlns:a16="http://schemas.microsoft.com/office/drawing/2014/main" id="{F901C54F-E950-4DCF-8B86-F523B669069C}"/>
              </a:ext>
            </a:extLst>
          </p:cNvPr>
          <p:cNvSpPr>
            <a:spLocks noGrp="1"/>
          </p:cNvSpPr>
          <p:nvPr/>
        </p:nvSpPr>
        <p:spPr>
          <a:xfrm>
            <a:off x="609600" y="1295400"/>
            <a:ext cx="5524500" cy="1428750"/>
          </a:xfrm>
          <a:prstGeom prst="rect">
            <a:avLst/>
          </a:prstGeom>
          <a:noFill/>
          <a:ln w="0">
            <a:noFill/>
            <a:prstDash val="solid"/>
          </a:ln>
        </p:spPr>
        <p:txBody>
          <a:bodyPr/>
          <a:lstStyle/>
          <a:p>
            <a:pPr algn="l">
              <a:defRPr sz="4950" b="1">
                <a:solidFill>
                  <a:srgbClr val="FFFFFF"/>
                </a:solidFill>
              </a:defRPr>
            </a:pPr>
            <a:r>
              <a:rPr sz="4950" b="1">
                <a:solidFill>
                  <a:srgbClr val="FFFFFF"/>
                </a:solidFill>
              </a:rPr>
              <a:t>Chassis</a:t>
            </a:r>
          </a:p>
          <a:p>
            <a:pPr algn="l">
              <a:defRPr sz="4950" b="1">
                <a:solidFill>
                  <a:srgbClr val="FFFFFF"/>
                </a:solidFill>
              </a:defRPr>
            </a:pPr>
            <a:r>
              <a:rPr sz="4950" b="1">
                <a:solidFill>
                  <a:srgbClr val="FFFFFF"/>
                </a:solidFill>
              </a:rPr>
              <a:t>Triage</a:t>
            </a:r>
          </a:p>
        </p:txBody>
      </p:sp>
      <p:sp>
        <p:nvSpPr>
          <p:cNvPr id="4" name="Rectangle 3">
            <a:extLst>
              <a:ext uri="{FF2B5EF4-FFF2-40B4-BE49-F238E27FC236}">
                <a16:creationId xmlns:a16="http://schemas.microsoft.com/office/drawing/2014/main" id="{3BD8227A-3F07-422A-B041-D22382029AB2}"/>
              </a:ext>
            </a:extLst>
          </p:cNvPr>
          <p:cNvSpPr>
            <a:spLocks noGrp="1"/>
          </p:cNvSpPr>
          <p:nvPr/>
        </p:nvSpPr>
        <p:spPr>
          <a:xfrm>
            <a:off x="647700" y="3028950"/>
            <a:ext cx="5715000" cy="647700"/>
          </a:xfrm>
          <a:prstGeom prst="rect">
            <a:avLst/>
          </a:prstGeom>
          <a:noFill/>
          <a:ln w="0">
            <a:noFill/>
            <a:prstDash val="solid"/>
          </a:ln>
        </p:spPr>
        <p:txBody>
          <a:bodyPr/>
          <a:lstStyle/>
          <a:p>
            <a:pPr algn="l">
              <a:defRPr sz="1875" b="0">
                <a:solidFill>
                  <a:srgbClr val="C6D8E5"/>
                </a:solidFill>
              </a:defRPr>
            </a:pPr>
            <a:endParaRPr sz="1875" b="0" dirty="0">
              <a:solidFill>
                <a:srgbClr val="C6D8E5"/>
              </a:solidFill>
            </a:endParaRPr>
          </a:p>
        </p:txBody>
      </p:sp>
      <p:sp>
        <p:nvSpPr>
          <p:cNvPr id="5" name="Rectangle: Rounded Corners 4">
            <a:extLst>
              <a:ext uri="{FF2B5EF4-FFF2-40B4-BE49-F238E27FC236}">
                <a16:creationId xmlns:a16="http://schemas.microsoft.com/office/drawing/2014/main" id="{2C65F8AF-0924-442F-B9B7-2B10DFA8DC02}"/>
              </a:ext>
            </a:extLst>
          </p:cNvPr>
          <p:cNvSpPr>
            <a:spLocks noGrp="1"/>
          </p:cNvSpPr>
          <p:nvPr/>
        </p:nvSpPr>
        <p:spPr>
          <a:xfrm>
            <a:off x="7524750" y="1485900"/>
            <a:ext cx="3333750" cy="2533650"/>
          </a:xfrm>
          <a:prstGeom prst="roundRect">
            <a:avLst>
              <a:gd name="adj" fmla="val 3008"/>
            </a:avLst>
          </a:prstGeom>
          <a:solidFill>
            <a:srgbClr val="173A57"/>
          </a:solidFill>
          <a:ln w="14288">
            <a:solidFill>
              <a:srgbClr val="315E7C"/>
            </a:solidFill>
            <a:prstDash val="solid"/>
          </a:ln>
        </p:spPr>
        <p:txBody>
          <a:bodyPr/>
          <a:lstStyle/>
          <a:p>
            <a:endParaRPr lang="en-US"/>
          </a:p>
        </p:txBody>
      </p:sp>
      <p:sp>
        <p:nvSpPr>
          <p:cNvPr id="6" name="Rectangle 5">
            <a:extLst>
              <a:ext uri="{FF2B5EF4-FFF2-40B4-BE49-F238E27FC236}">
                <a16:creationId xmlns:a16="http://schemas.microsoft.com/office/drawing/2014/main" id="{47855E5F-17FE-40B7-8DA4-8ABAF0570922}"/>
              </a:ext>
            </a:extLst>
          </p:cNvPr>
          <p:cNvSpPr>
            <a:spLocks noGrp="1"/>
          </p:cNvSpPr>
          <p:nvPr/>
        </p:nvSpPr>
        <p:spPr>
          <a:xfrm>
            <a:off x="7867650" y="1809750"/>
            <a:ext cx="2667000" cy="190500"/>
          </a:xfrm>
          <a:prstGeom prst="rect">
            <a:avLst/>
          </a:prstGeom>
          <a:noFill/>
          <a:ln w="0">
            <a:noFill/>
            <a:prstDash val="solid"/>
          </a:ln>
        </p:spPr>
        <p:txBody>
          <a:bodyPr/>
          <a:lstStyle/>
          <a:p>
            <a:pPr algn="l">
              <a:defRPr sz="900" b="1">
                <a:solidFill>
                  <a:srgbClr val="91CFEF"/>
                </a:solidFill>
              </a:defRPr>
            </a:pPr>
            <a:r>
              <a:rPr sz="900" b="1">
                <a:solidFill>
                  <a:srgbClr val="91CFEF"/>
                </a:solidFill>
              </a:rPr>
              <a:t>THE DESIGN POSITION</a:t>
            </a:r>
          </a:p>
        </p:txBody>
      </p:sp>
      <p:sp>
        <p:nvSpPr>
          <p:cNvPr id="7" name="Rectangle 6">
            <a:extLst>
              <a:ext uri="{FF2B5EF4-FFF2-40B4-BE49-F238E27FC236}">
                <a16:creationId xmlns:a16="http://schemas.microsoft.com/office/drawing/2014/main" id="{578552E1-BDB4-46DA-8482-3B5AD56FAB97}"/>
              </a:ext>
            </a:extLst>
          </p:cNvPr>
          <p:cNvSpPr>
            <a:spLocks noGrp="1"/>
          </p:cNvSpPr>
          <p:nvPr/>
        </p:nvSpPr>
        <p:spPr>
          <a:xfrm>
            <a:off x="7867650" y="2209800"/>
            <a:ext cx="2571750" cy="1428750"/>
          </a:xfrm>
          <a:prstGeom prst="rect">
            <a:avLst/>
          </a:prstGeom>
          <a:noFill/>
          <a:ln w="0">
            <a:noFill/>
            <a:prstDash val="solid"/>
          </a:ln>
        </p:spPr>
        <p:txBody>
          <a:bodyPr/>
          <a:lstStyle/>
          <a:p>
            <a:pPr algn="l">
              <a:defRPr sz="2100" b="1">
                <a:solidFill>
                  <a:srgbClr val="FFFFFF"/>
                </a:solidFill>
              </a:defRPr>
            </a:pPr>
            <a:r>
              <a:rPr sz="2100" b="1">
                <a:solidFill>
                  <a:srgbClr val="FFFFFF"/>
                </a:solidFill>
              </a:rPr>
              <a:t>The model</a:t>
            </a:r>
          </a:p>
          <a:p>
            <a:pPr algn="l">
              <a:defRPr sz="2100" b="1">
                <a:solidFill>
                  <a:srgbClr val="FFFFFF"/>
                </a:solidFill>
              </a:defRPr>
            </a:pPr>
            <a:r>
              <a:rPr sz="2100" b="1">
                <a:solidFill>
                  <a:srgbClr val="FFFFFF"/>
                </a:solidFill>
              </a:rPr>
              <a:t>interprets language.</a:t>
            </a:r>
          </a:p>
          <a:p>
            <a:pPr algn="l">
              <a:defRPr sz="2100" b="1">
                <a:solidFill>
                  <a:srgbClr val="FFFFFF"/>
                </a:solidFill>
              </a:defRPr>
            </a:pPr>
            <a:r>
              <a:rPr sz="2100" b="1">
                <a:solidFill>
                  <a:srgbClr val="FFFFFF"/>
                </a:solidFill>
              </a:rPr>
              <a:t>Rules and people</a:t>
            </a:r>
          </a:p>
          <a:p>
            <a:pPr algn="l">
              <a:defRPr sz="2100" b="1">
                <a:solidFill>
                  <a:srgbClr val="FFFFFF"/>
                </a:solidFill>
              </a:defRPr>
            </a:pPr>
            <a:r>
              <a:rPr sz="2100" b="1">
                <a:solidFill>
                  <a:srgbClr val="FFFFFF"/>
                </a:solidFill>
              </a:rPr>
              <a:t>make accountable</a:t>
            </a:r>
          </a:p>
          <a:p>
            <a:pPr algn="l">
              <a:defRPr sz="2100" b="1">
                <a:solidFill>
                  <a:srgbClr val="FFFFFF"/>
                </a:solidFill>
              </a:defRPr>
            </a:pPr>
            <a:r>
              <a:rPr sz="2100" b="1">
                <a:solidFill>
                  <a:srgbClr val="FFFFFF"/>
                </a:solidFill>
              </a:rPr>
              <a:t>decisions.</a:t>
            </a:r>
          </a:p>
        </p:txBody>
      </p:sp>
      <p:sp>
        <p:nvSpPr>
          <p:cNvPr id="8" name="Rectangle 7">
            <a:extLst>
              <a:ext uri="{FF2B5EF4-FFF2-40B4-BE49-F238E27FC236}">
                <a16:creationId xmlns:a16="http://schemas.microsoft.com/office/drawing/2014/main" id="{440012D5-ACB3-4557-BA96-FFDEBD8459DE}"/>
              </a:ext>
            </a:extLst>
          </p:cNvPr>
          <p:cNvSpPr>
            <a:spLocks noGrp="1"/>
          </p:cNvSpPr>
          <p:nvPr/>
        </p:nvSpPr>
        <p:spPr>
          <a:xfrm>
            <a:off x="609600" y="5829300"/>
            <a:ext cx="6667500" cy="209550"/>
          </a:xfrm>
          <a:prstGeom prst="rect">
            <a:avLst/>
          </a:prstGeom>
          <a:noFill/>
          <a:ln w="0">
            <a:noFill/>
            <a:prstDash val="solid"/>
          </a:ln>
        </p:spPr>
        <p:txBody>
          <a:bodyPr/>
          <a:lstStyle/>
          <a:p>
            <a:pPr algn="l">
              <a:defRPr sz="1125" b="0">
                <a:solidFill>
                  <a:srgbClr val="B9DDF0"/>
                </a:solidFill>
              </a:defRPr>
            </a:pPr>
            <a:r>
              <a:rPr sz="1125" b="0">
                <a:solidFill>
                  <a:srgbClr val="B9DDF0"/>
                </a:solidFill>
              </a:rPr>
              <a:t>Operator console • LangGraph • Bedrock</a:t>
            </a:r>
          </a:p>
        </p:txBody>
      </p:sp>
    </p:spTree>
    <p:extLst>
      <p:ext uri="{BB962C8B-B14F-4D97-AF65-F5344CB8AC3E}">
        <p14:creationId xmlns:p14="http://schemas.microsoft.com/office/powerpoint/2010/main" val="1183893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089F026-3145-484A-BD0C-411806B25BC9}"/>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THE DESIGN PROBLEM</a:t>
            </a:r>
          </a:p>
        </p:txBody>
      </p:sp>
      <p:sp>
        <p:nvSpPr>
          <p:cNvPr id="2" name="Rectangle 1">
            <a:extLst>
              <a:ext uri="{FF2B5EF4-FFF2-40B4-BE49-F238E27FC236}">
                <a16:creationId xmlns:a16="http://schemas.microsoft.com/office/drawing/2014/main" id="{E0B7F334-954F-43CE-8405-EB8BD54E7266}"/>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A chassis report contains three different kinds of uncertainty</a:t>
            </a:r>
          </a:p>
        </p:txBody>
      </p:sp>
      <p:sp>
        <p:nvSpPr>
          <p:cNvPr id="3" name="Rectangle 2">
            <a:extLst>
              <a:ext uri="{FF2B5EF4-FFF2-40B4-BE49-F238E27FC236}">
                <a16:creationId xmlns:a16="http://schemas.microsoft.com/office/drawing/2014/main" id="{95870D1E-1A2D-4E1A-9DBE-16E5B7F76FBB}"/>
              </a:ext>
            </a:extLst>
          </p:cNvPr>
          <p:cNvSpPr>
            <a:spLocks noGrp="1"/>
          </p:cNvSpPr>
          <p:nvPr/>
        </p:nvSpPr>
        <p:spPr>
          <a:xfrm>
            <a:off x="533400" y="1295400"/>
            <a:ext cx="10477500" cy="266700"/>
          </a:xfrm>
          <a:prstGeom prst="rect">
            <a:avLst/>
          </a:prstGeom>
          <a:noFill/>
          <a:ln w="0">
            <a:noFill/>
            <a:prstDash val="solid"/>
          </a:ln>
        </p:spPr>
        <p:txBody>
          <a:bodyPr/>
          <a:lstStyle/>
          <a:p>
            <a:pPr algn="l">
              <a:defRPr sz="1350" b="0">
                <a:solidFill>
                  <a:srgbClr val="526777"/>
                </a:solidFill>
              </a:defRPr>
            </a:pPr>
            <a:r>
              <a:rPr sz="1350" b="0">
                <a:solidFill>
                  <a:srgbClr val="526777"/>
                </a:solidFill>
              </a:rPr>
              <a:t>The workflow should use the least powerful mechanism that can resolve each kind safely.</a:t>
            </a:r>
          </a:p>
        </p:txBody>
      </p:sp>
      <p:sp>
        <p:nvSpPr>
          <p:cNvPr id="4" name="Rectangle 3">
            <a:extLst>
              <a:ext uri="{FF2B5EF4-FFF2-40B4-BE49-F238E27FC236}">
                <a16:creationId xmlns:a16="http://schemas.microsoft.com/office/drawing/2014/main" id="{278F0D79-730D-49C1-A508-EC43A9E2A4EF}"/>
              </a:ext>
            </a:extLst>
          </p:cNvPr>
          <p:cNvSpPr>
            <a:spLocks noGrp="1"/>
          </p:cNvSpPr>
          <p:nvPr/>
        </p:nvSpPr>
        <p:spPr>
          <a:xfrm>
            <a:off x="533400" y="1676400"/>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4">
            <a:extLst>
              <a:ext uri="{FF2B5EF4-FFF2-40B4-BE49-F238E27FC236}">
                <a16:creationId xmlns:a16="http://schemas.microsoft.com/office/drawing/2014/main" id="{C658B5D5-7DC1-4E58-B48F-4FCA5A8C6332}"/>
              </a:ext>
            </a:extLst>
          </p:cNvPr>
          <p:cNvSpPr>
            <a:spLocks noGrp="1"/>
          </p:cNvSpPr>
          <p:nvPr/>
        </p:nvSpPr>
        <p:spPr>
          <a:xfrm>
            <a:off x="666750" y="2152650"/>
            <a:ext cx="20955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INPUT TYPE</a:t>
            </a:r>
          </a:p>
        </p:txBody>
      </p:sp>
      <p:sp>
        <p:nvSpPr>
          <p:cNvPr id="6" name="Rectangle 5">
            <a:extLst>
              <a:ext uri="{FF2B5EF4-FFF2-40B4-BE49-F238E27FC236}">
                <a16:creationId xmlns:a16="http://schemas.microsoft.com/office/drawing/2014/main" id="{C5EDD549-3E1B-4037-AED3-0B83A8F2C7BE}"/>
              </a:ext>
            </a:extLst>
          </p:cNvPr>
          <p:cNvSpPr>
            <a:spLocks noGrp="1"/>
          </p:cNvSpPr>
          <p:nvPr/>
        </p:nvSpPr>
        <p:spPr>
          <a:xfrm>
            <a:off x="3162300" y="2152650"/>
            <a:ext cx="24765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QUESTION</a:t>
            </a:r>
          </a:p>
        </p:txBody>
      </p:sp>
      <p:sp>
        <p:nvSpPr>
          <p:cNvPr id="7" name="Rectangle 6">
            <a:extLst>
              <a:ext uri="{FF2B5EF4-FFF2-40B4-BE49-F238E27FC236}">
                <a16:creationId xmlns:a16="http://schemas.microsoft.com/office/drawing/2014/main" id="{95F90911-9AF1-42BC-879D-2E420C3B2F6C}"/>
              </a:ext>
            </a:extLst>
          </p:cNvPr>
          <p:cNvSpPr>
            <a:spLocks noGrp="1"/>
          </p:cNvSpPr>
          <p:nvPr/>
        </p:nvSpPr>
        <p:spPr>
          <a:xfrm>
            <a:off x="6286500" y="2152650"/>
            <a:ext cx="180975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MECHANISM</a:t>
            </a:r>
          </a:p>
        </p:txBody>
      </p:sp>
      <p:sp>
        <p:nvSpPr>
          <p:cNvPr id="8" name="Rectangle 7">
            <a:extLst>
              <a:ext uri="{FF2B5EF4-FFF2-40B4-BE49-F238E27FC236}">
                <a16:creationId xmlns:a16="http://schemas.microsoft.com/office/drawing/2014/main" id="{D4F82531-68EF-46A7-AB56-D620A297E6AE}"/>
              </a:ext>
            </a:extLst>
          </p:cNvPr>
          <p:cNvSpPr>
            <a:spLocks noGrp="1"/>
          </p:cNvSpPr>
          <p:nvPr/>
        </p:nvSpPr>
        <p:spPr>
          <a:xfrm>
            <a:off x="8496300" y="2152650"/>
            <a:ext cx="20955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WHY</a:t>
            </a:r>
          </a:p>
        </p:txBody>
      </p:sp>
      <p:sp>
        <p:nvSpPr>
          <p:cNvPr id="9" name="Rectangle: Rounded Corners 8">
            <a:extLst>
              <a:ext uri="{FF2B5EF4-FFF2-40B4-BE49-F238E27FC236}">
                <a16:creationId xmlns:a16="http://schemas.microsoft.com/office/drawing/2014/main" id="{35A6A912-1BDE-4912-8887-55D1DA086111}"/>
              </a:ext>
            </a:extLst>
          </p:cNvPr>
          <p:cNvSpPr>
            <a:spLocks noGrp="1"/>
          </p:cNvSpPr>
          <p:nvPr/>
        </p:nvSpPr>
        <p:spPr>
          <a:xfrm>
            <a:off x="609600" y="2571750"/>
            <a:ext cx="10972800" cy="800100"/>
          </a:xfrm>
          <a:prstGeom prst="roundRect">
            <a:avLst>
              <a:gd name="adj" fmla="val 9524"/>
            </a:avLst>
          </a:prstGeom>
          <a:solidFill>
            <a:srgbClr val="FFFFFF"/>
          </a:solidFill>
          <a:ln w="9525">
            <a:solidFill>
              <a:srgbClr val="D7E1E8"/>
            </a:solidFill>
            <a:prstDash val="solid"/>
          </a:ln>
        </p:spPr>
        <p:txBody>
          <a:bodyPr/>
          <a:lstStyle/>
          <a:p>
            <a:endParaRPr lang="en-US"/>
          </a:p>
        </p:txBody>
      </p:sp>
      <p:sp>
        <p:nvSpPr>
          <p:cNvPr id="10" name="Rectangle 9">
            <a:extLst>
              <a:ext uri="{FF2B5EF4-FFF2-40B4-BE49-F238E27FC236}">
                <a16:creationId xmlns:a16="http://schemas.microsoft.com/office/drawing/2014/main" id="{132C285C-78B3-459E-80F2-F2066CA52470}"/>
              </a:ext>
            </a:extLst>
          </p:cNvPr>
          <p:cNvSpPr>
            <a:spLocks noGrp="1"/>
          </p:cNvSpPr>
          <p:nvPr/>
        </p:nvSpPr>
        <p:spPr>
          <a:xfrm>
            <a:off x="609600" y="2571750"/>
            <a:ext cx="66675" cy="800100"/>
          </a:xfrm>
          <a:prstGeom prst="rect">
            <a:avLst/>
          </a:prstGeom>
          <a:solidFill>
            <a:srgbClr val="F58220"/>
          </a:solidFill>
          <a:ln w="0">
            <a:solidFill>
              <a:srgbClr val="F58220"/>
            </a:solidFill>
            <a:prstDash val="solid"/>
          </a:ln>
        </p:spPr>
        <p:txBody>
          <a:bodyPr/>
          <a:lstStyle/>
          <a:p>
            <a:endParaRPr lang="en-US"/>
          </a:p>
        </p:txBody>
      </p:sp>
      <p:sp>
        <p:nvSpPr>
          <p:cNvPr id="11" name="Rectangle 10">
            <a:extLst>
              <a:ext uri="{FF2B5EF4-FFF2-40B4-BE49-F238E27FC236}">
                <a16:creationId xmlns:a16="http://schemas.microsoft.com/office/drawing/2014/main" id="{9D95EE09-2FA4-48A8-AF33-E15822F4CA7F}"/>
              </a:ext>
            </a:extLst>
          </p:cNvPr>
          <p:cNvSpPr>
            <a:spLocks noGrp="1"/>
          </p:cNvSpPr>
          <p:nvPr/>
        </p:nvSpPr>
        <p:spPr>
          <a:xfrm>
            <a:off x="857250" y="2733675"/>
            <a:ext cx="2095500" cy="209550"/>
          </a:xfrm>
          <a:prstGeom prst="rect">
            <a:avLst/>
          </a:prstGeom>
          <a:noFill/>
          <a:ln w="0">
            <a:noFill/>
            <a:prstDash val="solid"/>
          </a:ln>
        </p:spPr>
        <p:txBody>
          <a:bodyPr/>
          <a:lstStyle/>
          <a:p>
            <a:pPr algn="l">
              <a:defRPr sz="1425" b="1">
                <a:solidFill>
                  <a:srgbClr val="102A43"/>
                </a:solidFill>
              </a:defRPr>
            </a:pPr>
            <a:r>
              <a:rPr sz="1425" b="1">
                <a:solidFill>
                  <a:srgbClr val="102A43"/>
                </a:solidFill>
              </a:rPr>
              <a:t>Free-text ambiguity</a:t>
            </a:r>
          </a:p>
        </p:txBody>
      </p:sp>
      <p:sp>
        <p:nvSpPr>
          <p:cNvPr id="12" name="Rectangle 11">
            <a:extLst>
              <a:ext uri="{FF2B5EF4-FFF2-40B4-BE49-F238E27FC236}">
                <a16:creationId xmlns:a16="http://schemas.microsoft.com/office/drawing/2014/main" id="{82ED1420-4B31-481E-A2D1-B29A2DBA7337}"/>
              </a:ext>
            </a:extLst>
          </p:cNvPr>
          <p:cNvSpPr>
            <a:spLocks noGrp="1"/>
          </p:cNvSpPr>
          <p:nvPr/>
        </p:nvSpPr>
        <p:spPr>
          <a:xfrm>
            <a:off x="3162300" y="2733675"/>
            <a:ext cx="2762250" cy="381000"/>
          </a:xfrm>
          <a:prstGeom prst="rect">
            <a:avLst/>
          </a:prstGeom>
          <a:noFill/>
          <a:ln w="0">
            <a:noFill/>
            <a:prstDash val="solid"/>
          </a:ln>
        </p:spPr>
        <p:txBody>
          <a:bodyPr/>
          <a:lstStyle/>
          <a:p>
            <a:pPr algn="l">
              <a:defRPr sz="1275" b="0">
                <a:solidFill>
                  <a:srgbClr val="526777"/>
                </a:solidFill>
              </a:defRPr>
            </a:pPr>
            <a:r>
              <a:rPr sz="1275" b="0">
                <a:solidFill>
                  <a:srgbClr val="526777"/>
                </a:solidFill>
              </a:rPr>
              <a:t>What does the narrative mean?</a:t>
            </a:r>
          </a:p>
        </p:txBody>
      </p:sp>
      <p:sp>
        <p:nvSpPr>
          <p:cNvPr id="13" name="Rectangle 12">
            <a:extLst>
              <a:ext uri="{FF2B5EF4-FFF2-40B4-BE49-F238E27FC236}">
                <a16:creationId xmlns:a16="http://schemas.microsoft.com/office/drawing/2014/main" id="{27C43A1D-D0FF-4233-8EE3-9C5D3EB6A0F0}"/>
              </a:ext>
            </a:extLst>
          </p:cNvPr>
          <p:cNvSpPr>
            <a:spLocks noGrp="1"/>
          </p:cNvSpPr>
          <p:nvPr/>
        </p:nvSpPr>
        <p:spPr>
          <a:xfrm>
            <a:off x="6286500" y="2733675"/>
            <a:ext cx="1809750" cy="381000"/>
          </a:xfrm>
          <a:prstGeom prst="rect">
            <a:avLst/>
          </a:prstGeom>
          <a:noFill/>
          <a:ln w="0">
            <a:noFill/>
            <a:prstDash val="solid"/>
          </a:ln>
        </p:spPr>
        <p:txBody>
          <a:bodyPr/>
          <a:lstStyle/>
          <a:p>
            <a:pPr algn="l">
              <a:defRPr sz="1275" b="1">
                <a:solidFill>
                  <a:srgbClr val="F58220"/>
                </a:solidFill>
              </a:defRPr>
            </a:pPr>
            <a:r>
              <a:rPr sz="1275" b="1">
                <a:solidFill>
                  <a:srgbClr val="F58220"/>
                </a:solidFill>
              </a:rPr>
              <a:t>LLM assessment</a:t>
            </a:r>
          </a:p>
        </p:txBody>
      </p:sp>
      <p:sp>
        <p:nvSpPr>
          <p:cNvPr id="14" name="Rectangle 13">
            <a:extLst>
              <a:ext uri="{FF2B5EF4-FFF2-40B4-BE49-F238E27FC236}">
                <a16:creationId xmlns:a16="http://schemas.microsoft.com/office/drawing/2014/main" id="{CF90D90D-D183-4F09-A381-AD652B1535E4}"/>
              </a:ext>
            </a:extLst>
          </p:cNvPr>
          <p:cNvSpPr>
            <a:spLocks noGrp="1"/>
          </p:cNvSpPr>
          <p:nvPr/>
        </p:nvSpPr>
        <p:spPr>
          <a:xfrm>
            <a:off x="8496300" y="2733675"/>
            <a:ext cx="2686050" cy="400050"/>
          </a:xfrm>
          <a:prstGeom prst="rect">
            <a:avLst/>
          </a:prstGeom>
          <a:noFill/>
          <a:ln w="0">
            <a:noFill/>
            <a:prstDash val="solid"/>
          </a:ln>
        </p:spPr>
        <p:txBody>
          <a:bodyPr/>
          <a:lstStyle/>
          <a:p>
            <a:pPr algn="l">
              <a:defRPr sz="1200" b="0">
                <a:solidFill>
                  <a:srgbClr val="526777"/>
                </a:solidFill>
              </a:defRPr>
            </a:pPr>
            <a:r>
              <a:rPr sz="1200" b="0">
                <a:solidFill>
                  <a:srgbClr val="526777"/>
                </a:solidFill>
              </a:rPr>
              <a:t>Language can be incomplete, conflicting, or contextual.</a:t>
            </a:r>
          </a:p>
        </p:txBody>
      </p:sp>
      <p:sp>
        <p:nvSpPr>
          <p:cNvPr id="15" name="Rectangle: Rounded Corners 14">
            <a:extLst>
              <a:ext uri="{FF2B5EF4-FFF2-40B4-BE49-F238E27FC236}">
                <a16:creationId xmlns:a16="http://schemas.microsoft.com/office/drawing/2014/main" id="{84DAEDB5-34F4-4BB5-9581-DA8715B2CDCA}"/>
              </a:ext>
            </a:extLst>
          </p:cNvPr>
          <p:cNvSpPr>
            <a:spLocks noGrp="1"/>
          </p:cNvSpPr>
          <p:nvPr/>
        </p:nvSpPr>
        <p:spPr>
          <a:xfrm>
            <a:off x="609600" y="3638550"/>
            <a:ext cx="10972800" cy="800100"/>
          </a:xfrm>
          <a:prstGeom prst="roundRect">
            <a:avLst>
              <a:gd name="adj" fmla="val 9524"/>
            </a:avLst>
          </a:prstGeom>
          <a:solidFill>
            <a:srgbClr val="FFFFFF"/>
          </a:solidFill>
          <a:ln w="9525">
            <a:solidFill>
              <a:srgbClr val="D7E1E8"/>
            </a:solidFill>
            <a:prstDash val="solid"/>
          </a:ln>
        </p:spPr>
        <p:txBody>
          <a:bodyPr/>
          <a:lstStyle/>
          <a:p>
            <a:endParaRPr lang="en-US"/>
          </a:p>
        </p:txBody>
      </p:sp>
      <p:sp>
        <p:nvSpPr>
          <p:cNvPr id="16" name="Rectangle 15">
            <a:extLst>
              <a:ext uri="{FF2B5EF4-FFF2-40B4-BE49-F238E27FC236}">
                <a16:creationId xmlns:a16="http://schemas.microsoft.com/office/drawing/2014/main" id="{02F77857-9CCB-47D5-8D3A-39029A82F329}"/>
              </a:ext>
            </a:extLst>
          </p:cNvPr>
          <p:cNvSpPr>
            <a:spLocks noGrp="1"/>
          </p:cNvSpPr>
          <p:nvPr/>
        </p:nvSpPr>
        <p:spPr>
          <a:xfrm>
            <a:off x="609600" y="3638550"/>
            <a:ext cx="66675" cy="800100"/>
          </a:xfrm>
          <a:prstGeom prst="rect">
            <a:avLst/>
          </a:prstGeom>
          <a:solidFill>
            <a:srgbClr val="159947"/>
          </a:solidFill>
          <a:ln w="0">
            <a:solidFill>
              <a:srgbClr val="159947"/>
            </a:solidFill>
            <a:prstDash val="solid"/>
          </a:ln>
        </p:spPr>
        <p:txBody>
          <a:bodyPr/>
          <a:lstStyle/>
          <a:p>
            <a:endParaRPr lang="en-US"/>
          </a:p>
        </p:txBody>
      </p:sp>
      <p:sp>
        <p:nvSpPr>
          <p:cNvPr id="17" name="Rectangle 16">
            <a:extLst>
              <a:ext uri="{FF2B5EF4-FFF2-40B4-BE49-F238E27FC236}">
                <a16:creationId xmlns:a16="http://schemas.microsoft.com/office/drawing/2014/main" id="{BC3DF946-CBD1-43AE-9256-4B337140CABF}"/>
              </a:ext>
            </a:extLst>
          </p:cNvPr>
          <p:cNvSpPr>
            <a:spLocks noGrp="1"/>
          </p:cNvSpPr>
          <p:nvPr/>
        </p:nvSpPr>
        <p:spPr>
          <a:xfrm>
            <a:off x="857250" y="3800475"/>
            <a:ext cx="2095500" cy="209550"/>
          </a:xfrm>
          <a:prstGeom prst="rect">
            <a:avLst/>
          </a:prstGeom>
          <a:noFill/>
          <a:ln w="0">
            <a:noFill/>
            <a:prstDash val="solid"/>
          </a:ln>
        </p:spPr>
        <p:txBody>
          <a:bodyPr/>
          <a:lstStyle/>
          <a:p>
            <a:pPr algn="l">
              <a:defRPr sz="1425" b="1">
                <a:solidFill>
                  <a:srgbClr val="102A43"/>
                </a:solidFill>
              </a:defRPr>
            </a:pPr>
            <a:r>
              <a:rPr sz="1425" b="1">
                <a:solidFill>
                  <a:srgbClr val="102A43"/>
                </a:solidFill>
              </a:rPr>
              <a:t>Published safety rules</a:t>
            </a:r>
          </a:p>
        </p:txBody>
      </p:sp>
      <p:sp>
        <p:nvSpPr>
          <p:cNvPr id="18" name="Rectangle 17">
            <a:extLst>
              <a:ext uri="{FF2B5EF4-FFF2-40B4-BE49-F238E27FC236}">
                <a16:creationId xmlns:a16="http://schemas.microsoft.com/office/drawing/2014/main" id="{BB52F623-BA73-4732-81B3-1C6C22E71047}"/>
              </a:ext>
            </a:extLst>
          </p:cNvPr>
          <p:cNvSpPr>
            <a:spLocks noGrp="1"/>
          </p:cNvSpPr>
          <p:nvPr/>
        </p:nvSpPr>
        <p:spPr>
          <a:xfrm>
            <a:off x="3162300" y="3800475"/>
            <a:ext cx="2762250" cy="381000"/>
          </a:xfrm>
          <a:prstGeom prst="rect">
            <a:avLst/>
          </a:prstGeom>
          <a:noFill/>
          <a:ln w="0">
            <a:noFill/>
            <a:prstDash val="solid"/>
          </a:ln>
        </p:spPr>
        <p:txBody>
          <a:bodyPr/>
          <a:lstStyle/>
          <a:p>
            <a:pPr algn="l">
              <a:defRPr sz="1275" b="0">
                <a:solidFill>
                  <a:srgbClr val="526777"/>
                </a:solidFill>
              </a:defRPr>
            </a:pPr>
            <a:r>
              <a:rPr sz="1275" b="0">
                <a:solidFill>
                  <a:srgbClr val="526777"/>
                </a:solidFill>
              </a:rPr>
              <a:t>Can it legally move?</a:t>
            </a:r>
          </a:p>
        </p:txBody>
      </p:sp>
      <p:sp>
        <p:nvSpPr>
          <p:cNvPr id="19" name="Rectangle 18">
            <a:extLst>
              <a:ext uri="{FF2B5EF4-FFF2-40B4-BE49-F238E27FC236}">
                <a16:creationId xmlns:a16="http://schemas.microsoft.com/office/drawing/2014/main" id="{AB0909E7-DFEE-4193-B392-8843C918B5BE}"/>
              </a:ext>
            </a:extLst>
          </p:cNvPr>
          <p:cNvSpPr>
            <a:spLocks noGrp="1"/>
          </p:cNvSpPr>
          <p:nvPr/>
        </p:nvSpPr>
        <p:spPr>
          <a:xfrm>
            <a:off x="6286500" y="3800475"/>
            <a:ext cx="1809750" cy="381000"/>
          </a:xfrm>
          <a:prstGeom prst="rect">
            <a:avLst/>
          </a:prstGeom>
          <a:noFill/>
          <a:ln w="0">
            <a:noFill/>
            <a:prstDash val="solid"/>
          </a:ln>
        </p:spPr>
        <p:txBody>
          <a:bodyPr/>
          <a:lstStyle/>
          <a:p>
            <a:pPr algn="l">
              <a:defRPr sz="1275" b="1">
                <a:solidFill>
                  <a:srgbClr val="159947"/>
                </a:solidFill>
              </a:defRPr>
            </a:pPr>
            <a:r>
              <a:rPr sz="1275" b="1">
                <a:solidFill>
                  <a:srgbClr val="159947"/>
                </a:solidFill>
              </a:rPr>
              <a:t>Deterministic rules</a:t>
            </a:r>
          </a:p>
        </p:txBody>
      </p:sp>
      <p:sp>
        <p:nvSpPr>
          <p:cNvPr id="20" name="Rectangle 19">
            <a:extLst>
              <a:ext uri="{FF2B5EF4-FFF2-40B4-BE49-F238E27FC236}">
                <a16:creationId xmlns:a16="http://schemas.microsoft.com/office/drawing/2014/main" id="{CFD13EC2-6446-46D0-8710-AB76CAF332F1}"/>
              </a:ext>
            </a:extLst>
          </p:cNvPr>
          <p:cNvSpPr>
            <a:spLocks noGrp="1"/>
          </p:cNvSpPr>
          <p:nvPr/>
        </p:nvSpPr>
        <p:spPr>
          <a:xfrm>
            <a:off x="8496300" y="3800475"/>
            <a:ext cx="2686050" cy="400050"/>
          </a:xfrm>
          <a:prstGeom prst="rect">
            <a:avLst/>
          </a:prstGeom>
          <a:noFill/>
          <a:ln w="0">
            <a:noFill/>
            <a:prstDash val="solid"/>
          </a:ln>
        </p:spPr>
        <p:txBody>
          <a:bodyPr/>
          <a:lstStyle/>
          <a:p>
            <a:pPr algn="l">
              <a:defRPr sz="1200" b="0">
                <a:solidFill>
                  <a:srgbClr val="526777"/>
                </a:solidFill>
              </a:defRPr>
            </a:pPr>
            <a:r>
              <a:rPr sz="1200" b="0">
                <a:solidFill>
                  <a:srgbClr val="526777"/>
                </a:solidFill>
              </a:rPr>
              <a:t>The data dictionary gives explicit FMCSA/DOT criteria.</a:t>
            </a:r>
          </a:p>
        </p:txBody>
      </p:sp>
      <p:sp>
        <p:nvSpPr>
          <p:cNvPr id="21" name="Rectangle: Rounded Corners 20">
            <a:extLst>
              <a:ext uri="{FF2B5EF4-FFF2-40B4-BE49-F238E27FC236}">
                <a16:creationId xmlns:a16="http://schemas.microsoft.com/office/drawing/2014/main" id="{F25EF666-8744-4819-8EC8-831648DDEE07}"/>
              </a:ext>
            </a:extLst>
          </p:cNvPr>
          <p:cNvSpPr>
            <a:spLocks noGrp="1"/>
          </p:cNvSpPr>
          <p:nvPr/>
        </p:nvSpPr>
        <p:spPr>
          <a:xfrm>
            <a:off x="609600" y="4705350"/>
            <a:ext cx="10972800" cy="800100"/>
          </a:xfrm>
          <a:prstGeom prst="roundRect">
            <a:avLst>
              <a:gd name="adj" fmla="val 9524"/>
            </a:avLst>
          </a:prstGeom>
          <a:solidFill>
            <a:srgbClr val="FFFFFF"/>
          </a:solidFill>
          <a:ln w="9525">
            <a:solidFill>
              <a:srgbClr val="D7E1E8"/>
            </a:solidFill>
            <a:prstDash val="solid"/>
          </a:ln>
        </p:spPr>
        <p:txBody>
          <a:bodyPr/>
          <a:lstStyle/>
          <a:p>
            <a:endParaRPr lang="en-US"/>
          </a:p>
        </p:txBody>
      </p:sp>
      <p:sp>
        <p:nvSpPr>
          <p:cNvPr id="22" name="Rectangle 21">
            <a:extLst>
              <a:ext uri="{FF2B5EF4-FFF2-40B4-BE49-F238E27FC236}">
                <a16:creationId xmlns:a16="http://schemas.microsoft.com/office/drawing/2014/main" id="{5CFBCFAD-2A57-4AF2-BECA-2F252E949AF2}"/>
              </a:ext>
            </a:extLst>
          </p:cNvPr>
          <p:cNvSpPr>
            <a:spLocks noGrp="1"/>
          </p:cNvSpPr>
          <p:nvPr/>
        </p:nvSpPr>
        <p:spPr>
          <a:xfrm>
            <a:off x="609600" y="4705350"/>
            <a:ext cx="66675" cy="800100"/>
          </a:xfrm>
          <a:prstGeom prst="rect">
            <a:avLst/>
          </a:prstGeom>
          <a:solidFill>
            <a:srgbClr val="0073B9"/>
          </a:solidFill>
          <a:ln w="0">
            <a:solidFill>
              <a:srgbClr val="0073B9"/>
            </a:solidFill>
            <a:prstDash val="solid"/>
          </a:ln>
        </p:spPr>
        <p:txBody>
          <a:bodyPr/>
          <a:lstStyle/>
          <a:p>
            <a:endParaRPr lang="en-US"/>
          </a:p>
        </p:txBody>
      </p:sp>
      <p:sp>
        <p:nvSpPr>
          <p:cNvPr id="23" name="Rectangle 22">
            <a:extLst>
              <a:ext uri="{FF2B5EF4-FFF2-40B4-BE49-F238E27FC236}">
                <a16:creationId xmlns:a16="http://schemas.microsoft.com/office/drawing/2014/main" id="{A8D23300-1FF4-4920-8A40-7DF61BC4BA18}"/>
              </a:ext>
            </a:extLst>
          </p:cNvPr>
          <p:cNvSpPr>
            <a:spLocks noGrp="1"/>
          </p:cNvSpPr>
          <p:nvPr/>
        </p:nvSpPr>
        <p:spPr>
          <a:xfrm>
            <a:off x="857250" y="4867275"/>
            <a:ext cx="2095500" cy="209550"/>
          </a:xfrm>
          <a:prstGeom prst="rect">
            <a:avLst/>
          </a:prstGeom>
          <a:noFill/>
          <a:ln w="0">
            <a:noFill/>
            <a:prstDash val="solid"/>
          </a:ln>
        </p:spPr>
        <p:txBody>
          <a:bodyPr/>
          <a:lstStyle/>
          <a:p>
            <a:pPr algn="l">
              <a:defRPr sz="1425" b="1">
                <a:solidFill>
                  <a:srgbClr val="102A43"/>
                </a:solidFill>
              </a:defRPr>
            </a:pPr>
            <a:r>
              <a:rPr sz="1425" b="1">
                <a:solidFill>
                  <a:srgbClr val="102A43"/>
                </a:solidFill>
              </a:rPr>
              <a:t>Business accountability</a:t>
            </a:r>
          </a:p>
        </p:txBody>
      </p:sp>
      <p:sp>
        <p:nvSpPr>
          <p:cNvPr id="24" name="Rectangle 23">
            <a:extLst>
              <a:ext uri="{FF2B5EF4-FFF2-40B4-BE49-F238E27FC236}">
                <a16:creationId xmlns:a16="http://schemas.microsoft.com/office/drawing/2014/main" id="{12430646-3D37-4FC2-975D-4C1C47012776}"/>
              </a:ext>
            </a:extLst>
          </p:cNvPr>
          <p:cNvSpPr>
            <a:spLocks noGrp="1"/>
          </p:cNvSpPr>
          <p:nvPr/>
        </p:nvSpPr>
        <p:spPr>
          <a:xfrm>
            <a:off x="3162300" y="4867275"/>
            <a:ext cx="2762250" cy="381000"/>
          </a:xfrm>
          <a:prstGeom prst="rect">
            <a:avLst/>
          </a:prstGeom>
          <a:noFill/>
          <a:ln w="0">
            <a:noFill/>
            <a:prstDash val="solid"/>
          </a:ln>
        </p:spPr>
        <p:txBody>
          <a:bodyPr/>
          <a:lstStyle/>
          <a:p>
            <a:pPr algn="l">
              <a:defRPr sz="1275" b="0">
                <a:solidFill>
                  <a:srgbClr val="526777"/>
                </a:solidFill>
              </a:defRPr>
            </a:pPr>
            <a:r>
              <a:rPr sz="1275" b="0">
                <a:solidFill>
                  <a:srgbClr val="526777"/>
                </a:solidFill>
              </a:rPr>
              <a:t>Should we accept risk or spend?</a:t>
            </a:r>
          </a:p>
        </p:txBody>
      </p:sp>
      <p:sp>
        <p:nvSpPr>
          <p:cNvPr id="25" name="Rectangle 24">
            <a:extLst>
              <a:ext uri="{FF2B5EF4-FFF2-40B4-BE49-F238E27FC236}">
                <a16:creationId xmlns:a16="http://schemas.microsoft.com/office/drawing/2014/main" id="{18F18E58-88BF-41BA-9A0D-D070D87CC7AA}"/>
              </a:ext>
            </a:extLst>
          </p:cNvPr>
          <p:cNvSpPr>
            <a:spLocks noGrp="1"/>
          </p:cNvSpPr>
          <p:nvPr/>
        </p:nvSpPr>
        <p:spPr>
          <a:xfrm>
            <a:off x="6286500" y="4867275"/>
            <a:ext cx="1809750" cy="381000"/>
          </a:xfrm>
          <a:prstGeom prst="rect">
            <a:avLst/>
          </a:prstGeom>
          <a:noFill/>
          <a:ln w="0">
            <a:noFill/>
            <a:prstDash val="solid"/>
          </a:ln>
        </p:spPr>
        <p:txBody>
          <a:bodyPr/>
          <a:lstStyle/>
          <a:p>
            <a:pPr algn="l">
              <a:defRPr sz="1275" b="1">
                <a:solidFill>
                  <a:srgbClr val="0073B9"/>
                </a:solidFill>
              </a:defRPr>
            </a:pPr>
            <a:r>
              <a:rPr sz="1275" b="1">
                <a:solidFill>
                  <a:srgbClr val="0073B9"/>
                </a:solidFill>
              </a:rPr>
              <a:t>Policy + human review</a:t>
            </a:r>
          </a:p>
        </p:txBody>
      </p:sp>
      <p:sp>
        <p:nvSpPr>
          <p:cNvPr id="26" name="Rectangle 25">
            <a:extLst>
              <a:ext uri="{FF2B5EF4-FFF2-40B4-BE49-F238E27FC236}">
                <a16:creationId xmlns:a16="http://schemas.microsoft.com/office/drawing/2014/main" id="{9678396D-BC82-4F26-98F9-A8D577D86505}"/>
              </a:ext>
            </a:extLst>
          </p:cNvPr>
          <p:cNvSpPr>
            <a:spLocks noGrp="1"/>
          </p:cNvSpPr>
          <p:nvPr/>
        </p:nvSpPr>
        <p:spPr>
          <a:xfrm>
            <a:off x="8496300" y="4867275"/>
            <a:ext cx="2686050" cy="400050"/>
          </a:xfrm>
          <a:prstGeom prst="rect">
            <a:avLst/>
          </a:prstGeom>
          <a:noFill/>
          <a:ln w="0">
            <a:noFill/>
            <a:prstDash val="solid"/>
          </a:ln>
        </p:spPr>
        <p:txBody>
          <a:bodyPr/>
          <a:lstStyle/>
          <a:p>
            <a:pPr algn="l">
              <a:defRPr sz="1200" b="0">
                <a:solidFill>
                  <a:srgbClr val="526777"/>
                </a:solidFill>
              </a:defRPr>
            </a:pPr>
            <a:r>
              <a:rPr sz="1200" b="0">
                <a:solidFill>
                  <a:srgbClr val="526777"/>
                </a:solidFill>
              </a:rPr>
              <a:t>This needs traceable thresholds and an override path.</a:t>
            </a:r>
          </a:p>
        </p:txBody>
      </p:sp>
      <p:sp>
        <p:nvSpPr>
          <p:cNvPr id="27" name="Rectangle 26">
            <a:extLst>
              <a:ext uri="{FF2B5EF4-FFF2-40B4-BE49-F238E27FC236}">
                <a16:creationId xmlns:a16="http://schemas.microsoft.com/office/drawing/2014/main" id="{372834A2-6339-4202-9E58-1957B869AB42}"/>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28" name="Rectangle 27">
            <a:extLst>
              <a:ext uri="{FF2B5EF4-FFF2-40B4-BE49-F238E27FC236}">
                <a16:creationId xmlns:a16="http://schemas.microsoft.com/office/drawing/2014/main" id="{ADBFD024-7BBD-4F15-BC51-F899ABEA7BB8}"/>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29" name="Rectangle 28">
            <a:extLst>
              <a:ext uri="{FF2B5EF4-FFF2-40B4-BE49-F238E27FC236}">
                <a16:creationId xmlns:a16="http://schemas.microsoft.com/office/drawing/2014/main" id="{8E9C6693-1BB0-44A9-9F79-04910A9ECE9B}"/>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02</a:t>
            </a:r>
          </a:p>
        </p:txBody>
      </p:sp>
    </p:spTree>
    <p:extLst>
      <p:ext uri="{BB962C8B-B14F-4D97-AF65-F5344CB8AC3E}">
        <p14:creationId xmlns:p14="http://schemas.microsoft.com/office/powerpoint/2010/main" val="1105342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10C4857-4C43-4A0A-A706-EA0836F4D352}"/>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DECISION 1 — AGENT BOUNDARY</a:t>
            </a:r>
          </a:p>
        </p:txBody>
      </p:sp>
      <p:sp>
        <p:nvSpPr>
          <p:cNvPr id="2" name="Rectangle 1">
            <a:extLst>
              <a:ext uri="{FF2B5EF4-FFF2-40B4-BE49-F238E27FC236}">
                <a16:creationId xmlns:a16="http://schemas.microsoft.com/office/drawing/2014/main" id="{BDD9DFCE-5F02-4DFC-B97B-BBC36E148037}"/>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Only the Damage Assessor is agentic</a:t>
            </a:r>
          </a:p>
        </p:txBody>
      </p:sp>
      <p:sp>
        <p:nvSpPr>
          <p:cNvPr id="3" name="Rectangle 2">
            <a:extLst>
              <a:ext uri="{FF2B5EF4-FFF2-40B4-BE49-F238E27FC236}">
                <a16:creationId xmlns:a16="http://schemas.microsoft.com/office/drawing/2014/main" id="{3FBAFC31-A1A5-4F26-A5B4-E6DA53D24F0E}"/>
              </a:ext>
            </a:extLst>
          </p:cNvPr>
          <p:cNvSpPr>
            <a:spLocks noGrp="1"/>
          </p:cNvSpPr>
          <p:nvPr/>
        </p:nvSpPr>
        <p:spPr>
          <a:xfrm>
            <a:off x="533400" y="1295400"/>
            <a:ext cx="10477500" cy="266700"/>
          </a:xfrm>
          <a:prstGeom prst="rect">
            <a:avLst/>
          </a:prstGeom>
          <a:noFill/>
          <a:ln w="0">
            <a:noFill/>
            <a:prstDash val="solid"/>
          </a:ln>
        </p:spPr>
        <p:txBody>
          <a:bodyPr/>
          <a:lstStyle/>
          <a:p>
            <a:pPr algn="l">
              <a:defRPr sz="1350" b="0">
                <a:solidFill>
                  <a:srgbClr val="526777"/>
                </a:solidFill>
              </a:defRPr>
            </a:pPr>
            <a:r>
              <a:rPr sz="1350" b="0" dirty="0">
                <a:solidFill>
                  <a:srgbClr val="526777"/>
                </a:solidFill>
              </a:rPr>
              <a:t>It turns unstructured narrative into a validated Assessment; everything after that is structured policy.</a:t>
            </a:r>
          </a:p>
        </p:txBody>
      </p:sp>
      <p:sp>
        <p:nvSpPr>
          <p:cNvPr id="4" name="Rectangle 3">
            <a:extLst>
              <a:ext uri="{FF2B5EF4-FFF2-40B4-BE49-F238E27FC236}">
                <a16:creationId xmlns:a16="http://schemas.microsoft.com/office/drawing/2014/main" id="{3E464DE4-2019-43E2-AF06-C21FBD9AC24C}"/>
              </a:ext>
            </a:extLst>
          </p:cNvPr>
          <p:cNvSpPr>
            <a:spLocks noGrp="1"/>
          </p:cNvSpPr>
          <p:nvPr/>
        </p:nvSpPr>
        <p:spPr>
          <a:xfrm>
            <a:off x="533400" y="1676400"/>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4">
            <a:extLst>
              <a:ext uri="{FF2B5EF4-FFF2-40B4-BE49-F238E27FC236}">
                <a16:creationId xmlns:a16="http://schemas.microsoft.com/office/drawing/2014/main" id="{3AE0282F-989D-48E8-8F05-24D086743043}"/>
              </a:ext>
            </a:extLst>
          </p:cNvPr>
          <p:cNvSpPr>
            <a:spLocks noGrp="1"/>
          </p:cNvSpPr>
          <p:nvPr/>
        </p:nvSpPr>
        <p:spPr>
          <a:xfrm>
            <a:off x="1200150" y="2152650"/>
            <a:ext cx="17145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CHOICE</a:t>
            </a:r>
          </a:p>
        </p:txBody>
      </p:sp>
      <p:sp>
        <p:nvSpPr>
          <p:cNvPr id="6" name="Rectangle 5">
            <a:extLst>
              <a:ext uri="{FF2B5EF4-FFF2-40B4-BE49-F238E27FC236}">
                <a16:creationId xmlns:a16="http://schemas.microsoft.com/office/drawing/2014/main" id="{E8E8B081-D8FA-4715-9381-B75BCE5C5CBE}"/>
              </a:ext>
            </a:extLst>
          </p:cNvPr>
          <p:cNvSpPr>
            <a:spLocks noGrp="1"/>
          </p:cNvSpPr>
          <p:nvPr/>
        </p:nvSpPr>
        <p:spPr>
          <a:xfrm>
            <a:off x="3714750" y="2152650"/>
            <a:ext cx="28575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WHY THIS CHOICE</a:t>
            </a:r>
          </a:p>
        </p:txBody>
      </p:sp>
      <p:sp>
        <p:nvSpPr>
          <p:cNvPr id="7" name="Rectangle 6">
            <a:extLst>
              <a:ext uri="{FF2B5EF4-FFF2-40B4-BE49-F238E27FC236}">
                <a16:creationId xmlns:a16="http://schemas.microsoft.com/office/drawing/2014/main" id="{8250F5BF-F177-46BA-A171-6A6A93FFA8AB}"/>
              </a:ext>
            </a:extLst>
          </p:cNvPr>
          <p:cNvSpPr>
            <a:spLocks noGrp="1"/>
          </p:cNvSpPr>
          <p:nvPr/>
        </p:nvSpPr>
        <p:spPr>
          <a:xfrm>
            <a:off x="7810500" y="2152650"/>
            <a:ext cx="30480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WHAT I DELIBERATELY GAVE UP</a:t>
            </a:r>
          </a:p>
        </p:txBody>
      </p:sp>
      <p:sp>
        <p:nvSpPr>
          <p:cNvPr id="8" name="Rectangle 7">
            <a:extLst>
              <a:ext uri="{FF2B5EF4-FFF2-40B4-BE49-F238E27FC236}">
                <a16:creationId xmlns:a16="http://schemas.microsoft.com/office/drawing/2014/main" id="{90B61199-9759-48EF-9C1A-978C7AD4E211}"/>
              </a:ext>
            </a:extLst>
          </p:cNvPr>
          <p:cNvSpPr>
            <a:spLocks noGrp="1"/>
          </p:cNvSpPr>
          <p:nvPr/>
        </p:nvSpPr>
        <p:spPr>
          <a:xfrm>
            <a:off x="666750" y="2552700"/>
            <a:ext cx="419100" cy="190500"/>
          </a:xfrm>
          <a:prstGeom prst="rect">
            <a:avLst/>
          </a:prstGeom>
          <a:noFill/>
          <a:ln w="0">
            <a:noFill/>
            <a:prstDash val="solid"/>
          </a:ln>
        </p:spPr>
        <p:txBody>
          <a:bodyPr/>
          <a:lstStyle/>
          <a:p>
            <a:pPr algn="l">
              <a:defRPr sz="1125" b="1">
                <a:solidFill>
                  <a:srgbClr val="F58220"/>
                </a:solidFill>
              </a:defRPr>
            </a:pPr>
            <a:r>
              <a:rPr sz="1125" b="1">
                <a:solidFill>
                  <a:srgbClr val="F58220"/>
                </a:solidFill>
              </a:rPr>
              <a:t>01</a:t>
            </a:r>
          </a:p>
        </p:txBody>
      </p:sp>
      <p:sp>
        <p:nvSpPr>
          <p:cNvPr id="9" name="Rectangle 8">
            <a:extLst>
              <a:ext uri="{FF2B5EF4-FFF2-40B4-BE49-F238E27FC236}">
                <a16:creationId xmlns:a16="http://schemas.microsoft.com/office/drawing/2014/main" id="{E1D9DA2E-9068-432F-8165-DAACB2A1F727}"/>
              </a:ext>
            </a:extLst>
          </p:cNvPr>
          <p:cNvSpPr>
            <a:spLocks noGrp="1"/>
          </p:cNvSpPr>
          <p:nvPr/>
        </p:nvSpPr>
        <p:spPr>
          <a:xfrm>
            <a:off x="1200150" y="2533650"/>
            <a:ext cx="2286000" cy="228600"/>
          </a:xfrm>
          <a:prstGeom prst="rect">
            <a:avLst/>
          </a:prstGeom>
          <a:noFill/>
          <a:ln w="0">
            <a:noFill/>
            <a:prstDash val="solid"/>
          </a:ln>
        </p:spPr>
        <p:txBody>
          <a:bodyPr/>
          <a:lstStyle/>
          <a:p>
            <a:pPr algn="l">
              <a:defRPr sz="1500" b="1">
                <a:solidFill>
                  <a:srgbClr val="102A43"/>
                </a:solidFill>
              </a:defRPr>
            </a:pPr>
            <a:r>
              <a:rPr sz="1500" b="1">
                <a:solidFill>
                  <a:srgbClr val="102A43"/>
                </a:solidFill>
              </a:rPr>
              <a:t>Damage Assessor → LLM</a:t>
            </a:r>
          </a:p>
        </p:txBody>
      </p:sp>
      <p:sp>
        <p:nvSpPr>
          <p:cNvPr id="10" name="Rectangle 9">
            <a:extLst>
              <a:ext uri="{FF2B5EF4-FFF2-40B4-BE49-F238E27FC236}">
                <a16:creationId xmlns:a16="http://schemas.microsoft.com/office/drawing/2014/main" id="{4809763F-5AB3-4947-8EC7-AEAF8F323078}"/>
              </a:ext>
            </a:extLst>
          </p:cNvPr>
          <p:cNvSpPr>
            <a:spLocks noGrp="1"/>
          </p:cNvSpPr>
          <p:nvPr/>
        </p:nvSpPr>
        <p:spPr>
          <a:xfrm>
            <a:off x="3714750" y="2533650"/>
            <a:ext cx="3714750" cy="438150"/>
          </a:xfrm>
          <a:prstGeom prst="rect">
            <a:avLst/>
          </a:prstGeom>
          <a:noFill/>
          <a:ln w="0">
            <a:noFill/>
            <a:prstDash val="solid"/>
          </a:ln>
        </p:spPr>
        <p:txBody>
          <a:bodyPr/>
          <a:lstStyle/>
          <a:p>
            <a:pPr algn="l">
              <a:defRPr sz="1200" b="0">
                <a:solidFill>
                  <a:srgbClr val="526777"/>
                </a:solidFill>
              </a:defRPr>
            </a:pPr>
            <a:r>
              <a:rPr sz="1200" b="0" dirty="0">
                <a:solidFill>
                  <a:srgbClr val="526777"/>
                </a:solidFill>
              </a:rPr>
              <a:t>It is the only component that reads and reconciles free text with structured data.</a:t>
            </a:r>
          </a:p>
        </p:txBody>
      </p:sp>
      <p:sp>
        <p:nvSpPr>
          <p:cNvPr id="11" name="Rectangle 10">
            <a:extLst>
              <a:ext uri="{FF2B5EF4-FFF2-40B4-BE49-F238E27FC236}">
                <a16:creationId xmlns:a16="http://schemas.microsoft.com/office/drawing/2014/main" id="{21E43F48-9F63-48FF-9E0A-2B07BF19944D}"/>
              </a:ext>
            </a:extLst>
          </p:cNvPr>
          <p:cNvSpPr>
            <a:spLocks noGrp="1"/>
          </p:cNvSpPr>
          <p:nvPr/>
        </p:nvSpPr>
        <p:spPr>
          <a:xfrm>
            <a:off x="7810500" y="2533650"/>
            <a:ext cx="3238500" cy="438150"/>
          </a:xfrm>
          <a:prstGeom prst="rect">
            <a:avLst/>
          </a:prstGeom>
          <a:noFill/>
          <a:ln w="0">
            <a:noFill/>
            <a:prstDash val="solid"/>
          </a:ln>
        </p:spPr>
        <p:txBody>
          <a:bodyPr/>
          <a:lstStyle/>
          <a:p>
            <a:pPr algn="l">
              <a:defRPr sz="1200" b="0">
                <a:solidFill>
                  <a:srgbClr val="526777"/>
                </a:solidFill>
              </a:defRPr>
            </a:pPr>
            <a:r>
              <a:rPr sz="1200" b="0">
                <a:solidFill>
                  <a:srgbClr val="526777"/>
                </a:solidFill>
              </a:rPr>
              <a:t>A broad “agent team” narrative; model scope is intentionally small.</a:t>
            </a:r>
          </a:p>
        </p:txBody>
      </p:sp>
      <p:sp>
        <p:nvSpPr>
          <p:cNvPr id="12" name="Rectangle 11">
            <a:extLst>
              <a:ext uri="{FF2B5EF4-FFF2-40B4-BE49-F238E27FC236}">
                <a16:creationId xmlns:a16="http://schemas.microsoft.com/office/drawing/2014/main" id="{9F80CF9D-4CEC-4258-9DC7-29ED91C2A512}"/>
              </a:ext>
            </a:extLst>
          </p:cNvPr>
          <p:cNvSpPr>
            <a:spLocks noGrp="1"/>
          </p:cNvSpPr>
          <p:nvPr/>
        </p:nvSpPr>
        <p:spPr>
          <a:xfrm>
            <a:off x="1200150" y="3143250"/>
            <a:ext cx="9848850" cy="9525"/>
          </a:xfrm>
          <a:prstGeom prst="rect">
            <a:avLst/>
          </a:prstGeom>
          <a:solidFill>
            <a:srgbClr val="D7E1E8"/>
          </a:solidFill>
          <a:ln w="0">
            <a:solidFill>
              <a:srgbClr val="D7E1E8"/>
            </a:solidFill>
            <a:prstDash val="solid"/>
          </a:ln>
        </p:spPr>
        <p:txBody>
          <a:bodyPr/>
          <a:lstStyle/>
          <a:p>
            <a:endParaRPr lang="en-US"/>
          </a:p>
        </p:txBody>
      </p:sp>
      <p:sp>
        <p:nvSpPr>
          <p:cNvPr id="13" name="Rectangle 12">
            <a:extLst>
              <a:ext uri="{FF2B5EF4-FFF2-40B4-BE49-F238E27FC236}">
                <a16:creationId xmlns:a16="http://schemas.microsoft.com/office/drawing/2014/main" id="{044A7454-5C16-43A7-8F8B-EB0C1B6445B5}"/>
              </a:ext>
            </a:extLst>
          </p:cNvPr>
          <p:cNvSpPr>
            <a:spLocks noGrp="1"/>
          </p:cNvSpPr>
          <p:nvPr/>
        </p:nvSpPr>
        <p:spPr>
          <a:xfrm>
            <a:off x="666750" y="3371850"/>
            <a:ext cx="419100" cy="190500"/>
          </a:xfrm>
          <a:prstGeom prst="rect">
            <a:avLst/>
          </a:prstGeom>
          <a:noFill/>
          <a:ln w="0">
            <a:noFill/>
            <a:prstDash val="solid"/>
          </a:ln>
        </p:spPr>
        <p:txBody>
          <a:bodyPr/>
          <a:lstStyle/>
          <a:p>
            <a:pPr algn="l">
              <a:defRPr sz="1125" b="1">
                <a:solidFill>
                  <a:srgbClr val="159947"/>
                </a:solidFill>
              </a:defRPr>
            </a:pPr>
            <a:r>
              <a:rPr sz="1125" b="1">
                <a:solidFill>
                  <a:srgbClr val="159947"/>
                </a:solidFill>
              </a:rPr>
              <a:t>02</a:t>
            </a:r>
          </a:p>
        </p:txBody>
      </p:sp>
      <p:sp>
        <p:nvSpPr>
          <p:cNvPr id="14" name="Rectangle 13">
            <a:extLst>
              <a:ext uri="{FF2B5EF4-FFF2-40B4-BE49-F238E27FC236}">
                <a16:creationId xmlns:a16="http://schemas.microsoft.com/office/drawing/2014/main" id="{2C225256-10F2-4947-83A1-36CCDCB6D8F7}"/>
              </a:ext>
            </a:extLst>
          </p:cNvPr>
          <p:cNvSpPr>
            <a:spLocks noGrp="1"/>
          </p:cNvSpPr>
          <p:nvPr/>
        </p:nvSpPr>
        <p:spPr>
          <a:xfrm>
            <a:off x="1200150" y="3352800"/>
            <a:ext cx="2286000" cy="228600"/>
          </a:xfrm>
          <a:prstGeom prst="rect">
            <a:avLst/>
          </a:prstGeom>
          <a:noFill/>
          <a:ln w="0">
            <a:noFill/>
            <a:prstDash val="solid"/>
          </a:ln>
        </p:spPr>
        <p:txBody>
          <a:bodyPr/>
          <a:lstStyle/>
          <a:p>
            <a:pPr algn="l">
              <a:defRPr sz="1500" b="1">
                <a:solidFill>
                  <a:srgbClr val="102A43"/>
                </a:solidFill>
              </a:defRPr>
            </a:pPr>
            <a:r>
              <a:rPr sz="1500" b="1">
                <a:solidFill>
                  <a:srgbClr val="102A43"/>
                </a:solidFill>
              </a:rPr>
              <a:t>Roadability → rules</a:t>
            </a:r>
          </a:p>
        </p:txBody>
      </p:sp>
      <p:sp>
        <p:nvSpPr>
          <p:cNvPr id="15" name="Rectangle 14">
            <a:extLst>
              <a:ext uri="{FF2B5EF4-FFF2-40B4-BE49-F238E27FC236}">
                <a16:creationId xmlns:a16="http://schemas.microsoft.com/office/drawing/2014/main" id="{37D8F009-1444-4042-9DFF-1E5612BB34BE}"/>
              </a:ext>
            </a:extLst>
          </p:cNvPr>
          <p:cNvSpPr>
            <a:spLocks noGrp="1"/>
          </p:cNvSpPr>
          <p:nvPr/>
        </p:nvSpPr>
        <p:spPr>
          <a:xfrm>
            <a:off x="3714750" y="3352800"/>
            <a:ext cx="3714750" cy="438150"/>
          </a:xfrm>
          <a:prstGeom prst="rect">
            <a:avLst/>
          </a:prstGeom>
          <a:noFill/>
          <a:ln w="0">
            <a:noFill/>
            <a:prstDash val="solid"/>
          </a:ln>
        </p:spPr>
        <p:txBody>
          <a:bodyPr/>
          <a:lstStyle/>
          <a:p>
            <a:pPr algn="l">
              <a:defRPr sz="1200" b="0">
                <a:solidFill>
                  <a:srgbClr val="526777"/>
                </a:solidFill>
              </a:defRPr>
            </a:pPr>
            <a:r>
              <a:rPr sz="1200" b="0" dirty="0">
                <a:solidFill>
                  <a:srgbClr val="526777"/>
                </a:solidFill>
              </a:rPr>
              <a:t>OOS criteria are explicit in the supplied field dictionary and safety-critical.</a:t>
            </a:r>
          </a:p>
        </p:txBody>
      </p:sp>
      <p:sp>
        <p:nvSpPr>
          <p:cNvPr id="16" name="Rectangle 15">
            <a:extLst>
              <a:ext uri="{FF2B5EF4-FFF2-40B4-BE49-F238E27FC236}">
                <a16:creationId xmlns:a16="http://schemas.microsoft.com/office/drawing/2014/main" id="{B6B60A2D-375E-410D-9F6B-303748149A05}"/>
              </a:ext>
            </a:extLst>
          </p:cNvPr>
          <p:cNvSpPr>
            <a:spLocks noGrp="1"/>
          </p:cNvSpPr>
          <p:nvPr/>
        </p:nvSpPr>
        <p:spPr>
          <a:xfrm>
            <a:off x="7810500" y="3352800"/>
            <a:ext cx="3238500" cy="438150"/>
          </a:xfrm>
          <a:prstGeom prst="rect">
            <a:avLst/>
          </a:prstGeom>
          <a:noFill/>
          <a:ln w="0">
            <a:noFill/>
            <a:prstDash val="solid"/>
          </a:ln>
        </p:spPr>
        <p:txBody>
          <a:bodyPr/>
          <a:lstStyle/>
          <a:p>
            <a:pPr algn="l">
              <a:defRPr sz="1200" b="0">
                <a:solidFill>
                  <a:srgbClr val="526777"/>
                </a:solidFill>
              </a:defRPr>
            </a:pPr>
            <a:r>
              <a:rPr sz="1200" b="0">
                <a:solidFill>
                  <a:srgbClr val="526777"/>
                </a:solidFill>
              </a:rPr>
              <a:t>Flexibility; the rule is transparent and testable instead.</a:t>
            </a:r>
          </a:p>
        </p:txBody>
      </p:sp>
      <p:sp>
        <p:nvSpPr>
          <p:cNvPr id="17" name="Rectangle 16">
            <a:extLst>
              <a:ext uri="{FF2B5EF4-FFF2-40B4-BE49-F238E27FC236}">
                <a16:creationId xmlns:a16="http://schemas.microsoft.com/office/drawing/2014/main" id="{B4ACCA26-9733-494D-AE20-16B30EB4A7CE}"/>
              </a:ext>
            </a:extLst>
          </p:cNvPr>
          <p:cNvSpPr>
            <a:spLocks noGrp="1"/>
          </p:cNvSpPr>
          <p:nvPr/>
        </p:nvSpPr>
        <p:spPr>
          <a:xfrm>
            <a:off x="1200150" y="3962400"/>
            <a:ext cx="9848850" cy="9525"/>
          </a:xfrm>
          <a:prstGeom prst="rect">
            <a:avLst/>
          </a:prstGeom>
          <a:solidFill>
            <a:srgbClr val="D7E1E8"/>
          </a:solidFill>
          <a:ln w="0">
            <a:solidFill>
              <a:srgbClr val="D7E1E8"/>
            </a:solidFill>
            <a:prstDash val="solid"/>
          </a:ln>
        </p:spPr>
        <p:txBody>
          <a:bodyPr/>
          <a:lstStyle/>
          <a:p>
            <a:endParaRPr lang="en-US"/>
          </a:p>
        </p:txBody>
      </p:sp>
      <p:sp>
        <p:nvSpPr>
          <p:cNvPr id="18" name="Rectangle 17">
            <a:extLst>
              <a:ext uri="{FF2B5EF4-FFF2-40B4-BE49-F238E27FC236}">
                <a16:creationId xmlns:a16="http://schemas.microsoft.com/office/drawing/2014/main" id="{A8AB7045-340F-4C42-A219-DD7440C14CDE}"/>
              </a:ext>
            </a:extLst>
          </p:cNvPr>
          <p:cNvSpPr>
            <a:spLocks noGrp="1"/>
          </p:cNvSpPr>
          <p:nvPr/>
        </p:nvSpPr>
        <p:spPr>
          <a:xfrm>
            <a:off x="666750" y="4191000"/>
            <a:ext cx="419100" cy="190500"/>
          </a:xfrm>
          <a:prstGeom prst="rect">
            <a:avLst/>
          </a:prstGeom>
          <a:noFill/>
          <a:ln w="0">
            <a:noFill/>
            <a:prstDash val="solid"/>
          </a:ln>
        </p:spPr>
        <p:txBody>
          <a:bodyPr/>
          <a:lstStyle/>
          <a:p>
            <a:pPr algn="l">
              <a:defRPr sz="1125" b="1">
                <a:solidFill>
                  <a:srgbClr val="159947"/>
                </a:solidFill>
              </a:defRPr>
            </a:pPr>
            <a:r>
              <a:rPr sz="1125" b="1">
                <a:solidFill>
                  <a:srgbClr val="159947"/>
                </a:solidFill>
              </a:rPr>
              <a:t>03</a:t>
            </a:r>
          </a:p>
        </p:txBody>
      </p:sp>
      <p:sp>
        <p:nvSpPr>
          <p:cNvPr id="19" name="Rectangle 18">
            <a:extLst>
              <a:ext uri="{FF2B5EF4-FFF2-40B4-BE49-F238E27FC236}">
                <a16:creationId xmlns:a16="http://schemas.microsoft.com/office/drawing/2014/main" id="{303178AA-F17E-4E1F-8203-582634E81444}"/>
              </a:ext>
            </a:extLst>
          </p:cNvPr>
          <p:cNvSpPr>
            <a:spLocks noGrp="1"/>
          </p:cNvSpPr>
          <p:nvPr/>
        </p:nvSpPr>
        <p:spPr>
          <a:xfrm>
            <a:off x="1200150" y="4171950"/>
            <a:ext cx="2286000" cy="228600"/>
          </a:xfrm>
          <a:prstGeom prst="rect">
            <a:avLst/>
          </a:prstGeom>
          <a:noFill/>
          <a:ln w="0">
            <a:noFill/>
            <a:prstDash val="solid"/>
          </a:ln>
        </p:spPr>
        <p:txBody>
          <a:bodyPr/>
          <a:lstStyle/>
          <a:p>
            <a:pPr algn="l">
              <a:defRPr sz="1500" b="1">
                <a:solidFill>
                  <a:srgbClr val="102A43"/>
                </a:solidFill>
              </a:defRPr>
            </a:pPr>
            <a:r>
              <a:rPr sz="1500" b="1">
                <a:solidFill>
                  <a:srgbClr val="102A43"/>
                </a:solidFill>
              </a:rPr>
              <a:t>Cost + Disposition → policy</a:t>
            </a:r>
          </a:p>
        </p:txBody>
      </p:sp>
      <p:sp>
        <p:nvSpPr>
          <p:cNvPr id="20" name="Rectangle 19">
            <a:extLst>
              <a:ext uri="{FF2B5EF4-FFF2-40B4-BE49-F238E27FC236}">
                <a16:creationId xmlns:a16="http://schemas.microsoft.com/office/drawing/2014/main" id="{9EC80017-1385-4647-A2F8-9773BB142E3D}"/>
              </a:ext>
            </a:extLst>
          </p:cNvPr>
          <p:cNvSpPr>
            <a:spLocks noGrp="1"/>
          </p:cNvSpPr>
          <p:nvPr/>
        </p:nvSpPr>
        <p:spPr>
          <a:xfrm>
            <a:off x="3714750" y="4171950"/>
            <a:ext cx="3714750" cy="438150"/>
          </a:xfrm>
          <a:prstGeom prst="rect">
            <a:avLst/>
          </a:prstGeom>
          <a:noFill/>
          <a:ln w="0">
            <a:noFill/>
            <a:prstDash val="solid"/>
          </a:ln>
        </p:spPr>
        <p:txBody>
          <a:bodyPr/>
          <a:lstStyle/>
          <a:p>
            <a:pPr algn="l">
              <a:defRPr sz="1200" b="0">
                <a:solidFill>
                  <a:srgbClr val="526777"/>
                </a:solidFill>
              </a:defRPr>
            </a:pPr>
            <a:r>
              <a:rPr sz="1200" b="0">
                <a:solidFill>
                  <a:srgbClr val="526777"/>
                </a:solidFill>
              </a:rPr>
              <a:t>They are calculations and business thresholds over known fields.</a:t>
            </a:r>
          </a:p>
        </p:txBody>
      </p:sp>
      <p:sp>
        <p:nvSpPr>
          <p:cNvPr id="21" name="Rectangle 20">
            <a:extLst>
              <a:ext uri="{FF2B5EF4-FFF2-40B4-BE49-F238E27FC236}">
                <a16:creationId xmlns:a16="http://schemas.microsoft.com/office/drawing/2014/main" id="{162FA5B1-05A6-4A82-A1AB-703C2DE4BA91}"/>
              </a:ext>
            </a:extLst>
          </p:cNvPr>
          <p:cNvSpPr>
            <a:spLocks noGrp="1"/>
          </p:cNvSpPr>
          <p:nvPr/>
        </p:nvSpPr>
        <p:spPr>
          <a:xfrm>
            <a:off x="7810500" y="4171950"/>
            <a:ext cx="3238500" cy="438150"/>
          </a:xfrm>
          <a:prstGeom prst="rect">
            <a:avLst/>
          </a:prstGeom>
          <a:noFill/>
          <a:ln w="0">
            <a:noFill/>
            <a:prstDash val="solid"/>
          </a:ln>
        </p:spPr>
        <p:txBody>
          <a:bodyPr/>
          <a:lstStyle/>
          <a:p>
            <a:pPr algn="l">
              <a:defRPr sz="1200" b="0">
                <a:solidFill>
                  <a:srgbClr val="526777"/>
                </a:solidFill>
              </a:defRPr>
            </a:pPr>
            <a:r>
              <a:rPr sz="1200" b="0">
                <a:solidFill>
                  <a:srgbClr val="526777"/>
                </a:solidFill>
              </a:rPr>
              <a:t>A model’s plausible but untraceable recommendation.</a:t>
            </a:r>
          </a:p>
        </p:txBody>
      </p:sp>
      <p:sp>
        <p:nvSpPr>
          <p:cNvPr id="22" name="Rectangle 21">
            <a:extLst>
              <a:ext uri="{FF2B5EF4-FFF2-40B4-BE49-F238E27FC236}">
                <a16:creationId xmlns:a16="http://schemas.microsoft.com/office/drawing/2014/main" id="{205FC1E1-5FE7-46ED-8382-F6C8C9E28BD5}"/>
              </a:ext>
            </a:extLst>
          </p:cNvPr>
          <p:cNvSpPr>
            <a:spLocks noGrp="1"/>
          </p:cNvSpPr>
          <p:nvPr/>
        </p:nvSpPr>
        <p:spPr>
          <a:xfrm>
            <a:off x="1200150" y="4781550"/>
            <a:ext cx="9848850" cy="9525"/>
          </a:xfrm>
          <a:prstGeom prst="rect">
            <a:avLst/>
          </a:prstGeom>
          <a:solidFill>
            <a:srgbClr val="D7E1E8"/>
          </a:solidFill>
          <a:ln w="0">
            <a:solidFill>
              <a:srgbClr val="D7E1E8"/>
            </a:solidFill>
            <a:prstDash val="solid"/>
          </a:ln>
        </p:spPr>
        <p:txBody>
          <a:bodyPr/>
          <a:lstStyle/>
          <a:p>
            <a:endParaRPr lang="en-US"/>
          </a:p>
        </p:txBody>
      </p:sp>
      <p:sp>
        <p:nvSpPr>
          <p:cNvPr id="23" name="Rectangle 22">
            <a:extLst>
              <a:ext uri="{FF2B5EF4-FFF2-40B4-BE49-F238E27FC236}">
                <a16:creationId xmlns:a16="http://schemas.microsoft.com/office/drawing/2014/main" id="{04F150A3-AD69-45B5-B9DA-06A050ACB538}"/>
              </a:ext>
            </a:extLst>
          </p:cNvPr>
          <p:cNvSpPr>
            <a:spLocks noGrp="1"/>
          </p:cNvSpPr>
          <p:nvPr/>
        </p:nvSpPr>
        <p:spPr>
          <a:xfrm>
            <a:off x="666750" y="5010150"/>
            <a:ext cx="419100" cy="190500"/>
          </a:xfrm>
          <a:prstGeom prst="rect">
            <a:avLst/>
          </a:prstGeom>
          <a:noFill/>
          <a:ln w="0">
            <a:noFill/>
            <a:prstDash val="solid"/>
          </a:ln>
        </p:spPr>
        <p:txBody>
          <a:bodyPr/>
          <a:lstStyle/>
          <a:p>
            <a:pPr algn="l">
              <a:defRPr sz="1125" b="1">
                <a:solidFill>
                  <a:srgbClr val="0073B9"/>
                </a:solidFill>
              </a:defRPr>
            </a:pPr>
            <a:r>
              <a:rPr sz="1125" b="1">
                <a:solidFill>
                  <a:srgbClr val="0073B9"/>
                </a:solidFill>
              </a:rPr>
              <a:t>04</a:t>
            </a:r>
          </a:p>
        </p:txBody>
      </p:sp>
      <p:sp>
        <p:nvSpPr>
          <p:cNvPr id="24" name="Rectangle 23">
            <a:extLst>
              <a:ext uri="{FF2B5EF4-FFF2-40B4-BE49-F238E27FC236}">
                <a16:creationId xmlns:a16="http://schemas.microsoft.com/office/drawing/2014/main" id="{D65DAE99-CC17-458F-AEA8-B43B8DF26B1A}"/>
              </a:ext>
            </a:extLst>
          </p:cNvPr>
          <p:cNvSpPr>
            <a:spLocks noGrp="1"/>
          </p:cNvSpPr>
          <p:nvPr/>
        </p:nvSpPr>
        <p:spPr>
          <a:xfrm>
            <a:off x="1200150" y="4991100"/>
            <a:ext cx="2286000" cy="228600"/>
          </a:xfrm>
          <a:prstGeom prst="rect">
            <a:avLst/>
          </a:prstGeom>
          <a:noFill/>
          <a:ln w="0">
            <a:noFill/>
            <a:prstDash val="solid"/>
          </a:ln>
        </p:spPr>
        <p:txBody>
          <a:bodyPr/>
          <a:lstStyle/>
          <a:p>
            <a:pPr algn="l">
              <a:defRPr sz="1500" b="1">
                <a:solidFill>
                  <a:srgbClr val="102A43"/>
                </a:solidFill>
              </a:defRPr>
            </a:pPr>
            <a:r>
              <a:rPr sz="1500" b="1">
                <a:solidFill>
                  <a:srgbClr val="102A43"/>
                </a:solidFill>
              </a:rPr>
              <a:t>Supervisor → deterministic</a:t>
            </a:r>
          </a:p>
        </p:txBody>
      </p:sp>
      <p:sp>
        <p:nvSpPr>
          <p:cNvPr id="25" name="Rectangle 24">
            <a:extLst>
              <a:ext uri="{FF2B5EF4-FFF2-40B4-BE49-F238E27FC236}">
                <a16:creationId xmlns:a16="http://schemas.microsoft.com/office/drawing/2014/main" id="{6CA64B03-46C9-48F1-8E28-B7C7AA1B6FB5}"/>
              </a:ext>
            </a:extLst>
          </p:cNvPr>
          <p:cNvSpPr>
            <a:spLocks noGrp="1"/>
          </p:cNvSpPr>
          <p:nvPr/>
        </p:nvSpPr>
        <p:spPr>
          <a:xfrm>
            <a:off x="3714750" y="4991100"/>
            <a:ext cx="3714750" cy="438150"/>
          </a:xfrm>
          <a:prstGeom prst="rect">
            <a:avLst/>
          </a:prstGeom>
          <a:noFill/>
          <a:ln w="0">
            <a:noFill/>
            <a:prstDash val="solid"/>
          </a:ln>
        </p:spPr>
        <p:txBody>
          <a:bodyPr/>
          <a:lstStyle/>
          <a:p>
            <a:pPr algn="l">
              <a:defRPr sz="1200" b="0">
                <a:solidFill>
                  <a:srgbClr val="526777"/>
                </a:solidFill>
              </a:defRPr>
            </a:pPr>
            <a:r>
              <a:rPr sz="1200" b="0">
                <a:solidFill>
                  <a:srgbClr val="526777"/>
                </a:solidFill>
              </a:rPr>
              <a:t>Once Assessment exists, the next hop is a pure function of graph state.</a:t>
            </a:r>
          </a:p>
        </p:txBody>
      </p:sp>
      <p:sp>
        <p:nvSpPr>
          <p:cNvPr id="26" name="Rectangle 25">
            <a:extLst>
              <a:ext uri="{FF2B5EF4-FFF2-40B4-BE49-F238E27FC236}">
                <a16:creationId xmlns:a16="http://schemas.microsoft.com/office/drawing/2014/main" id="{813994DA-11DF-42ED-8EB9-AA0CEECBA2B9}"/>
              </a:ext>
            </a:extLst>
          </p:cNvPr>
          <p:cNvSpPr>
            <a:spLocks noGrp="1"/>
          </p:cNvSpPr>
          <p:nvPr/>
        </p:nvSpPr>
        <p:spPr>
          <a:xfrm>
            <a:off x="7810500" y="4991100"/>
            <a:ext cx="3238500" cy="438150"/>
          </a:xfrm>
          <a:prstGeom prst="rect">
            <a:avLst/>
          </a:prstGeom>
          <a:noFill/>
          <a:ln w="0">
            <a:noFill/>
            <a:prstDash val="solid"/>
          </a:ln>
        </p:spPr>
        <p:txBody>
          <a:bodyPr/>
          <a:lstStyle/>
          <a:p>
            <a:pPr algn="l">
              <a:defRPr sz="1200" b="0">
                <a:solidFill>
                  <a:srgbClr val="526777"/>
                </a:solidFill>
              </a:defRPr>
            </a:pPr>
            <a:r>
              <a:rPr sz="1200" b="0">
                <a:solidFill>
                  <a:srgbClr val="526777"/>
                </a:solidFill>
              </a:rPr>
              <a:t>An LLM router; I chose predictable, free, loop-free routing.</a:t>
            </a:r>
          </a:p>
        </p:txBody>
      </p:sp>
      <p:sp>
        <p:nvSpPr>
          <p:cNvPr id="27" name="Rectangle 26">
            <a:extLst>
              <a:ext uri="{FF2B5EF4-FFF2-40B4-BE49-F238E27FC236}">
                <a16:creationId xmlns:a16="http://schemas.microsoft.com/office/drawing/2014/main" id="{14E65D07-7E54-4A4D-8CCB-0B4E0B3CADD8}"/>
              </a:ext>
            </a:extLst>
          </p:cNvPr>
          <p:cNvSpPr>
            <a:spLocks noGrp="1"/>
          </p:cNvSpPr>
          <p:nvPr/>
        </p:nvSpPr>
        <p:spPr>
          <a:xfrm>
            <a:off x="1200150" y="5600700"/>
            <a:ext cx="9848850" cy="9525"/>
          </a:xfrm>
          <a:prstGeom prst="rect">
            <a:avLst/>
          </a:prstGeom>
          <a:solidFill>
            <a:srgbClr val="D7E1E8"/>
          </a:solidFill>
          <a:ln w="0">
            <a:solidFill>
              <a:srgbClr val="D7E1E8"/>
            </a:solidFill>
            <a:prstDash val="solid"/>
          </a:ln>
        </p:spPr>
        <p:txBody>
          <a:bodyPr/>
          <a:lstStyle/>
          <a:p>
            <a:endParaRPr lang="en-US"/>
          </a:p>
        </p:txBody>
      </p:sp>
      <p:sp>
        <p:nvSpPr>
          <p:cNvPr id="28" name="Rectangle 27">
            <a:extLst>
              <a:ext uri="{FF2B5EF4-FFF2-40B4-BE49-F238E27FC236}">
                <a16:creationId xmlns:a16="http://schemas.microsoft.com/office/drawing/2014/main" id="{77E1318D-AAF3-430F-AA7F-9A680995C9BD}"/>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29" name="Rectangle 28">
            <a:extLst>
              <a:ext uri="{FF2B5EF4-FFF2-40B4-BE49-F238E27FC236}">
                <a16:creationId xmlns:a16="http://schemas.microsoft.com/office/drawing/2014/main" id="{DF2E82B4-7C28-4EC6-8C35-AF7408BE0293}"/>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30" name="Rectangle 29">
            <a:extLst>
              <a:ext uri="{FF2B5EF4-FFF2-40B4-BE49-F238E27FC236}">
                <a16:creationId xmlns:a16="http://schemas.microsoft.com/office/drawing/2014/main" id="{7EF35011-A8AC-4271-8D4A-0969365C1556}"/>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03</a:t>
            </a:r>
          </a:p>
        </p:txBody>
      </p:sp>
    </p:spTree>
    <p:extLst>
      <p:ext uri="{BB962C8B-B14F-4D97-AF65-F5344CB8AC3E}">
        <p14:creationId xmlns:p14="http://schemas.microsoft.com/office/powerpoint/2010/main" val="32771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C53E469-C99E-437E-93A3-1760D65FA875}"/>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DECISION 2 — ORCHESTRATION</a:t>
            </a:r>
          </a:p>
        </p:txBody>
      </p:sp>
      <p:sp>
        <p:nvSpPr>
          <p:cNvPr id="2" name="Rectangle 1">
            <a:extLst>
              <a:ext uri="{FF2B5EF4-FFF2-40B4-BE49-F238E27FC236}">
                <a16:creationId xmlns:a16="http://schemas.microsoft.com/office/drawing/2014/main" id="{6E5B8E2A-1BDF-4A4E-89AA-17676CEB7CA8}"/>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The supervisor re-enters after every specialist</a:t>
            </a:r>
          </a:p>
        </p:txBody>
      </p:sp>
      <p:sp>
        <p:nvSpPr>
          <p:cNvPr id="4" name="Rectangle 3">
            <a:extLst>
              <a:ext uri="{FF2B5EF4-FFF2-40B4-BE49-F238E27FC236}">
                <a16:creationId xmlns:a16="http://schemas.microsoft.com/office/drawing/2014/main" id="{A2E01EE1-1BC3-4308-B43C-6FBA12F97611}"/>
              </a:ext>
            </a:extLst>
          </p:cNvPr>
          <p:cNvSpPr>
            <a:spLocks noGrp="1"/>
          </p:cNvSpPr>
          <p:nvPr/>
        </p:nvSpPr>
        <p:spPr>
          <a:xfrm>
            <a:off x="533400" y="1220708"/>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4">
            <a:extLst>
              <a:ext uri="{FF2B5EF4-FFF2-40B4-BE49-F238E27FC236}">
                <a16:creationId xmlns:a16="http://schemas.microsoft.com/office/drawing/2014/main" id="{18DA5B6A-B648-4D6E-8843-5823F04C717C}"/>
              </a:ext>
            </a:extLst>
          </p:cNvPr>
          <p:cNvSpPr>
            <a:spLocks noGrp="1"/>
          </p:cNvSpPr>
          <p:nvPr/>
        </p:nvSpPr>
        <p:spPr>
          <a:xfrm>
            <a:off x="609600" y="2038350"/>
            <a:ext cx="180975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ESTABLISH FACTS</a:t>
            </a:r>
          </a:p>
        </p:txBody>
      </p:sp>
      <p:sp>
        <p:nvSpPr>
          <p:cNvPr id="6" name="Rectangle: Rounded Corners 5">
            <a:extLst>
              <a:ext uri="{FF2B5EF4-FFF2-40B4-BE49-F238E27FC236}">
                <a16:creationId xmlns:a16="http://schemas.microsoft.com/office/drawing/2014/main" id="{ED7C46BD-17FA-4345-BF3E-C0767BF49B26}"/>
              </a:ext>
            </a:extLst>
          </p:cNvPr>
          <p:cNvSpPr>
            <a:spLocks noGrp="1"/>
          </p:cNvSpPr>
          <p:nvPr/>
        </p:nvSpPr>
        <p:spPr>
          <a:xfrm>
            <a:off x="609600" y="2305050"/>
            <a:ext cx="12001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7" name="Rectangle 6">
            <a:extLst>
              <a:ext uri="{FF2B5EF4-FFF2-40B4-BE49-F238E27FC236}">
                <a16:creationId xmlns:a16="http://schemas.microsoft.com/office/drawing/2014/main" id="{CA000E77-41AC-4DB6-B38D-E40A5BCD0385}"/>
              </a:ext>
            </a:extLst>
          </p:cNvPr>
          <p:cNvSpPr>
            <a:spLocks noGrp="1"/>
          </p:cNvSpPr>
          <p:nvPr/>
        </p:nvSpPr>
        <p:spPr>
          <a:xfrm>
            <a:off x="609600" y="2305050"/>
            <a:ext cx="57150" cy="571500"/>
          </a:xfrm>
          <a:prstGeom prst="rect">
            <a:avLst/>
          </a:prstGeom>
          <a:solidFill>
            <a:srgbClr val="0073B9"/>
          </a:solidFill>
          <a:ln w="0">
            <a:solidFill>
              <a:srgbClr val="0073B9"/>
            </a:solidFill>
            <a:prstDash val="solid"/>
          </a:ln>
        </p:spPr>
        <p:txBody>
          <a:bodyPr/>
          <a:lstStyle/>
          <a:p>
            <a:endParaRPr lang="en-US"/>
          </a:p>
        </p:txBody>
      </p:sp>
      <p:sp>
        <p:nvSpPr>
          <p:cNvPr id="8" name="Rectangle 7">
            <a:extLst>
              <a:ext uri="{FF2B5EF4-FFF2-40B4-BE49-F238E27FC236}">
                <a16:creationId xmlns:a16="http://schemas.microsoft.com/office/drawing/2014/main" id="{D52FF263-667C-41C2-97DB-F21989E79215}"/>
              </a:ext>
            </a:extLst>
          </p:cNvPr>
          <p:cNvSpPr>
            <a:spLocks noGrp="1"/>
          </p:cNvSpPr>
          <p:nvPr/>
        </p:nvSpPr>
        <p:spPr>
          <a:xfrm>
            <a:off x="781050" y="2419350"/>
            <a:ext cx="9144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INPUT</a:t>
            </a:r>
          </a:p>
        </p:txBody>
      </p:sp>
      <p:sp>
        <p:nvSpPr>
          <p:cNvPr id="9" name="Rectangle 8">
            <a:extLst>
              <a:ext uri="{FF2B5EF4-FFF2-40B4-BE49-F238E27FC236}">
                <a16:creationId xmlns:a16="http://schemas.microsoft.com/office/drawing/2014/main" id="{AE975EED-4E93-4027-9895-38BE0A05E876}"/>
              </a:ext>
            </a:extLst>
          </p:cNvPr>
          <p:cNvSpPr>
            <a:spLocks noGrp="1"/>
          </p:cNvSpPr>
          <p:nvPr/>
        </p:nvSpPr>
        <p:spPr>
          <a:xfrm>
            <a:off x="762000" y="2549399"/>
            <a:ext cx="914400" cy="247650"/>
          </a:xfrm>
          <a:prstGeom prst="rect">
            <a:avLst/>
          </a:prstGeom>
          <a:noFill/>
          <a:ln w="0">
            <a:noFill/>
            <a:prstDash val="solid"/>
          </a:ln>
        </p:spPr>
        <p:txBody>
          <a:bodyPr/>
          <a:lstStyle/>
          <a:p>
            <a:pPr algn="l">
              <a:defRPr sz="1350" b="1">
                <a:solidFill>
                  <a:srgbClr val="102A43"/>
                </a:solidFill>
              </a:defRPr>
            </a:pPr>
            <a:r>
              <a:rPr sz="1350" b="1" dirty="0">
                <a:solidFill>
                  <a:srgbClr val="102A43"/>
                </a:solidFill>
              </a:rPr>
              <a:t>Report</a:t>
            </a:r>
          </a:p>
        </p:txBody>
      </p:sp>
      <p:sp>
        <p:nvSpPr>
          <p:cNvPr id="10" name="Rectangle: Rounded Corners 9">
            <a:extLst>
              <a:ext uri="{FF2B5EF4-FFF2-40B4-BE49-F238E27FC236}">
                <a16:creationId xmlns:a16="http://schemas.microsoft.com/office/drawing/2014/main" id="{BECD8DE0-DDA4-470C-A41D-AF8E8034696A}"/>
              </a:ext>
            </a:extLst>
          </p:cNvPr>
          <p:cNvSpPr>
            <a:spLocks noGrp="1"/>
          </p:cNvSpPr>
          <p:nvPr/>
        </p:nvSpPr>
        <p:spPr>
          <a:xfrm>
            <a:off x="2133600" y="2305050"/>
            <a:ext cx="14287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11" name="Rectangle 10">
            <a:extLst>
              <a:ext uri="{FF2B5EF4-FFF2-40B4-BE49-F238E27FC236}">
                <a16:creationId xmlns:a16="http://schemas.microsoft.com/office/drawing/2014/main" id="{9AA3A053-3A60-4B35-99AD-47F61ED57174}"/>
              </a:ext>
            </a:extLst>
          </p:cNvPr>
          <p:cNvSpPr>
            <a:spLocks noGrp="1"/>
          </p:cNvSpPr>
          <p:nvPr/>
        </p:nvSpPr>
        <p:spPr>
          <a:xfrm>
            <a:off x="2133600" y="2305050"/>
            <a:ext cx="57150" cy="571500"/>
          </a:xfrm>
          <a:prstGeom prst="rect">
            <a:avLst/>
          </a:prstGeom>
          <a:solidFill>
            <a:srgbClr val="0073B9"/>
          </a:solidFill>
          <a:ln w="0">
            <a:solidFill>
              <a:srgbClr val="0073B9"/>
            </a:solidFill>
            <a:prstDash val="solid"/>
          </a:ln>
        </p:spPr>
        <p:txBody>
          <a:bodyPr/>
          <a:lstStyle/>
          <a:p>
            <a:endParaRPr lang="en-US"/>
          </a:p>
        </p:txBody>
      </p:sp>
      <p:sp>
        <p:nvSpPr>
          <p:cNvPr id="12" name="Rectangle 11">
            <a:extLst>
              <a:ext uri="{FF2B5EF4-FFF2-40B4-BE49-F238E27FC236}">
                <a16:creationId xmlns:a16="http://schemas.microsoft.com/office/drawing/2014/main" id="{0C15DD85-2006-4D9E-B015-D7348F6F2644}"/>
              </a:ext>
            </a:extLst>
          </p:cNvPr>
          <p:cNvSpPr>
            <a:spLocks noGrp="1"/>
          </p:cNvSpPr>
          <p:nvPr/>
        </p:nvSpPr>
        <p:spPr>
          <a:xfrm>
            <a:off x="2305050" y="2419350"/>
            <a:ext cx="1143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ROUTE</a:t>
            </a:r>
          </a:p>
        </p:txBody>
      </p:sp>
      <p:sp>
        <p:nvSpPr>
          <p:cNvPr id="13" name="Rectangle 12">
            <a:extLst>
              <a:ext uri="{FF2B5EF4-FFF2-40B4-BE49-F238E27FC236}">
                <a16:creationId xmlns:a16="http://schemas.microsoft.com/office/drawing/2014/main" id="{D4B0AD11-261C-4064-A6FF-E817B8C30D93}"/>
              </a:ext>
            </a:extLst>
          </p:cNvPr>
          <p:cNvSpPr>
            <a:spLocks noGrp="1"/>
          </p:cNvSpPr>
          <p:nvPr/>
        </p:nvSpPr>
        <p:spPr>
          <a:xfrm>
            <a:off x="2305050" y="2549399"/>
            <a:ext cx="1143000" cy="247650"/>
          </a:xfrm>
          <a:prstGeom prst="rect">
            <a:avLst/>
          </a:prstGeom>
          <a:noFill/>
          <a:ln w="0">
            <a:noFill/>
            <a:prstDash val="solid"/>
          </a:ln>
        </p:spPr>
        <p:txBody>
          <a:bodyPr/>
          <a:lstStyle/>
          <a:p>
            <a:pPr algn="l">
              <a:defRPr sz="1350" b="1">
                <a:solidFill>
                  <a:srgbClr val="102A43"/>
                </a:solidFill>
              </a:defRPr>
            </a:pPr>
            <a:r>
              <a:rPr sz="1350" b="1" dirty="0">
                <a:solidFill>
                  <a:srgbClr val="102A43"/>
                </a:solidFill>
              </a:rPr>
              <a:t>Supervisor</a:t>
            </a:r>
          </a:p>
        </p:txBody>
      </p:sp>
      <p:sp>
        <p:nvSpPr>
          <p:cNvPr id="14" name="Rectangle: Rounded Corners 13">
            <a:extLst>
              <a:ext uri="{FF2B5EF4-FFF2-40B4-BE49-F238E27FC236}">
                <a16:creationId xmlns:a16="http://schemas.microsoft.com/office/drawing/2014/main" id="{63CCE92E-3992-4B1F-AD2F-10755794BDD2}"/>
              </a:ext>
            </a:extLst>
          </p:cNvPr>
          <p:cNvSpPr>
            <a:spLocks noGrp="1"/>
          </p:cNvSpPr>
          <p:nvPr/>
        </p:nvSpPr>
        <p:spPr>
          <a:xfrm>
            <a:off x="3886200" y="2305050"/>
            <a:ext cx="175260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15" name="Rectangle 14">
            <a:extLst>
              <a:ext uri="{FF2B5EF4-FFF2-40B4-BE49-F238E27FC236}">
                <a16:creationId xmlns:a16="http://schemas.microsoft.com/office/drawing/2014/main" id="{305C6A31-24E6-4F08-86A6-B02961DC1767}"/>
              </a:ext>
            </a:extLst>
          </p:cNvPr>
          <p:cNvSpPr>
            <a:spLocks noGrp="1"/>
          </p:cNvSpPr>
          <p:nvPr/>
        </p:nvSpPr>
        <p:spPr>
          <a:xfrm>
            <a:off x="3886200" y="2305050"/>
            <a:ext cx="57150" cy="571500"/>
          </a:xfrm>
          <a:prstGeom prst="rect">
            <a:avLst/>
          </a:prstGeom>
          <a:solidFill>
            <a:srgbClr val="F58220"/>
          </a:solidFill>
          <a:ln w="0">
            <a:solidFill>
              <a:srgbClr val="F58220"/>
            </a:solidFill>
            <a:prstDash val="solid"/>
          </a:ln>
        </p:spPr>
        <p:txBody>
          <a:bodyPr/>
          <a:lstStyle/>
          <a:p>
            <a:endParaRPr lang="en-US"/>
          </a:p>
        </p:txBody>
      </p:sp>
      <p:sp>
        <p:nvSpPr>
          <p:cNvPr id="16" name="Rectangle 15">
            <a:extLst>
              <a:ext uri="{FF2B5EF4-FFF2-40B4-BE49-F238E27FC236}">
                <a16:creationId xmlns:a16="http://schemas.microsoft.com/office/drawing/2014/main" id="{7E4F5D72-1748-44E4-81A5-F90D7C2251F5}"/>
              </a:ext>
            </a:extLst>
          </p:cNvPr>
          <p:cNvSpPr>
            <a:spLocks noGrp="1"/>
          </p:cNvSpPr>
          <p:nvPr/>
        </p:nvSpPr>
        <p:spPr>
          <a:xfrm>
            <a:off x="4057650" y="2419350"/>
            <a:ext cx="14668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LLM</a:t>
            </a:r>
          </a:p>
        </p:txBody>
      </p:sp>
      <p:sp>
        <p:nvSpPr>
          <p:cNvPr id="17" name="Rectangle 16">
            <a:extLst>
              <a:ext uri="{FF2B5EF4-FFF2-40B4-BE49-F238E27FC236}">
                <a16:creationId xmlns:a16="http://schemas.microsoft.com/office/drawing/2014/main" id="{0798EEF4-F772-42E0-A15B-A6A66989BDA3}"/>
              </a:ext>
            </a:extLst>
          </p:cNvPr>
          <p:cNvSpPr>
            <a:spLocks noGrp="1"/>
          </p:cNvSpPr>
          <p:nvPr/>
        </p:nvSpPr>
        <p:spPr>
          <a:xfrm>
            <a:off x="4057650" y="2533649"/>
            <a:ext cx="1466850" cy="247650"/>
          </a:xfrm>
          <a:prstGeom prst="rect">
            <a:avLst/>
          </a:prstGeom>
          <a:noFill/>
          <a:ln w="0">
            <a:noFill/>
            <a:prstDash val="solid"/>
          </a:ln>
        </p:spPr>
        <p:txBody>
          <a:bodyPr/>
          <a:lstStyle/>
          <a:p>
            <a:pPr algn="l">
              <a:defRPr sz="1350" b="1">
                <a:solidFill>
                  <a:srgbClr val="102A43"/>
                </a:solidFill>
              </a:defRPr>
            </a:pPr>
            <a:r>
              <a:rPr sz="1350" b="1" dirty="0">
                <a:solidFill>
                  <a:srgbClr val="102A43"/>
                </a:solidFill>
              </a:rPr>
              <a:t>Damage Assessor</a:t>
            </a:r>
          </a:p>
        </p:txBody>
      </p:sp>
      <p:sp>
        <p:nvSpPr>
          <p:cNvPr id="18" name="Rectangle: Rounded Corners 17">
            <a:extLst>
              <a:ext uri="{FF2B5EF4-FFF2-40B4-BE49-F238E27FC236}">
                <a16:creationId xmlns:a16="http://schemas.microsoft.com/office/drawing/2014/main" id="{BBE04450-7C8F-4DFA-8FD1-8FEA151828E5}"/>
              </a:ext>
            </a:extLst>
          </p:cNvPr>
          <p:cNvSpPr>
            <a:spLocks noGrp="1"/>
          </p:cNvSpPr>
          <p:nvPr/>
        </p:nvSpPr>
        <p:spPr>
          <a:xfrm>
            <a:off x="5962650" y="2305050"/>
            <a:ext cx="14287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19" name="Rectangle 18">
            <a:extLst>
              <a:ext uri="{FF2B5EF4-FFF2-40B4-BE49-F238E27FC236}">
                <a16:creationId xmlns:a16="http://schemas.microsoft.com/office/drawing/2014/main" id="{FE7ECBF2-B8EB-47DB-B1A8-C91DF80AAF25}"/>
              </a:ext>
            </a:extLst>
          </p:cNvPr>
          <p:cNvSpPr>
            <a:spLocks noGrp="1"/>
          </p:cNvSpPr>
          <p:nvPr/>
        </p:nvSpPr>
        <p:spPr>
          <a:xfrm>
            <a:off x="5962650" y="2305050"/>
            <a:ext cx="57150" cy="571500"/>
          </a:xfrm>
          <a:prstGeom prst="rect">
            <a:avLst/>
          </a:prstGeom>
          <a:solidFill>
            <a:srgbClr val="0073B9"/>
          </a:solidFill>
          <a:ln w="0">
            <a:solidFill>
              <a:srgbClr val="0073B9"/>
            </a:solidFill>
            <a:prstDash val="solid"/>
          </a:ln>
        </p:spPr>
        <p:txBody>
          <a:bodyPr/>
          <a:lstStyle/>
          <a:p>
            <a:endParaRPr lang="en-US"/>
          </a:p>
        </p:txBody>
      </p:sp>
      <p:sp>
        <p:nvSpPr>
          <p:cNvPr id="20" name="Rectangle 19">
            <a:extLst>
              <a:ext uri="{FF2B5EF4-FFF2-40B4-BE49-F238E27FC236}">
                <a16:creationId xmlns:a16="http://schemas.microsoft.com/office/drawing/2014/main" id="{17A486C9-5973-4FDD-BD79-9D398758BDCF}"/>
              </a:ext>
            </a:extLst>
          </p:cNvPr>
          <p:cNvSpPr>
            <a:spLocks noGrp="1"/>
          </p:cNvSpPr>
          <p:nvPr/>
        </p:nvSpPr>
        <p:spPr>
          <a:xfrm>
            <a:off x="6134100" y="2419350"/>
            <a:ext cx="1143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RE-ENTER</a:t>
            </a:r>
          </a:p>
        </p:txBody>
      </p:sp>
      <p:sp>
        <p:nvSpPr>
          <p:cNvPr id="21" name="Rectangle 20">
            <a:extLst>
              <a:ext uri="{FF2B5EF4-FFF2-40B4-BE49-F238E27FC236}">
                <a16:creationId xmlns:a16="http://schemas.microsoft.com/office/drawing/2014/main" id="{02087EA9-271C-443A-A503-DC358F92D698}"/>
              </a:ext>
            </a:extLst>
          </p:cNvPr>
          <p:cNvSpPr>
            <a:spLocks noGrp="1"/>
          </p:cNvSpPr>
          <p:nvPr/>
        </p:nvSpPr>
        <p:spPr>
          <a:xfrm>
            <a:off x="6134100" y="2533649"/>
            <a:ext cx="11430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Supervisor</a:t>
            </a:r>
          </a:p>
        </p:txBody>
      </p:sp>
      <p:sp>
        <p:nvSpPr>
          <p:cNvPr id="22" name="Rectangle: Rounded Corners 21">
            <a:extLst>
              <a:ext uri="{FF2B5EF4-FFF2-40B4-BE49-F238E27FC236}">
                <a16:creationId xmlns:a16="http://schemas.microsoft.com/office/drawing/2014/main" id="{296E2716-6D4D-4B4A-ABC2-4B5AA9F16758}"/>
              </a:ext>
            </a:extLst>
          </p:cNvPr>
          <p:cNvSpPr>
            <a:spLocks noGrp="1"/>
          </p:cNvSpPr>
          <p:nvPr/>
        </p:nvSpPr>
        <p:spPr>
          <a:xfrm>
            <a:off x="7715250" y="2305050"/>
            <a:ext cx="171450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23" name="Rectangle 22">
            <a:extLst>
              <a:ext uri="{FF2B5EF4-FFF2-40B4-BE49-F238E27FC236}">
                <a16:creationId xmlns:a16="http://schemas.microsoft.com/office/drawing/2014/main" id="{8C445FD5-D767-4481-97DE-F57020DEE526}"/>
              </a:ext>
            </a:extLst>
          </p:cNvPr>
          <p:cNvSpPr>
            <a:spLocks noGrp="1"/>
          </p:cNvSpPr>
          <p:nvPr/>
        </p:nvSpPr>
        <p:spPr>
          <a:xfrm>
            <a:off x="7715250" y="2305050"/>
            <a:ext cx="57150" cy="571500"/>
          </a:xfrm>
          <a:prstGeom prst="rect">
            <a:avLst/>
          </a:prstGeom>
          <a:solidFill>
            <a:srgbClr val="159947"/>
          </a:solidFill>
          <a:ln w="0">
            <a:solidFill>
              <a:srgbClr val="159947"/>
            </a:solidFill>
            <a:prstDash val="solid"/>
          </a:ln>
        </p:spPr>
        <p:txBody>
          <a:bodyPr/>
          <a:lstStyle/>
          <a:p>
            <a:endParaRPr lang="en-US"/>
          </a:p>
        </p:txBody>
      </p:sp>
      <p:sp>
        <p:nvSpPr>
          <p:cNvPr id="24" name="Rectangle 23">
            <a:extLst>
              <a:ext uri="{FF2B5EF4-FFF2-40B4-BE49-F238E27FC236}">
                <a16:creationId xmlns:a16="http://schemas.microsoft.com/office/drawing/2014/main" id="{83067E30-5401-4DC1-AB65-BE2DC588E243}"/>
              </a:ext>
            </a:extLst>
          </p:cNvPr>
          <p:cNvSpPr>
            <a:spLocks noGrp="1"/>
          </p:cNvSpPr>
          <p:nvPr/>
        </p:nvSpPr>
        <p:spPr>
          <a:xfrm>
            <a:off x="7886700" y="2419350"/>
            <a:ext cx="14287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RULES</a:t>
            </a:r>
          </a:p>
        </p:txBody>
      </p:sp>
      <p:sp>
        <p:nvSpPr>
          <p:cNvPr id="25" name="Rectangle 24">
            <a:extLst>
              <a:ext uri="{FF2B5EF4-FFF2-40B4-BE49-F238E27FC236}">
                <a16:creationId xmlns:a16="http://schemas.microsoft.com/office/drawing/2014/main" id="{08373A3C-B678-4AD2-A3B8-E9186E83003B}"/>
              </a:ext>
            </a:extLst>
          </p:cNvPr>
          <p:cNvSpPr>
            <a:spLocks noGrp="1"/>
          </p:cNvSpPr>
          <p:nvPr/>
        </p:nvSpPr>
        <p:spPr>
          <a:xfrm>
            <a:off x="7886700" y="2533649"/>
            <a:ext cx="142875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Roadability</a:t>
            </a:r>
          </a:p>
        </p:txBody>
      </p:sp>
      <p:cxnSp>
        <p:nvCxnSpPr>
          <p:cNvPr id="108" name="Straight Arrow Connector 107"/>
          <p:cNvCxnSpPr>
            <a:stCxn id="6" idx="3"/>
            <a:endCxn id="10" idx="1"/>
          </p:cNvCxnSpPr>
          <p:nvPr/>
        </p:nvCxnSpPr>
        <p:spPr>
          <a:xfrm>
            <a:off x="1809750" y="2590800"/>
            <a:ext cx="323850" cy="0"/>
          </a:xfrm>
          <a:prstGeom prst="straightConnector1">
            <a:avLst/>
          </a:prstGeom>
          <a:ln w="19050">
            <a:solidFill>
              <a:srgbClr val="0073B9"/>
            </a:solidFill>
            <a:prstDash val="solid"/>
            <a:tailEnd type="arrow" w="sm" len="sm"/>
          </a:ln>
        </p:spPr>
      </p:cxnSp>
      <p:cxnSp>
        <p:nvCxnSpPr>
          <p:cNvPr id="109" name="Straight Arrow Connector 108"/>
          <p:cNvCxnSpPr>
            <a:stCxn id="10" idx="3"/>
            <a:endCxn id="14" idx="1"/>
          </p:cNvCxnSpPr>
          <p:nvPr/>
        </p:nvCxnSpPr>
        <p:spPr>
          <a:xfrm>
            <a:off x="3562350" y="2590800"/>
            <a:ext cx="323850" cy="0"/>
          </a:xfrm>
          <a:prstGeom prst="straightConnector1">
            <a:avLst/>
          </a:prstGeom>
          <a:ln w="19050">
            <a:solidFill>
              <a:srgbClr val="0073B9"/>
            </a:solidFill>
            <a:prstDash val="solid"/>
            <a:tailEnd type="arrow" w="sm" len="sm"/>
          </a:ln>
        </p:spPr>
      </p:cxnSp>
      <p:cxnSp>
        <p:nvCxnSpPr>
          <p:cNvPr id="110" name="Straight Arrow Connector 109"/>
          <p:cNvCxnSpPr>
            <a:stCxn id="14" idx="3"/>
            <a:endCxn id="18" idx="1"/>
          </p:cNvCxnSpPr>
          <p:nvPr/>
        </p:nvCxnSpPr>
        <p:spPr>
          <a:xfrm>
            <a:off x="5638800" y="2590800"/>
            <a:ext cx="323850" cy="0"/>
          </a:xfrm>
          <a:prstGeom prst="straightConnector1">
            <a:avLst/>
          </a:prstGeom>
          <a:ln w="19050">
            <a:solidFill>
              <a:srgbClr val="0073B9"/>
            </a:solidFill>
            <a:prstDash val="solid"/>
            <a:tailEnd type="arrow" w="sm" len="sm"/>
          </a:ln>
        </p:spPr>
      </p:cxnSp>
      <p:cxnSp>
        <p:nvCxnSpPr>
          <p:cNvPr id="111" name="Straight Arrow Connector 110"/>
          <p:cNvCxnSpPr>
            <a:stCxn id="18" idx="3"/>
            <a:endCxn id="22" idx="1"/>
          </p:cNvCxnSpPr>
          <p:nvPr/>
        </p:nvCxnSpPr>
        <p:spPr>
          <a:xfrm>
            <a:off x="7391400" y="2590800"/>
            <a:ext cx="323850" cy="0"/>
          </a:xfrm>
          <a:prstGeom prst="straightConnector1">
            <a:avLst/>
          </a:prstGeom>
          <a:ln w="19050">
            <a:solidFill>
              <a:srgbClr val="0073B9"/>
            </a:solidFill>
            <a:prstDash val="solid"/>
            <a:tailEnd type="arrow" w="sm" len="sm"/>
          </a:ln>
        </p:spPr>
      </p:cxnSp>
      <p:sp>
        <p:nvSpPr>
          <p:cNvPr id="30" name="Rectangle 29">
            <a:extLst>
              <a:ext uri="{FF2B5EF4-FFF2-40B4-BE49-F238E27FC236}">
                <a16:creationId xmlns:a16="http://schemas.microsoft.com/office/drawing/2014/main" id="{FA184ABF-133D-4A9E-B4D5-3F99C072D7EA}"/>
              </a:ext>
            </a:extLst>
          </p:cNvPr>
          <p:cNvSpPr>
            <a:spLocks noGrp="1"/>
          </p:cNvSpPr>
          <p:nvPr/>
        </p:nvSpPr>
        <p:spPr>
          <a:xfrm>
            <a:off x="609600" y="3219450"/>
            <a:ext cx="24765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COMPLETE RECOMMENDATION</a:t>
            </a:r>
          </a:p>
        </p:txBody>
      </p:sp>
      <p:sp>
        <p:nvSpPr>
          <p:cNvPr id="31" name="Rectangle: Rounded Corners 30">
            <a:extLst>
              <a:ext uri="{FF2B5EF4-FFF2-40B4-BE49-F238E27FC236}">
                <a16:creationId xmlns:a16="http://schemas.microsoft.com/office/drawing/2014/main" id="{65475393-A7BC-41EB-A551-40103D03DF2B}"/>
              </a:ext>
            </a:extLst>
          </p:cNvPr>
          <p:cNvSpPr>
            <a:spLocks noGrp="1"/>
          </p:cNvSpPr>
          <p:nvPr/>
        </p:nvSpPr>
        <p:spPr>
          <a:xfrm>
            <a:off x="609600" y="3486150"/>
            <a:ext cx="14287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32" name="Rectangle 31">
            <a:extLst>
              <a:ext uri="{FF2B5EF4-FFF2-40B4-BE49-F238E27FC236}">
                <a16:creationId xmlns:a16="http://schemas.microsoft.com/office/drawing/2014/main" id="{FC8703C7-047E-4E30-B6BF-F5EC69A26CA9}"/>
              </a:ext>
            </a:extLst>
          </p:cNvPr>
          <p:cNvSpPr>
            <a:spLocks noGrp="1"/>
          </p:cNvSpPr>
          <p:nvPr/>
        </p:nvSpPr>
        <p:spPr>
          <a:xfrm>
            <a:off x="609600" y="3486150"/>
            <a:ext cx="57150" cy="571500"/>
          </a:xfrm>
          <a:prstGeom prst="rect">
            <a:avLst/>
          </a:prstGeom>
          <a:solidFill>
            <a:srgbClr val="0073B9"/>
          </a:solidFill>
          <a:ln w="0">
            <a:solidFill>
              <a:srgbClr val="0073B9"/>
            </a:solidFill>
            <a:prstDash val="solid"/>
          </a:ln>
        </p:spPr>
        <p:txBody>
          <a:bodyPr/>
          <a:lstStyle/>
          <a:p>
            <a:endParaRPr lang="en-US"/>
          </a:p>
        </p:txBody>
      </p:sp>
      <p:sp>
        <p:nvSpPr>
          <p:cNvPr id="33" name="Rectangle 32">
            <a:extLst>
              <a:ext uri="{FF2B5EF4-FFF2-40B4-BE49-F238E27FC236}">
                <a16:creationId xmlns:a16="http://schemas.microsoft.com/office/drawing/2014/main" id="{B6809E65-B8B3-4B22-90DB-C0AA5D59F70E}"/>
              </a:ext>
            </a:extLst>
          </p:cNvPr>
          <p:cNvSpPr>
            <a:spLocks noGrp="1"/>
          </p:cNvSpPr>
          <p:nvPr/>
        </p:nvSpPr>
        <p:spPr>
          <a:xfrm>
            <a:off x="781050" y="3600450"/>
            <a:ext cx="1143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RE-ENTER</a:t>
            </a:r>
          </a:p>
        </p:txBody>
      </p:sp>
      <p:sp>
        <p:nvSpPr>
          <p:cNvPr id="34" name="Rectangle 33">
            <a:extLst>
              <a:ext uri="{FF2B5EF4-FFF2-40B4-BE49-F238E27FC236}">
                <a16:creationId xmlns:a16="http://schemas.microsoft.com/office/drawing/2014/main" id="{F2BD0F72-D3D1-445B-9BD4-E108997A9768}"/>
              </a:ext>
            </a:extLst>
          </p:cNvPr>
          <p:cNvSpPr>
            <a:spLocks noGrp="1"/>
          </p:cNvSpPr>
          <p:nvPr/>
        </p:nvSpPr>
        <p:spPr>
          <a:xfrm>
            <a:off x="781050" y="3741816"/>
            <a:ext cx="1143000" cy="247650"/>
          </a:xfrm>
          <a:prstGeom prst="rect">
            <a:avLst/>
          </a:prstGeom>
          <a:noFill/>
          <a:ln w="0">
            <a:noFill/>
            <a:prstDash val="solid"/>
          </a:ln>
        </p:spPr>
        <p:txBody>
          <a:bodyPr/>
          <a:lstStyle/>
          <a:p>
            <a:pPr algn="l">
              <a:defRPr sz="1350" b="1">
                <a:solidFill>
                  <a:srgbClr val="102A43"/>
                </a:solidFill>
              </a:defRPr>
            </a:pPr>
            <a:r>
              <a:rPr sz="1350" b="1" dirty="0">
                <a:solidFill>
                  <a:srgbClr val="102A43"/>
                </a:solidFill>
              </a:rPr>
              <a:t>Supervisor</a:t>
            </a:r>
          </a:p>
        </p:txBody>
      </p:sp>
      <p:sp>
        <p:nvSpPr>
          <p:cNvPr id="35" name="Rectangle: Rounded Corners 34">
            <a:extLst>
              <a:ext uri="{FF2B5EF4-FFF2-40B4-BE49-F238E27FC236}">
                <a16:creationId xmlns:a16="http://schemas.microsoft.com/office/drawing/2014/main" id="{73D33E5C-E47B-4F49-9DEC-0C9DA074009B}"/>
              </a:ext>
            </a:extLst>
          </p:cNvPr>
          <p:cNvSpPr>
            <a:spLocks noGrp="1"/>
          </p:cNvSpPr>
          <p:nvPr/>
        </p:nvSpPr>
        <p:spPr>
          <a:xfrm>
            <a:off x="2362200" y="3486150"/>
            <a:ext cx="14287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36" name="Rectangle 35">
            <a:extLst>
              <a:ext uri="{FF2B5EF4-FFF2-40B4-BE49-F238E27FC236}">
                <a16:creationId xmlns:a16="http://schemas.microsoft.com/office/drawing/2014/main" id="{AE3A8896-6A3E-4935-BDA7-4EE0A9DD0FA4}"/>
              </a:ext>
            </a:extLst>
          </p:cNvPr>
          <p:cNvSpPr>
            <a:spLocks noGrp="1"/>
          </p:cNvSpPr>
          <p:nvPr/>
        </p:nvSpPr>
        <p:spPr>
          <a:xfrm>
            <a:off x="2362200" y="3486150"/>
            <a:ext cx="57150" cy="571500"/>
          </a:xfrm>
          <a:prstGeom prst="rect">
            <a:avLst/>
          </a:prstGeom>
          <a:solidFill>
            <a:srgbClr val="159947"/>
          </a:solidFill>
          <a:ln w="0">
            <a:solidFill>
              <a:srgbClr val="159947"/>
            </a:solidFill>
            <a:prstDash val="solid"/>
          </a:ln>
        </p:spPr>
        <p:txBody>
          <a:bodyPr/>
          <a:lstStyle/>
          <a:p>
            <a:endParaRPr lang="en-US"/>
          </a:p>
        </p:txBody>
      </p:sp>
      <p:sp>
        <p:nvSpPr>
          <p:cNvPr id="37" name="Rectangle 36">
            <a:extLst>
              <a:ext uri="{FF2B5EF4-FFF2-40B4-BE49-F238E27FC236}">
                <a16:creationId xmlns:a16="http://schemas.microsoft.com/office/drawing/2014/main" id="{B5FCBC11-E5CE-4DF9-A5C2-8A9F4A373518}"/>
              </a:ext>
            </a:extLst>
          </p:cNvPr>
          <p:cNvSpPr>
            <a:spLocks noGrp="1"/>
          </p:cNvSpPr>
          <p:nvPr/>
        </p:nvSpPr>
        <p:spPr>
          <a:xfrm>
            <a:off x="2533650" y="3600450"/>
            <a:ext cx="1143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COST BOOK</a:t>
            </a:r>
          </a:p>
        </p:txBody>
      </p:sp>
      <p:sp>
        <p:nvSpPr>
          <p:cNvPr id="38" name="Rectangle 37">
            <a:extLst>
              <a:ext uri="{FF2B5EF4-FFF2-40B4-BE49-F238E27FC236}">
                <a16:creationId xmlns:a16="http://schemas.microsoft.com/office/drawing/2014/main" id="{F6E7641C-3DF0-41E2-AF73-7E8E55697284}"/>
              </a:ext>
            </a:extLst>
          </p:cNvPr>
          <p:cNvSpPr>
            <a:spLocks noGrp="1"/>
          </p:cNvSpPr>
          <p:nvPr/>
        </p:nvSpPr>
        <p:spPr>
          <a:xfrm>
            <a:off x="2533650" y="3741816"/>
            <a:ext cx="11430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Cost</a:t>
            </a:r>
          </a:p>
        </p:txBody>
      </p:sp>
      <p:sp>
        <p:nvSpPr>
          <p:cNvPr id="39" name="Rectangle: Rounded Corners 38">
            <a:extLst>
              <a:ext uri="{FF2B5EF4-FFF2-40B4-BE49-F238E27FC236}">
                <a16:creationId xmlns:a16="http://schemas.microsoft.com/office/drawing/2014/main" id="{ACBF6EBB-24B8-42F3-93E2-B602B4225C93}"/>
              </a:ext>
            </a:extLst>
          </p:cNvPr>
          <p:cNvSpPr>
            <a:spLocks noGrp="1"/>
          </p:cNvSpPr>
          <p:nvPr/>
        </p:nvSpPr>
        <p:spPr>
          <a:xfrm>
            <a:off x="4114800" y="3486150"/>
            <a:ext cx="14287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40" name="Rectangle 39">
            <a:extLst>
              <a:ext uri="{FF2B5EF4-FFF2-40B4-BE49-F238E27FC236}">
                <a16:creationId xmlns:a16="http://schemas.microsoft.com/office/drawing/2014/main" id="{8F0B7EC8-4073-4803-8D6A-CFFFA4B2B63D}"/>
              </a:ext>
            </a:extLst>
          </p:cNvPr>
          <p:cNvSpPr>
            <a:spLocks noGrp="1"/>
          </p:cNvSpPr>
          <p:nvPr/>
        </p:nvSpPr>
        <p:spPr>
          <a:xfrm>
            <a:off x="4114800" y="3486150"/>
            <a:ext cx="57150" cy="571500"/>
          </a:xfrm>
          <a:prstGeom prst="rect">
            <a:avLst/>
          </a:prstGeom>
          <a:solidFill>
            <a:srgbClr val="0073B9"/>
          </a:solidFill>
          <a:ln w="0">
            <a:solidFill>
              <a:srgbClr val="0073B9"/>
            </a:solidFill>
            <a:prstDash val="solid"/>
          </a:ln>
        </p:spPr>
        <p:txBody>
          <a:bodyPr/>
          <a:lstStyle/>
          <a:p>
            <a:endParaRPr lang="en-US"/>
          </a:p>
        </p:txBody>
      </p:sp>
      <p:sp>
        <p:nvSpPr>
          <p:cNvPr id="41" name="Rectangle 40">
            <a:extLst>
              <a:ext uri="{FF2B5EF4-FFF2-40B4-BE49-F238E27FC236}">
                <a16:creationId xmlns:a16="http://schemas.microsoft.com/office/drawing/2014/main" id="{E7DEFF73-3577-41C3-89CF-DC11FCAEA331}"/>
              </a:ext>
            </a:extLst>
          </p:cNvPr>
          <p:cNvSpPr>
            <a:spLocks noGrp="1"/>
          </p:cNvSpPr>
          <p:nvPr/>
        </p:nvSpPr>
        <p:spPr>
          <a:xfrm>
            <a:off x="4286250" y="3600450"/>
            <a:ext cx="1143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RE-ENTER</a:t>
            </a:r>
          </a:p>
        </p:txBody>
      </p:sp>
      <p:sp>
        <p:nvSpPr>
          <p:cNvPr id="42" name="Rectangle 41">
            <a:extLst>
              <a:ext uri="{FF2B5EF4-FFF2-40B4-BE49-F238E27FC236}">
                <a16:creationId xmlns:a16="http://schemas.microsoft.com/office/drawing/2014/main" id="{2E03D4C8-EC14-4096-B37A-78EE80065BAD}"/>
              </a:ext>
            </a:extLst>
          </p:cNvPr>
          <p:cNvSpPr>
            <a:spLocks noGrp="1"/>
          </p:cNvSpPr>
          <p:nvPr/>
        </p:nvSpPr>
        <p:spPr>
          <a:xfrm>
            <a:off x="4286250" y="3741816"/>
            <a:ext cx="11430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Supervisor</a:t>
            </a:r>
          </a:p>
        </p:txBody>
      </p:sp>
      <p:sp>
        <p:nvSpPr>
          <p:cNvPr id="43" name="Rectangle: Rounded Corners 42">
            <a:extLst>
              <a:ext uri="{FF2B5EF4-FFF2-40B4-BE49-F238E27FC236}">
                <a16:creationId xmlns:a16="http://schemas.microsoft.com/office/drawing/2014/main" id="{F55311BB-616B-463E-BDE0-F189D59DF23A}"/>
              </a:ext>
            </a:extLst>
          </p:cNvPr>
          <p:cNvSpPr>
            <a:spLocks noGrp="1"/>
          </p:cNvSpPr>
          <p:nvPr/>
        </p:nvSpPr>
        <p:spPr>
          <a:xfrm>
            <a:off x="5867400" y="3486150"/>
            <a:ext cx="15811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44" name="Rectangle 43">
            <a:extLst>
              <a:ext uri="{FF2B5EF4-FFF2-40B4-BE49-F238E27FC236}">
                <a16:creationId xmlns:a16="http://schemas.microsoft.com/office/drawing/2014/main" id="{DE8188E3-45BC-4E43-BDDB-3C092807743B}"/>
              </a:ext>
            </a:extLst>
          </p:cNvPr>
          <p:cNvSpPr>
            <a:spLocks noGrp="1"/>
          </p:cNvSpPr>
          <p:nvPr/>
        </p:nvSpPr>
        <p:spPr>
          <a:xfrm>
            <a:off x="5867400" y="3486150"/>
            <a:ext cx="57150" cy="571500"/>
          </a:xfrm>
          <a:prstGeom prst="rect">
            <a:avLst/>
          </a:prstGeom>
          <a:solidFill>
            <a:srgbClr val="159947"/>
          </a:solidFill>
          <a:ln w="0">
            <a:solidFill>
              <a:srgbClr val="159947"/>
            </a:solidFill>
            <a:prstDash val="solid"/>
          </a:ln>
        </p:spPr>
        <p:txBody>
          <a:bodyPr/>
          <a:lstStyle/>
          <a:p>
            <a:endParaRPr lang="en-US"/>
          </a:p>
        </p:txBody>
      </p:sp>
      <p:sp>
        <p:nvSpPr>
          <p:cNvPr id="45" name="Rectangle 44">
            <a:extLst>
              <a:ext uri="{FF2B5EF4-FFF2-40B4-BE49-F238E27FC236}">
                <a16:creationId xmlns:a16="http://schemas.microsoft.com/office/drawing/2014/main" id="{DA4BD5A7-B92A-4C50-BD94-167FD6DED5B0}"/>
              </a:ext>
            </a:extLst>
          </p:cNvPr>
          <p:cNvSpPr>
            <a:spLocks noGrp="1"/>
          </p:cNvSpPr>
          <p:nvPr/>
        </p:nvSpPr>
        <p:spPr>
          <a:xfrm>
            <a:off x="6038850" y="3600450"/>
            <a:ext cx="12954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POLICY TREE</a:t>
            </a:r>
          </a:p>
        </p:txBody>
      </p:sp>
      <p:sp>
        <p:nvSpPr>
          <p:cNvPr id="46" name="Rectangle 45">
            <a:extLst>
              <a:ext uri="{FF2B5EF4-FFF2-40B4-BE49-F238E27FC236}">
                <a16:creationId xmlns:a16="http://schemas.microsoft.com/office/drawing/2014/main" id="{5A70E1C3-71CD-4EBB-AF49-F396FFB7E368}"/>
              </a:ext>
            </a:extLst>
          </p:cNvPr>
          <p:cNvSpPr>
            <a:spLocks noGrp="1"/>
          </p:cNvSpPr>
          <p:nvPr/>
        </p:nvSpPr>
        <p:spPr>
          <a:xfrm>
            <a:off x="6038850" y="3741816"/>
            <a:ext cx="12954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Disposition</a:t>
            </a:r>
          </a:p>
        </p:txBody>
      </p:sp>
      <p:sp>
        <p:nvSpPr>
          <p:cNvPr id="47" name="Rectangle: Rounded Corners 46">
            <a:extLst>
              <a:ext uri="{FF2B5EF4-FFF2-40B4-BE49-F238E27FC236}">
                <a16:creationId xmlns:a16="http://schemas.microsoft.com/office/drawing/2014/main" id="{19073307-572F-4F95-81E1-CB9CB032ED37}"/>
              </a:ext>
            </a:extLst>
          </p:cNvPr>
          <p:cNvSpPr>
            <a:spLocks noGrp="1"/>
          </p:cNvSpPr>
          <p:nvPr/>
        </p:nvSpPr>
        <p:spPr>
          <a:xfrm>
            <a:off x="7772400" y="3486150"/>
            <a:ext cx="14287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48" name="Rectangle 47">
            <a:extLst>
              <a:ext uri="{FF2B5EF4-FFF2-40B4-BE49-F238E27FC236}">
                <a16:creationId xmlns:a16="http://schemas.microsoft.com/office/drawing/2014/main" id="{67966507-9845-46C2-BBB3-35441B129B64}"/>
              </a:ext>
            </a:extLst>
          </p:cNvPr>
          <p:cNvSpPr>
            <a:spLocks noGrp="1"/>
          </p:cNvSpPr>
          <p:nvPr/>
        </p:nvSpPr>
        <p:spPr>
          <a:xfrm>
            <a:off x="7772400" y="3486150"/>
            <a:ext cx="57150" cy="571500"/>
          </a:xfrm>
          <a:prstGeom prst="rect">
            <a:avLst/>
          </a:prstGeom>
          <a:solidFill>
            <a:srgbClr val="0073B9"/>
          </a:solidFill>
          <a:ln w="0">
            <a:solidFill>
              <a:srgbClr val="0073B9"/>
            </a:solidFill>
            <a:prstDash val="solid"/>
          </a:ln>
        </p:spPr>
        <p:txBody>
          <a:bodyPr/>
          <a:lstStyle/>
          <a:p>
            <a:endParaRPr lang="en-US"/>
          </a:p>
        </p:txBody>
      </p:sp>
      <p:sp>
        <p:nvSpPr>
          <p:cNvPr id="49" name="Rectangle 48">
            <a:extLst>
              <a:ext uri="{FF2B5EF4-FFF2-40B4-BE49-F238E27FC236}">
                <a16:creationId xmlns:a16="http://schemas.microsoft.com/office/drawing/2014/main" id="{7B0050BD-E3D7-4FD4-A638-78A8269236A1}"/>
              </a:ext>
            </a:extLst>
          </p:cNvPr>
          <p:cNvSpPr>
            <a:spLocks noGrp="1"/>
          </p:cNvSpPr>
          <p:nvPr/>
        </p:nvSpPr>
        <p:spPr>
          <a:xfrm>
            <a:off x="7943850" y="3600450"/>
            <a:ext cx="1143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RE-ENTER</a:t>
            </a:r>
          </a:p>
        </p:txBody>
      </p:sp>
      <p:sp>
        <p:nvSpPr>
          <p:cNvPr id="50" name="Rectangle 49">
            <a:extLst>
              <a:ext uri="{FF2B5EF4-FFF2-40B4-BE49-F238E27FC236}">
                <a16:creationId xmlns:a16="http://schemas.microsoft.com/office/drawing/2014/main" id="{0B449B2A-96BC-473C-AEDB-FFDC14C9FA17}"/>
              </a:ext>
            </a:extLst>
          </p:cNvPr>
          <p:cNvSpPr>
            <a:spLocks noGrp="1"/>
          </p:cNvSpPr>
          <p:nvPr/>
        </p:nvSpPr>
        <p:spPr>
          <a:xfrm>
            <a:off x="7943850" y="3741816"/>
            <a:ext cx="11430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Supervisor</a:t>
            </a:r>
          </a:p>
        </p:txBody>
      </p:sp>
      <p:cxnSp>
        <p:nvCxnSpPr>
          <p:cNvPr id="133" name="Straight Arrow Connector 132"/>
          <p:cNvCxnSpPr>
            <a:stCxn id="31" idx="3"/>
            <a:endCxn id="35" idx="1"/>
          </p:cNvCxnSpPr>
          <p:nvPr/>
        </p:nvCxnSpPr>
        <p:spPr>
          <a:xfrm>
            <a:off x="2038350" y="3771900"/>
            <a:ext cx="323850" cy="0"/>
          </a:xfrm>
          <a:prstGeom prst="straightConnector1">
            <a:avLst/>
          </a:prstGeom>
          <a:ln w="19050">
            <a:solidFill>
              <a:srgbClr val="0073B9"/>
            </a:solidFill>
            <a:prstDash val="solid"/>
            <a:tailEnd type="arrow" w="sm" len="sm"/>
          </a:ln>
        </p:spPr>
      </p:cxnSp>
      <p:cxnSp>
        <p:nvCxnSpPr>
          <p:cNvPr id="134" name="Straight Arrow Connector 133"/>
          <p:cNvCxnSpPr>
            <a:stCxn id="35" idx="3"/>
            <a:endCxn id="39" idx="1"/>
          </p:cNvCxnSpPr>
          <p:nvPr/>
        </p:nvCxnSpPr>
        <p:spPr>
          <a:xfrm>
            <a:off x="3790950" y="3771900"/>
            <a:ext cx="323850" cy="0"/>
          </a:xfrm>
          <a:prstGeom prst="straightConnector1">
            <a:avLst/>
          </a:prstGeom>
          <a:ln w="19050">
            <a:solidFill>
              <a:srgbClr val="0073B9"/>
            </a:solidFill>
            <a:prstDash val="solid"/>
            <a:tailEnd type="arrow" w="sm" len="sm"/>
          </a:ln>
        </p:spPr>
      </p:cxnSp>
      <p:cxnSp>
        <p:nvCxnSpPr>
          <p:cNvPr id="135" name="Straight Arrow Connector 134"/>
          <p:cNvCxnSpPr>
            <a:stCxn id="39" idx="3"/>
            <a:endCxn id="43" idx="1"/>
          </p:cNvCxnSpPr>
          <p:nvPr/>
        </p:nvCxnSpPr>
        <p:spPr>
          <a:xfrm>
            <a:off x="5543550" y="3771900"/>
            <a:ext cx="323850" cy="0"/>
          </a:xfrm>
          <a:prstGeom prst="straightConnector1">
            <a:avLst/>
          </a:prstGeom>
          <a:ln w="19050">
            <a:solidFill>
              <a:srgbClr val="0073B9"/>
            </a:solidFill>
            <a:prstDash val="solid"/>
            <a:tailEnd type="arrow" w="sm" len="sm"/>
          </a:ln>
        </p:spPr>
      </p:cxnSp>
      <p:cxnSp>
        <p:nvCxnSpPr>
          <p:cNvPr id="136" name="Straight Arrow Connector 135"/>
          <p:cNvCxnSpPr>
            <a:stCxn id="43" idx="3"/>
            <a:endCxn id="47" idx="1"/>
          </p:cNvCxnSpPr>
          <p:nvPr/>
        </p:nvCxnSpPr>
        <p:spPr>
          <a:xfrm>
            <a:off x="7448550" y="3771900"/>
            <a:ext cx="323850" cy="0"/>
          </a:xfrm>
          <a:prstGeom prst="straightConnector1">
            <a:avLst/>
          </a:prstGeom>
          <a:ln w="19050">
            <a:solidFill>
              <a:srgbClr val="0073B9"/>
            </a:solidFill>
            <a:prstDash val="solid"/>
            <a:tailEnd type="arrow" w="sm" len="sm"/>
          </a:ln>
        </p:spPr>
      </p:cxnSp>
      <p:sp>
        <p:nvSpPr>
          <p:cNvPr id="55" name="Rectangle 54">
            <a:extLst>
              <a:ext uri="{FF2B5EF4-FFF2-40B4-BE49-F238E27FC236}">
                <a16:creationId xmlns:a16="http://schemas.microsoft.com/office/drawing/2014/main" id="{5ED7BDCC-E887-40B4-8016-E5AB0DB57230}"/>
              </a:ext>
            </a:extLst>
          </p:cNvPr>
          <p:cNvSpPr>
            <a:spLocks noGrp="1"/>
          </p:cNvSpPr>
          <p:nvPr/>
        </p:nvSpPr>
        <p:spPr>
          <a:xfrm>
            <a:off x="609600" y="4400550"/>
            <a:ext cx="2095500" cy="152400"/>
          </a:xfrm>
          <a:prstGeom prst="rect">
            <a:avLst/>
          </a:prstGeom>
          <a:noFill/>
          <a:ln w="0">
            <a:noFill/>
            <a:prstDash val="solid"/>
          </a:ln>
        </p:spPr>
        <p:txBody>
          <a:bodyPr/>
          <a:lstStyle/>
          <a:p>
            <a:pPr algn="l">
              <a:defRPr sz="825" b="1">
                <a:solidFill>
                  <a:srgbClr val="7890A1"/>
                </a:solidFill>
              </a:defRPr>
            </a:pPr>
            <a:r>
              <a:rPr sz="825" b="1">
                <a:solidFill>
                  <a:srgbClr val="7890A1"/>
                </a:solidFill>
              </a:rPr>
              <a:t>TERMINAL PATHS</a:t>
            </a:r>
          </a:p>
        </p:txBody>
      </p:sp>
      <p:sp>
        <p:nvSpPr>
          <p:cNvPr id="56" name="Rectangle: Rounded Corners 55">
            <a:extLst>
              <a:ext uri="{FF2B5EF4-FFF2-40B4-BE49-F238E27FC236}">
                <a16:creationId xmlns:a16="http://schemas.microsoft.com/office/drawing/2014/main" id="{E6A94190-3B1B-48B1-AAE1-7FF050AE8CC1}"/>
              </a:ext>
            </a:extLst>
          </p:cNvPr>
          <p:cNvSpPr>
            <a:spLocks noGrp="1"/>
          </p:cNvSpPr>
          <p:nvPr/>
        </p:nvSpPr>
        <p:spPr>
          <a:xfrm>
            <a:off x="609600" y="4667250"/>
            <a:ext cx="167640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57" name="Rectangle 56">
            <a:extLst>
              <a:ext uri="{FF2B5EF4-FFF2-40B4-BE49-F238E27FC236}">
                <a16:creationId xmlns:a16="http://schemas.microsoft.com/office/drawing/2014/main" id="{641C378B-4704-4302-9CDF-1B264CFFA773}"/>
              </a:ext>
            </a:extLst>
          </p:cNvPr>
          <p:cNvSpPr>
            <a:spLocks noGrp="1"/>
          </p:cNvSpPr>
          <p:nvPr/>
        </p:nvSpPr>
        <p:spPr>
          <a:xfrm>
            <a:off x="609600" y="4667250"/>
            <a:ext cx="57150" cy="571500"/>
          </a:xfrm>
          <a:prstGeom prst="rect">
            <a:avLst/>
          </a:prstGeom>
          <a:solidFill>
            <a:srgbClr val="0073B9"/>
          </a:solidFill>
          <a:ln w="0">
            <a:solidFill>
              <a:srgbClr val="0073B9"/>
            </a:solidFill>
            <a:prstDash val="solid"/>
          </a:ln>
        </p:spPr>
        <p:txBody>
          <a:bodyPr/>
          <a:lstStyle/>
          <a:p>
            <a:endParaRPr lang="en-US"/>
          </a:p>
        </p:txBody>
      </p:sp>
      <p:sp>
        <p:nvSpPr>
          <p:cNvPr id="58" name="Rectangle 57">
            <a:extLst>
              <a:ext uri="{FF2B5EF4-FFF2-40B4-BE49-F238E27FC236}">
                <a16:creationId xmlns:a16="http://schemas.microsoft.com/office/drawing/2014/main" id="{DD47E646-B6DB-4E73-8713-43C98A50D31C}"/>
              </a:ext>
            </a:extLst>
          </p:cNvPr>
          <p:cNvSpPr>
            <a:spLocks noGrp="1"/>
          </p:cNvSpPr>
          <p:nvPr/>
        </p:nvSpPr>
        <p:spPr>
          <a:xfrm>
            <a:off x="781050" y="4781550"/>
            <a:ext cx="13906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NO REVIEW TRIGGER</a:t>
            </a:r>
          </a:p>
        </p:txBody>
      </p:sp>
      <p:sp>
        <p:nvSpPr>
          <p:cNvPr id="59" name="Rectangle 58">
            <a:extLst>
              <a:ext uri="{FF2B5EF4-FFF2-40B4-BE49-F238E27FC236}">
                <a16:creationId xmlns:a16="http://schemas.microsoft.com/office/drawing/2014/main" id="{9C73E5F2-4CCF-46E9-85D5-01E8D39B6E36}"/>
              </a:ext>
            </a:extLst>
          </p:cNvPr>
          <p:cNvSpPr>
            <a:spLocks noGrp="1"/>
          </p:cNvSpPr>
          <p:nvPr/>
        </p:nvSpPr>
        <p:spPr>
          <a:xfrm>
            <a:off x="781050" y="4943476"/>
            <a:ext cx="1390650" cy="247650"/>
          </a:xfrm>
          <a:prstGeom prst="rect">
            <a:avLst/>
          </a:prstGeom>
          <a:noFill/>
          <a:ln w="0">
            <a:noFill/>
            <a:prstDash val="solid"/>
          </a:ln>
        </p:spPr>
        <p:txBody>
          <a:bodyPr/>
          <a:lstStyle/>
          <a:p>
            <a:pPr algn="l">
              <a:defRPr sz="1350" b="1">
                <a:solidFill>
                  <a:srgbClr val="102A43"/>
                </a:solidFill>
              </a:defRPr>
            </a:pPr>
            <a:r>
              <a:rPr sz="1350" b="1" dirty="0">
                <a:solidFill>
                  <a:srgbClr val="102A43"/>
                </a:solidFill>
              </a:rPr>
              <a:t>Supervisor</a:t>
            </a:r>
          </a:p>
        </p:txBody>
      </p:sp>
      <p:sp>
        <p:nvSpPr>
          <p:cNvPr id="60" name="Rectangle: Rounded Corners 59">
            <a:extLst>
              <a:ext uri="{FF2B5EF4-FFF2-40B4-BE49-F238E27FC236}">
                <a16:creationId xmlns:a16="http://schemas.microsoft.com/office/drawing/2014/main" id="{9BDFE734-D29E-411C-A9E7-8F7CB23F25A5}"/>
              </a:ext>
            </a:extLst>
          </p:cNvPr>
          <p:cNvSpPr>
            <a:spLocks noGrp="1"/>
          </p:cNvSpPr>
          <p:nvPr/>
        </p:nvSpPr>
        <p:spPr>
          <a:xfrm>
            <a:off x="2800350" y="4667250"/>
            <a:ext cx="142875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61" name="Rectangle 60">
            <a:extLst>
              <a:ext uri="{FF2B5EF4-FFF2-40B4-BE49-F238E27FC236}">
                <a16:creationId xmlns:a16="http://schemas.microsoft.com/office/drawing/2014/main" id="{7730EE02-251D-4F92-9E23-3E3FD642329F}"/>
              </a:ext>
            </a:extLst>
          </p:cNvPr>
          <p:cNvSpPr>
            <a:spLocks noGrp="1"/>
          </p:cNvSpPr>
          <p:nvPr/>
        </p:nvSpPr>
        <p:spPr>
          <a:xfrm>
            <a:off x="2800350" y="4667250"/>
            <a:ext cx="57150" cy="571500"/>
          </a:xfrm>
          <a:prstGeom prst="rect">
            <a:avLst/>
          </a:prstGeom>
          <a:solidFill>
            <a:srgbClr val="0073B9"/>
          </a:solidFill>
          <a:ln w="0">
            <a:solidFill>
              <a:srgbClr val="0073B9"/>
            </a:solidFill>
            <a:prstDash val="solid"/>
          </a:ln>
        </p:spPr>
        <p:txBody>
          <a:bodyPr/>
          <a:lstStyle/>
          <a:p>
            <a:endParaRPr lang="en-US"/>
          </a:p>
        </p:txBody>
      </p:sp>
      <p:sp>
        <p:nvSpPr>
          <p:cNvPr id="62" name="Rectangle 61">
            <a:extLst>
              <a:ext uri="{FF2B5EF4-FFF2-40B4-BE49-F238E27FC236}">
                <a16:creationId xmlns:a16="http://schemas.microsoft.com/office/drawing/2014/main" id="{9775D296-A5EA-4008-BC4E-7BE3B25E29EE}"/>
              </a:ext>
            </a:extLst>
          </p:cNvPr>
          <p:cNvSpPr>
            <a:spLocks noGrp="1"/>
          </p:cNvSpPr>
          <p:nvPr/>
        </p:nvSpPr>
        <p:spPr>
          <a:xfrm>
            <a:off x="2971800" y="4781550"/>
            <a:ext cx="1143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TERMINAL</a:t>
            </a:r>
          </a:p>
        </p:txBody>
      </p:sp>
      <p:sp>
        <p:nvSpPr>
          <p:cNvPr id="63" name="Rectangle 62">
            <a:extLst>
              <a:ext uri="{FF2B5EF4-FFF2-40B4-BE49-F238E27FC236}">
                <a16:creationId xmlns:a16="http://schemas.microsoft.com/office/drawing/2014/main" id="{F177E57F-81B9-4E1A-8900-97084F1959EC}"/>
              </a:ext>
            </a:extLst>
          </p:cNvPr>
          <p:cNvSpPr>
            <a:spLocks noGrp="1"/>
          </p:cNvSpPr>
          <p:nvPr/>
        </p:nvSpPr>
        <p:spPr>
          <a:xfrm>
            <a:off x="2971800" y="4943476"/>
            <a:ext cx="11430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Resolve</a:t>
            </a:r>
          </a:p>
        </p:txBody>
      </p:sp>
      <p:sp>
        <p:nvSpPr>
          <p:cNvPr id="64" name="Rectangle: Rounded Corners 63">
            <a:extLst>
              <a:ext uri="{FF2B5EF4-FFF2-40B4-BE49-F238E27FC236}">
                <a16:creationId xmlns:a16="http://schemas.microsoft.com/office/drawing/2014/main" id="{C05341D8-E1BA-441F-BF70-3118A5074B91}"/>
              </a:ext>
            </a:extLst>
          </p:cNvPr>
          <p:cNvSpPr>
            <a:spLocks noGrp="1"/>
          </p:cNvSpPr>
          <p:nvPr/>
        </p:nvSpPr>
        <p:spPr>
          <a:xfrm>
            <a:off x="5334000" y="4667250"/>
            <a:ext cx="167640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65" name="Rectangle 64">
            <a:extLst>
              <a:ext uri="{FF2B5EF4-FFF2-40B4-BE49-F238E27FC236}">
                <a16:creationId xmlns:a16="http://schemas.microsoft.com/office/drawing/2014/main" id="{611D85A6-BAEF-4BC1-8721-63DC9C74CFE1}"/>
              </a:ext>
            </a:extLst>
          </p:cNvPr>
          <p:cNvSpPr>
            <a:spLocks noGrp="1"/>
          </p:cNvSpPr>
          <p:nvPr/>
        </p:nvSpPr>
        <p:spPr>
          <a:xfrm>
            <a:off x="5334000" y="4667250"/>
            <a:ext cx="57150" cy="571500"/>
          </a:xfrm>
          <a:prstGeom prst="rect">
            <a:avLst/>
          </a:prstGeom>
          <a:solidFill>
            <a:srgbClr val="0073B9"/>
          </a:solidFill>
          <a:ln w="0">
            <a:solidFill>
              <a:srgbClr val="0073B9"/>
            </a:solidFill>
            <a:prstDash val="solid"/>
          </a:ln>
        </p:spPr>
        <p:txBody>
          <a:bodyPr/>
          <a:lstStyle/>
          <a:p>
            <a:endParaRPr lang="en-US"/>
          </a:p>
        </p:txBody>
      </p:sp>
      <p:sp>
        <p:nvSpPr>
          <p:cNvPr id="66" name="Rectangle 65">
            <a:extLst>
              <a:ext uri="{FF2B5EF4-FFF2-40B4-BE49-F238E27FC236}">
                <a16:creationId xmlns:a16="http://schemas.microsoft.com/office/drawing/2014/main" id="{DAE7EC8C-8E85-4267-9341-8B7838B0ACC7}"/>
              </a:ext>
            </a:extLst>
          </p:cNvPr>
          <p:cNvSpPr>
            <a:spLocks noGrp="1"/>
          </p:cNvSpPr>
          <p:nvPr/>
        </p:nvSpPr>
        <p:spPr>
          <a:xfrm>
            <a:off x="5505450" y="4781550"/>
            <a:ext cx="13906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REVIEW TRIGGER</a:t>
            </a:r>
          </a:p>
        </p:txBody>
      </p:sp>
      <p:sp>
        <p:nvSpPr>
          <p:cNvPr id="67" name="Rectangle 66">
            <a:extLst>
              <a:ext uri="{FF2B5EF4-FFF2-40B4-BE49-F238E27FC236}">
                <a16:creationId xmlns:a16="http://schemas.microsoft.com/office/drawing/2014/main" id="{002DAC71-B283-4DBD-A616-AE5D4AE784DA}"/>
              </a:ext>
            </a:extLst>
          </p:cNvPr>
          <p:cNvSpPr>
            <a:spLocks noGrp="1"/>
          </p:cNvSpPr>
          <p:nvPr/>
        </p:nvSpPr>
        <p:spPr>
          <a:xfrm>
            <a:off x="5505450" y="4943476"/>
            <a:ext cx="139065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Supervisor</a:t>
            </a:r>
          </a:p>
        </p:txBody>
      </p:sp>
      <p:sp>
        <p:nvSpPr>
          <p:cNvPr id="68" name="Rectangle: Rounded Corners 67">
            <a:extLst>
              <a:ext uri="{FF2B5EF4-FFF2-40B4-BE49-F238E27FC236}">
                <a16:creationId xmlns:a16="http://schemas.microsoft.com/office/drawing/2014/main" id="{D05B2B47-ACC9-4C0D-AD20-4F909F7E5407}"/>
              </a:ext>
            </a:extLst>
          </p:cNvPr>
          <p:cNvSpPr>
            <a:spLocks noGrp="1"/>
          </p:cNvSpPr>
          <p:nvPr/>
        </p:nvSpPr>
        <p:spPr>
          <a:xfrm>
            <a:off x="7524750" y="4667250"/>
            <a:ext cx="179070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69" name="Rectangle 68">
            <a:extLst>
              <a:ext uri="{FF2B5EF4-FFF2-40B4-BE49-F238E27FC236}">
                <a16:creationId xmlns:a16="http://schemas.microsoft.com/office/drawing/2014/main" id="{3C27CA18-3DA8-4D60-B743-1D300403B7E6}"/>
              </a:ext>
            </a:extLst>
          </p:cNvPr>
          <p:cNvSpPr>
            <a:spLocks noGrp="1"/>
          </p:cNvSpPr>
          <p:nvPr/>
        </p:nvSpPr>
        <p:spPr>
          <a:xfrm>
            <a:off x="7524750" y="4667250"/>
            <a:ext cx="57150" cy="571500"/>
          </a:xfrm>
          <a:prstGeom prst="rect">
            <a:avLst/>
          </a:prstGeom>
          <a:solidFill>
            <a:srgbClr val="F58220"/>
          </a:solidFill>
          <a:ln w="0">
            <a:solidFill>
              <a:srgbClr val="F58220"/>
            </a:solidFill>
            <a:prstDash val="solid"/>
          </a:ln>
        </p:spPr>
        <p:txBody>
          <a:bodyPr/>
          <a:lstStyle/>
          <a:p>
            <a:endParaRPr lang="en-US"/>
          </a:p>
        </p:txBody>
      </p:sp>
      <p:sp>
        <p:nvSpPr>
          <p:cNvPr id="70" name="Rectangle 69">
            <a:extLst>
              <a:ext uri="{FF2B5EF4-FFF2-40B4-BE49-F238E27FC236}">
                <a16:creationId xmlns:a16="http://schemas.microsoft.com/office/drawing/2014/main" id="{80F521F6-3449-4363-904F-26F6B8F1481C}"/>
              </a:ext>
            </a:extLst>
          </p:cNvPr>
          <p:cNvSpPr>
            <a:spLocks noGrp="1"/>
          </p:cNvSpPr>
          <p:nvPr/>
        </p:nvSpPr>
        <p:spPr>
          <a:xfrm>
            <a:off x="7696200" y="4781550"/>
            <a:ext cx="15049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DURABLE INTERRUPT</a:t>
            </a:r>
          </a:p>
        </p:txBody>
      </p:sp>
      <p:sp>
        <p:nvSpPr>
          <p:cNvPr id="71" name="Rectangle 70">
            <a:extLst>
              <a:ext uri="{FF2B5EF4-FFF2-40B4-BE49-F238E27FC236}">
                <a16:creationId xmlns:a16="http://schemas.microsoft.com/office/drawing/2014/main" id="{8C40E456-FDA8-4CA6-B955-FC8432A9F8BE}"/>
              </a:ext>
            </a:extLst>
          </p:cNvPr>
          <p:cNvSpPr>
            <a:spLocks noGrp="1"/>
          </p:cNvSpPr>
          <p:nvPr/>
        </p:nvSpPr>
        <p:spPr>
          <a:xfrm>
            <a:off x="7696200" y="4943476"/>
            <a:ext cx="150495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Human Review</a:t>
            </a:r>
          </a:p>
        </p:txBody>
      </p:sp>
      <p:sp>
        <p:nvSpPr>
          <p:cNvPr id="72" name="Rectangle: Rounded Corners 71">
            <a:extLst>
              <a:ext uri="{FF2B5EF4-FFF2-40B4-BE49-F238E27FC236}">
                <a16:creationId xmlns:a16="http://schemas.microsoft.com/office/drawing/2014/main" id="{1B69C21E-75B3-4FB4-9FDF-7167318AEB89}"/>
              </a:ext>
            </a:extLst>
          </p:cNvPr>
          <p:cNvSpPr>
            <a:spLocks noGrp="1"/>
          </p:cNvSpPr>
          <p:nvPr/>
        </p:nvSpPr>
        <p:spPr>
          <a:xfrm>
            <a:off x="9829800" y="4667250"/>
            <a:ext cx="1485900" cy="571500"/>
          </a:xfrm>
          <a:prstGeom prst="roundRect">
            <a:avLst>
              <a:gd name="adj" fmla="val 13333"/>
            </a:avLst>
          </a:prstGeom>
          <a:solidFill>
            <a:srgbClr val="FFFFFF"/>
          </a:solidFill>
          <a:ln w="9525">
            <a:solidFill>
              <a:srgbClr val="D7E1E8"/>
            </a:solidFill>
            <a:prstDash val="solid"/>
          </a:ln>
        </p:spPr>
        <p:txBody>
          <a:bodyPr/>
          <a:lstStyle/>
          <a:p>
            <a:endParaRPr lang="en-US"/>
          </a:p>
        </p:txBody>
      </p:sp>
      <p:sp>
        <p:nvSpPr>
          <p:cNvPr id="73" name="Rectangle 72">
            <a:extLst>
              <a:ext uri="{FF2B5EF4-FFF2-40B4-BE49-F238E27FC236}">
                <a16:creationId xmlns:a16="http://schemas.microsoft.com/office/drawing/2014/main" id="{8FB96AE2-26F9-4D59-9169-2A9C485104F5}"/>
              </a:ext>
            </a:extLst>
          </p:cNvPr>
          <p:cNvSpPr>
            <a:spLocks noGrp="1"/>
          </p:cNvSpPr>
          <p:nvPr/>
        </p:nvSpPr>
        <p:spPr>
          <a:xfrm>
            <a:off x="9829800" y="4667250"/>
            <a:ext cx="57150" cy="571500"/>
          </a:xfrm>
          <a:prstGeom prst="rect">
            <a:avLst/>
          </a:prstGeom>
          <a:solidFill>
            <a:srgbClr val="0073B9"/>
          </a:solidFill>
          <a:ln w="0">
            <a:solidFill>
              <a:srgbClr val="0073B9"/>
            </a:solidFill>
            <a:prstDash val="solid"/>
          </a:ln>
        </p:spPr>
        <p:txBody>
          <a:bodyPr/>
          <a:lstStyle/>
          <a:p>
            <a:endParaRPr lang="en-US"/>
          </a:p>
        </p:txBody>
      </p:sp>
      <p:sp>
        <p:nvSpPr>
          <p:cNvPr id="74" name="Rectangle 73">
            <a:extLst>
              <a:ext uri="{FF2B5EF4-FFF2-40B4-BE49-F238E27FC236}">
                <a16:creationId xmlns:a16="http://schemas.microsoft.com/office/drawing/2014/main" id="{6227CFDC-A23C-4788-9CE8-7A67F6C7CDBF}"/>
              </a:ext>
            </a:extLst>
          </p:cNvPr>
          <p:cNvSpPr>
            <a:spLocks noGrp="1"/>
          </p:cNvSpPr>
          <p:nvPr/>
        </p:nvSpPr>
        <p:spPr>
          <a:xfrm>
            <a:off x="10001250" y="4781550"/>
            <a:ext cx="12001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AFTER DECISION</a:t>
            </a:r>
          </a:p>
        </p:txBody>
      </p:sp>
      <p:sp>
        <p:nvSpPr>
          <p:cNvPr id="75" name="Rectangle 74">
            <a:extLst>
              <a:ext uri="{FF2B5EF4-FFF2-40B4-BE49-F238E27FC236}">
                <a16:creationId xmlns:a16="http://schemas.microsoft.com/office/drawing/2014/main" id="{DE4FB164-DA17-49D6-AB91-1C1B8AF2E27C}"/>
              </a:ext>
            </a:extLst>
          </p:cNvPr>
          <p:cNvSpPr>
            <a:spLocks noGrp="1"/>
          </p:cNvSpPr>
          <p:nvPr/>
        </p:nvSpPr>
        <p:spPr>
          <a:xfrm>
            <a:off x="10001250" y="4943476"/>
            <a:ext cx="120015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Resolve</a:t>
            </a:r>
          </a:p>
        </p:txBody>
      </p:sp>
      <p:cxnSp>
        <p:nvCxnSpPr>
          <p:cNvPr id="158" name="Straight Arrow Connector 157"/>
          <p:cNvCxnSpPr>
            <a:stCxn id="56" idx="3"/>
            <a:endCxn id="60" idx="1"/>
          </p:cNvCxnSpPr>
          <p:nvPr/>
        </p:nvCxnSpPr>
        <p:spPr>
          <a:xfrm>
            <a:off x="2286000" y="4953000"/>
            <a:ext cx="514350" cy="0"/>
          </a:xfrm>
          <a:prstGeom prst="straightConnector1">
            <a:avLst/>
          </a:prstGeom>
          <a:ln w="19050">
            <a:solidFill>
              <a:srgbClr val="0073B9"/>
            </a:solidFill>
            <a:prstDash val="solid"/>
            <a:tailEnd type="arrow" w="sm" len="sm"/>
          </a:ln>
        </p:spPr>
      </p:cxnSp>
      <p:cxnSp>
        <p:nvCxnSpPr>
          <p:cNvPr id="159" name="Straight Arrow Connector 158"/>
          <p:cNvCxnSpPr>
            <a:stCxn id="64" idx="3"/>
            <a:endCxn id="68" idx="1"/>
          </p:cNvCxnSpPr>
          <p:nvPr/>
        </p:nvCxnSpPr>
        <p:spPr>
          <a:xfrm>
            <a:off x="7010400" y="4953000"/>
            <a:ext cx="514350" cy="0"/>
          </a:xfrm>
          <a:prstGeom prst="straightConnector1">
            <a:avLst/>
          </a:prstGeom>
          <a:ln w="19050">
            <a:solidFill>
              <a:srgbClr val="F58220"/>
            </a:solidFill>
            <a:prstDash val="solid"/>
            <a:tailEnd type="arrow" w="sm" len="sm"/>
          </a:ln>
        </p:spPr>
      </p:cxnSp>
      <p:cxnSp>
        <p:nvCxnSpPr>
          <p:cNvPr id="160" name="Straight Arrow Connector 159"/>
          <p:cNvCxnSpPr>
            <a:stCxn id="68" idx="3"/>
            <a:endCxn id="72" idx="1"/>
          </p:cNvCxnSpPr>
          <p:nvPr/>
        </p:nvCxnSpPr>
        <p:spPr>
          <a:xfrm>
            <a:off x="9315450" y="4953000"/>
            <a:ext cx="514350" cy="0"/>
          </a:xfrm>
          <a:prstGeom prst="straightConnector1">
            <a:avLst/>
          </a:prstGeom>
          <a:ln w="19050">
            <a:solidFill>
              <a:srgbClr val="0073B9"/>
            </a:solidFill>
            <a:prstDash val="solid"/>
            <a:tailEnd type="arrow" w="sm" len="sm"/>
          </a:ln>
        </p:spPr>
      </p:cxnSp>
      <p:sp>
        <p:nvSpPr>
          <p:cNvPr id="79" name="Rectangle 78">
            <a:extLst>
              <a:ext uri="{FF2B5EF4-FFF2-40B4-BE49-F238E27FC236}">
                <a16:creationId xmlns:a16="http://schemas.microsoft.com/office/drawing/2014/main" id="{8A1BDEDD-2BCD-495B-9C6C-23FA3A9ED35F}"/>
              </a:ext>
            </a:extLst>
          </p:cNvPr>
          <p:cNvSpPr>
            <a:spLocks noGrp="1"/>
          </p:cNvSpPr>
          <p:nvPr/>
        </p:nvSpPr>
        <p:spPr>
          <a:xfrm>
            <a:off x="609600" y="5619750"/>
            <a:ext cx="10477500" cy="342900"/>
          </a:xfrm>
          <a:prstGeom prst="rect">
            <a:avLst/>
          </a:prstGeom>
          <a:noFill/>
          <a:ln w="0">
            <a:noFill/>
            <a:prstDash val="solid"/>
          </a:ln>
        </p:spPr>
        <p:txBody>
          <a:bodyPr/>
          <a:lstStyle/>
          <a:p>
            <a:pPr algn="l">
              <a:defRPr sz="1200" b="1">
                <a:solidFill>
                  <a:srgbClr val="526777"/>
                </a:solidFill>
              </a:defRPr>
            </a:pPr>
            <a:r>
              <a:rPr sz="1200" b="1" dirty="0">
                <a:solidFill>
                  <a:srgbClr val="526777"/>
                </a:solidFill>
              </a:rPr>
              <a:t>Repeated Supervisor boxes represent the same </a:t>
            </a:r>
            <a:r>
              <a:rPr sz="1200" b="1" dirty="0" err="1">
                <a:solidFill>
                  <a:srgbClr val="526777"/>
                </a:solidFill>
              </a:rPr>
              <a:t>LangGraph</a:t>
            </a:r>
            <a:r>
              <a:rPr sz="1200" b="1" dirty="0">
                <a:solidFill>
                  <a:srgbClr val="526777"/>
                </a:solidFill>
              </a:rPr>
              <a:t> node re-entered after each completed specialist step. Human Review can branch after Roadability (early) or after Disposition (post-decision).</a:t>
            </a:r>
          </a:p>
        </p:txBody>
      </p:sp>
      <p:sp>
        <p:nvSpPr>
          <p:cNvPr id="80" name="Rectangle 79">
            <a:extLst>
              <a:ext uri="{FF2B5EF4-FFF2-40B4-BE49-F238E27FC236}">
                <a16:creationId xmlns:a16="http://schemas.microsoft.com/office/drawing/2014/main" id="{9BC88815-4B09-488F-BB0F-4C156A0AAA3C}"/>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81" name="Rectangle 80">
            <a:extLst>
              <a:ext uri="{FF2B5EF4-FFF2-40B4-BE49-F238E27FC236}">
                <a16:creationId xmlns:a16="http://schemas.microsoft.com/office/drawing/2014/main" id="{BCE0E9DF-5523-4212-ACB6-597D12CB0E21}"/>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82" name="Rectangle 81">
            <a:extLst>
              <a:ext uri="{FF2B5EF4-FFF2-40B4-BE49-F238E27FC236}">
                <a16:creationId xmlns:a16="http://schemas.microsoft.com/office/drawing/2014/main" id="{DDE2AD66-73BF-48A0-9B5D-C2A2B67698FF}"/>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04</a:t>
            </a:r>
          </a:p>
        </p:txBody>
      </p:sp>
    </p:spTree>
    <p:extLst>
      <p:ext uri="{BB962C8B-B14F-4D97-AF65-F5344CB8AC3E}">
        <p14:creationId xmlns:p14="http://schemas.microsoft.com/office/powerpoint/2010/main" val="181579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CAE1779-CAE7-4E3F-89EA-1DBB8BFA7584}"/>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DECISION 4 — HUMAN REVIEW</a:t>
            </a:r>
          </a:p>
        </p:txBody>
      </p:sp>
      <p:sp>
        <p:nvSpPr>
          <p:cNvPr id="2" name="Rectangle 1">
            <a:extLst>
              <a:ext uri="{FF2B5EF4-FFF2-40B4-BE49-F238E27FC236}">
                <a16:creationId xmlns:a16="http://schemas.microsoft.com/office/drawing/2014/main" id="{EABB72EB-9FE4-4D85-A086-41BFBC10E523}"/>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Human review is a durable graph interrupt</a:t>
            </a:r>
          </a:p>
        </p:txBody>
      </p:sp>
      <p:sp>
        <p:nvSpPr>
          <p:cNvPr id="3" name="Rectangle 2">
            <a:extLst>
              <a:ext uri="{FF2B5EF4-FFF2-40B4-BE49-F238E27FC236}">
                <a16:creationId xmlns:a16="http://schemas.microsoft.com/office/drawing/2014/main" id="{9C1EFEFD-CB4A-43EE-9EB0-FC81A6F91BEE}"/>
              </a:ext>
            </a:extLst>
          </p:cNvPr>
          <p:cNvSpPr>
            <a:spLocks noGrp="1"/>
          </p:cNvSpPr>
          <p:nvPr/>
        </p:nvSpPr>
        <p:spPr>
          <a:xfrm>
            <a:off x="533400" y="1295400"/>
            <a:ext cx="10477500" cy="266700"/>
          </a:xfrm>
          <a:prstGeom prst="rect">
            <a:avLst/>
          </a:prstGeom>
          <a:noFill/>
          <a:ln w="0">
            <a:noFill/>
            <a:prstDash val="solid"/>
          </a:ln>
        </p:spPr>
        <p:txBody>
          <a:bodyPr/>
          <a:lstStyle/>
          <a:p>
            <a:pPr algn="l">
              <a:defRPr sz="1350" b="0">
                <a:solidFill>
                  <a:srgbClr val="526777"/>
                </a:solidFill>
              </a:defRPr>
            </a:pPr>
            <a:r>
              <a:rPr sz="1350" b="0">
                <a:solidFill>
                  <a:srgbClr val="526777"/>
                </a:solidFill>
              </a:rPr>
              <a:t>The point of pausing is different depending on whether the graph has enough information to recommend a disposition.</a:t>
            </a:r>
          </a:p>
        </p:txBody>
      </p:sp>
      <p:sp>
        <p:nvSpPr>
          <p:cNvPr id="4" name="Rectangle 3">
            <a:extLst>
              <a:ext uri="{FF2B5EF4-FFF2-40B4-BE49-F238E27FC236}">
                <a16:creationId xmlns:a16="http://schemas.microsoft.com/office/drawing/2014/main" id="{925EAD32-DCA3-485E-A4EA-A685212391F1}"/>
              </a:ext>
            </a:extLst>
          </p:cNvPr>
          <p:cNvSpPr>
            <a:spLocks noGrp="1"/>
          </p:cNvSpPr>
          <p:nvPr/>
        </p:nvSpPr>
        <p:spPr>
          <a:xfrm>
            <a:off x="533400" y="1676400"/>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4">
            <a:extLst>
              <a:ext uri="{FF2B5EF4-FFF2-40B4-BE49-F238E27FC236}">
                <a16:creationId xmlns:a16="http://schemas.microsoft.com/office/drawing/2014/main" id="{3B5E1799-9732-4EED-A4A8-DDFF87CD5B62}"/>
              </a:ext>
            </a:extLst>
          </p:cNvPr>
          <p:cNvSpPr>
            <a:spLocks noGrp="1"/>
          </p:cNvSpPr>
          <p:nvPr/>
        </p:nvSpPr>
        <p:spPr>
          <a:xfrm>
            <a:off x="742950" y="2305050"/>
            <a:ext cx="4095750" cy="171450"/>
          </a:xfrm>
          <a:prstGeom prst="rect">
            <a:avLst/>
          </a:prstGeom>
          <a:noFill/>
          <a:ln w="0">
            <a:noFill/>
            <a:prstDash val="solid"/>
          </a:ln>
        </p:spPr>
        <p:txBody>
          <a:bodyPr/>
          <a:lstStyle/>
          <a:p>
            <a:pPr algn="l">
              <a:defRPr sz="900" b="1">
                <a:solidFill>
                  <a:srgbClr val="F58220"/>
                </a:solidFill>
              </a:defRPr>
            </a:pPr>
            <a:r>
              <a:rPr sz="900" b="1">
                <a:solidFill>
                  <a:srgbClr val="F58220"/>
                </a:solidFill>
              </a:rPr>
              <a:t>EARLY REVIEW: uncertainty is unresolved</a:t>
            </a:r>
          </a:p>
        </p:txBody>
      </p:sp>
      <p:sp>
        <p:nvSpPr>
          <p:cNvPr id="6" name="Rectangle 5">
            <a:extLst>
              <a:ext uri="{FF2B5EF4-FFF2-40B4-BE49-F238E27FC236}">
                <a16:creationId xmlns:a16="http://schemas.microsoft.com/office/drawing/2014/main" id="{E996367D-0972-48B6-AC84-1B475F82CA23}"/>
              </a:ext>
            </a:extLst>
          </p:cNvPr>
          <p:cNvSpPr>
            <a:spLocks noGrp="1"/>
          </p:cNvSpPr>
          <p:nvPr/>
        </p:nvSpPr>
        <p:spPr>
          <a:xfrm>
            <a:off x="742950" y="2647950"/>
            <a:ext cx="3429000" cy="285750"/>
          </a:xfrm>
          <a:prstGeom prst="rect">
            <a:avLst/>
          </a:prstGeom>
          <a:noFill/>
          <a:ln w="0">
            <a:noFill/>
            <a:prstDash val="solid"/>
          </a:ln>
        </p:spPr>
        <p:txBody>
          <a:bodyPr/>
          <a:lstStyle/>
          <a:p>
            <a:pPr algn="l">
              <a:defRPr sz="1875" b="1">
                <a:solidFill>
                  <a:srgbClr val="102A43"/>
                </a:solidFill>
              </a:defRPr>
            </a:pPr>
            <a:r>
              <a:rPr sz="1875" b="1">
                <a:solidFill>
                  <a:srgbClr val="102A43"/>
                </a:solidFill>
              </a:rPr>
              <a:t>#0013 — ABS conflict</a:t>
            </a:r>
          </a:p>
        </p:txBody>
      </p:sp>
      <p:sp>
        <p:nvSpPr>
          <p:cNvPr id="7" name="Rectangle 6">
            <a:extLst>
              <a:ext uri="{FF2B5EF4-FFF2-40B4-BE49-F238E27FC236}">
                <a16:creationId xmlns:a16="http://schemas.microsoft.com/office/drawing/2014/main" id="{78512911-D777-4070-86B2-D96DC9BEF802}"/>
              </a:ext>
            </a:extLst>
          </p:cNvPr>
          <p:cNvSpPr>
            <a:spLocks noGrp="1"/>
          </p:cNvSpPr>
          <p:nvPr/>
        </p:nvSpPr>
        <p:spPr>
          <a:xfrm>
            <a:off x="742950" y="3067050"/>
            <a:ext cx="4095750" cy="647700"/>
          </a:xfrm>
          <a:prstGeom prst="rect">
            <a:avLst/>
          </a:prstGeom>
          <a:noFill/>
          <a:ln w="0">
            <a:noFill/>
            <a:prstDash val="solid"/>
          </a:ln>
        </p:spPr>
        <p:txBody>
          <a:bodyPr/>
          <a:lstStyle/>
          <a:p>
            <a:pPr algn="l">
              <a:defRPr sz="1350" b="0">
                <a:solidFill>
                  <a:srgbClr val="526777"/>
                </a:solidFill>
              </a:defRPr>
            </a:pPr>
            <a:r>
              <a:rPr sz="1350" b="0" dirty="0">
                <a:solidFill>
                  <a:srgbClr val="526777"/>
                </a:solidFill>
              </a:rPr>
              <a:t>Narrative says “looks fine”; telemetry says ABS fault. The graph pauses after Assessor + Roadability and skips Cost/Disposition.</a:t>
            </a:r>
          </a:p>
        </p:txBody>
      </p:sp>
      <p:sp>
        <p:nvSpPr>
          <p:cNvPr id="8" name="Rectangle: Rounded Corners 7">
            <a:extLst>
              <a:ext uri="{FF2B5EF4-FFF2-40B4-BE49-F238E27FC236}">
                <a16:creationId xmlns:a16="http://schemas.microsoft.com/office/drawing/2014/main" id="{97DCD280-60F4-425F-A7B7-1E07AF060446}"/>
              </a:ext>
            </a:extLst>
          </p:cNvPr>
          <p:cNvSpPr>
            <a:spLocks noGrp="1"/>
          </p:cNvSpPr>
          <p:nvPr/>
        </p:nvSpPr>
        <p:spPr>
          <a:xfrm>
            <a:off x="742950" y="4152900"/>
            <a:ext cx="4095750" cy="895350"/>
          </a:xfrm>
          <a:prstGeom prst="roundRect">
            <a:avLst>
              <a:gd name="adj" fmla="val 8511"/>
            </a:avLst>
          </a:prstGeom>
          <a:solidFill>
            <a:srgbClr val="FFFFFF"/>
          </a:solidFill>
          <a:ln w="9525">
            <a:solidFill>
              <a:srgbClr val="D7E1E8"/>
            </a:solidFill>
            <a:prstDash val="solid"/>
          </a:ln>
        </p:spPr>
        <p:txBody>
          <a:bodyPr/>
          <a:lstStyle/>
          <a:p>
            <a:endParaRPr lang="en-US"/>
          </a:p>
        </p:txBody>
      </p:sp>
      <p:sp>
        <p:nvSpPr>
          <p:cNvPr id="9" name="Rectangle 8">
            <a:extLst>
              <a:ext uri="{FF2B5EF4-FFF2-40B4-BE49-F238E27FC236}">
                <a16:creationId xmlns:a16="http://schemas.microsoft.com/office/drawing/2014/main" id="{350F09B0-19F9-4A9D-BA0C-D876C06497F0}"/>
              </a:ext>
            </a:extLst>
          </p:cNvPr>
          <p:cNvSpPr>
            <a:spLocks noGrp="1"/>
          </p:cNvSpPr>
          <p:nvPr/>
        </p:nvSpPr>
        <p:spPr>
          <a:xfrm>
            <a:off x="971550" y="4343400"/>
            <a:ext cx="1619250" cy="190500"/>
          </a:xfrm>
          <a:prstGeom prst="rect">
            <a:avLst/>
          </a:prstGeom>
          <a:noFill/>
          <a:ln w="0">
            <a:noFill/>
            <a:prstDash val="solid"/>
          </a:ln>
        </p:spPr>
        <p:txBody>
          <a:bodyPr/>
          <a:lstStyle/>
          <a:p>
            <a:pPr algn="l">
              <a:defRPr sz="1275" b="1">
                <a:solidFill>
                  <a:srgbClr val="F58220"/>
                </a:solidFill>
              </a:defRPr>
            </a:pPr>
            <a:r>
              <a:rPr sz="1275" b="1">
                <a:solidFill>
                  <a:srgbClr val="F58220"/>
                </a:solidFill>
              </a:rPr>
              <a:t>Why pause early?</a:t>
            </a:r>
          </a:p>
        </p:txBody>
      </p:sp>
      <p:sp>
        <p:nvSpPr>
          <p:cNvPr id="10" name="Rectangle 9">
            <a:extLst>
              <a:ext uri="{FF2B5EF4-FFF2-40B4-BE49-F238E27FC236}">
                <a16:creationId xmlns:a16="http://schemas.microsoft.com/office/drawing/2014/main" id="{44D70BB9-3484-418C-9B40-1B1E8F83C2E6}"/>
              </a:ext>
            </a:extLst>
          </p:cNvPr>
          <p:cNvSpPr>
            <a:spLocks noGrp="1"/>
          </p:cNvSpPr>
          <p:nvPr/>
        </p:nvSpPr>
        <p:spPr>
          <a:xfrm>
            <a:off x="971550" y="4591050"/>
            <a:ext cx="3448050" cy="285750"/>
          </a:xfrm>
          <a:prstGeom prst="rect">
            <a:avLst/>
          </a:prstGeom>
          <a:noFill/>
          <a:ln w="0">
            <a:noFill/>
            <a:prstDash val="solid"/>
          </a:ln>
        </p:spPr>
        <p:txBody>
          <a:bodyPr/>
          <a:lstStyle/>
          <a:p>
            <a:pPr algn="l">
              <a:defRPr sz="1200" b="0">
                <a:solidFill>
                  <a:srgbClr val="526777"/>
                </a:solidFill>
              </a:defRPr>
            </a:pPr>
            <a:r>
              <a:rPr sz="1200" b="0">
                <a:solidFill>
                  <a:srgbClr val="526777"/>
                </a:solidFill>
              </a:rPr>
              <a:t>A person must reconcile conflicting evidence before policy creates false precision.</a:t>
            </a:r>
          </a:p>
        </p:txBody>
      </p:sp>
      <p:sp>
        <p:nvSpPr>
          <p:cNvPr id="11" name="Rectangle 10">
            <a:extLst>
              <a:ext uri="{FF2B5EF4-FFF2-40B4-BE49-F238E27FC236}">
                <a16:creationId xmlns:a16="http://schemas.microsoft.com/office/drawing/2014/main" id="{4FE53F72-D443-4CAD-B88A-BA6709DDA5E5}"/>
              </a:ext>
            </a:extLst>
          </p:cNvPr>
          <p:cNvSpPr>
            <a:spLocks noGrp="1"/>
          </p:cNvSpPr>
          <p:nvPr/>
        </p:nvSpPr>
        <p:spPr>
          <a:xfrm>
            <a:off x="5905500" y="2133600"/>
            <a:ext cx="19050" cy="3238500"/>
          </a:xfrm>
          <a:prstGeom prst="rect">
            <a:avLst/>
          </a:prstGeom>
          <a:solidFill>
            <a:srgbClr val="D7E1E8"/>
          </a:solidFill>
          <a:ln w="0">
            <a:solidFill>
              <a:srgbClr val="D7E1E8"/>
            </a:solidFill>
            <a:prstDash val="solid"/>
          </a:ln>
        </p:spPr>
        <p:txBody>
          <a:bodyPr/>
          <a:lstStyle/>
          <a:p>
            <a:endParaRPr lang="en-US"/>
          </a:p>
        </p:txBody>
      </p:sp>
      <p:sp>
        <p:nvSpPr>
          <p:cNvPr id="12" name="Rectangle 11">
            <a:extLst>
              <a:ext uri="{FF2B5EF4-FFF2-40B4-BE49-F238E27FC236}">
                <a16:creationId xmlns:a16="http://schemas.microsoft.com/office/drawing/2014/main" id="{7DD7984D-47C5-44E9-B348-2FA06D272BB0}"/>
              </a:ext>
            </a:extLst>
          </p:cNvPr>
          <p:cNvSpPr>
            <a:spLocks noGrp="1"/>
          </p:cNvSpPr>
          <p:nvPr/>
        </p:nvSpPr>
        <p:spPr>
          <a:xfrm>
            <a:off x="6534150" y="2305050"/>
            <a:ext cx="4381500" cy="171450"/>
          </a:xfrm>
          <a:prstGeom prst="rect">
            <a:avLst/>
          </a:prstGeom>
          <a:noFill/>
          <a:ln w="0">
            <a:noFill/>
            <a:prstDash val="solid"/>
          </a:ln>
        </p:spPr>
        <p:txBody>
          <a:bodyPr/>
          <a:lstStyle/>
          <a:p>
            <a:pPr algn="l">
              <a:defRPr sz="900" b="1">
                <a:solidFill>
                  <a:srgbClr val="F58220"/>
                </a:solidFill>
              </a:defRPr>
            </a:pPr>
            <a:r>
              <a:rPr sz="900" b="1">
                <a:solidFill>
                  <a:srgbClr val="F58220"/>
                </a:solidFill>
              </a:rPr>
              <a:t>POST-DECISION REVIEW: risk requires sign-off</a:t>
            </a:r>
          </a:p>
        </p:txBody>
      </p:sp>
      <p:sp>
        <p:nvSpPr>
          <p:cNvPr id="13" name="Rectangle 12">
            <a:extLst>
              <a:ext uri="{FF2B5EF4-FFF2-40B4-BE49-F238E27FC236}">
                <a16:creationId xmlns:a16="http://schemas.microsoft.com/office/drawing/2014/main" id="{02A3E39C-129F-44BE-A106-304FBCDFD2B1}"/>
              </a:ext>
            </a:extLst>
          </p:cNvPr>
          <p:cNvSpPr>
            <a:spLocks noGrp="1"/>
          </p:cNvSpPr>
          <p:nvPr/>
        </p:nvSpPr>
        <p:spPr>
          <a:xfrm>
            <a:off x="6534150" y="2647950"/>
            <a:ext cx="3905250" cy="285750"/>
          </a:xfrm>
          <a:prstGeom prst="rect">
            <a:avLst/>
          </a:prstGeom>
          <a:noFill/>
          <a:ln w="0">
            <a:noFill/>
            <a:prstDash val="solid"/>
          </a:ln>
        </p:spPr>
        <p:txBody>
          <a:bodyPr/>
          <a:lstStyle/>
          <a:p>
            <a:pPr algn="l">
              <a:defRPr sz="1875" b="1">
                <a:solidFill>
                  <a:srgbClr val="102A43"/>
                </a:solidFill>
              </a:defRPr>
            </a:pPr>
            <a:r>
              <a:rPr sz="1875" b="1">
                <a:solidFill>
                  <a:srgbClr val="102A43"/>
                </a:solidFill>
              </a:rPr>
              <a:t>#0004 — structural frame crack</a:t>
            </a:r>
          </a:p>
        </p:txBody>
      </p:sp>
      <p:sp>
        <p:nvSpPr>
          <p:cNvPr id="14" name="Rectangle 13">
            <a:extLst>
              <a:ext uri="{FF2B5EF4-FFF2-40B4-BE49-F238E27FC236}">
                <a16:creationId xmlns:a16="http://schemas.microsoft.com/office/drawing/2014/main" id="{B620C52B-CA6E-4B03-B594-31217B7DCED4}"/>
              </a:ext>
            </a:extLst>
          </p:cNvPr>
          <p:cNvSpPr>
            <a:spLocks noGrp="1"/>
          </p:cNvSpPr>
          <p:nvPr/>
        </p:nvSpPr>
        <p:spPr>
          <a:xfrm>
            <a:off x="6534150" y="3067050"/>
            <a:ext cx="4095750" cy="647700"/>
          </a:xfrm>
          <a:prstGeom prst="rect">
            <a:avLst/>
          </a:prstGeom>
          <a:noFill/>
          <a:ln w="0">
            <a:noFill/>
            <a:prstDash val="solid"/>
          </a:ln>
        </p:spPr>
        <p:txBody>
          <a:bodyPr/>
          <a:lstStyle/>
          <a:p>
            <a:pPr algn="l">
              <a:defRPr sz="1350" b="0">
                <a:solidFill>
                  <a:srgbClr val="526777"/>
                </a:solidFill>
              </a:defRPr>
            </a:pPr>
            <a:r>
              <a:rPr sz="1350" b="0">
                <a:solidFill>
                  <a:srgbClr val="526777"/>
                </a:solidFill>
              </a:rPr>
              <a:t>Rules produce a retire recommendation and high cost. The graph pauses with a complete case for approval or override.</a:t>
            </a:r>
          </a:p>
        </p:txBody>
      </p:sp>
      <p:sp>
        <p:nvSpPr>
          <p:cNvPr id="15" name="Rectangle: Rounded Corners 14">
            <a:extLst>
              <a:ext uri="{FF2B5EF4-FFF2-40B4-BE49-F238E27FC236}">
                <a16:creationId xmlns:a16="http://schemas.microsoft.com/office/drawing/2014/main" id="{9F41C5D7-2A37-42E7-B8BA-A3B805C60748}"/>
              </a:ext>
            </a:extLst>
          </p:cNvPr>
          <p:cNvSpPr>
            <a:spLocks noGrp="1"/>
          </p:cNvSpPr>
          <p:nvPr/>
        </p:nvSpPr>
        <p:spPr>
          <a:xfrm>
            <a:off x="6534150" y="4152900"/>
            <a:ext cx="4095750" cy="895350"/>
          </a:xfrm>
          <a:prstGeom prst="roundRect">
            <a:avLst>
              <a:gd name="adj" fmla="val 8511"/>
            </a:avLst>
          </a:prstGeom>
          <a:solidFill>
            <a:srgbClr val="FFFFFF"/>
          </a:solidFill>
          <a:ln w="9525">
            <a:solidFill>
              <a:srgbClr val="D7E1E8"/>
            </a:solidFill>
            <a:prstDash val="solid"/>
          </a:ln>
        </p:spPr>
        <p:txBody>
          <a:bodyPr/>
          <a:lstStyle/>
          <a:p>
            <a:endParaRPr lang="en-US"/>
          </a:p>
        </p:txBody>
      </p:sp>
      <p:sp>
        <p:nvSpPr>
          <p:cNvPr id="16" name="Rectangle 15">
            <a:extLst>
              <a:ext uri="{FF2B5EF4-FFF2-40B4-BE49-F238E27FC236}">
                <a16:creationId xmlns:a16="http://schemas.microsoft.com/office/drawing/2014/main" id="{A3D1428D-C070-490A-B864-CE11FB29870A}"/>
              </a:ext>
            </a:extLst>
          </p:cNvPr>
          <p:cNvSpPr>
            <a:spLocks noGrp="1"/>
          </p:cNvSpPr>
          <p:nvPr/>
        </p:nvSpPr>
        <p:spPr>
          <a:xfrm>
            <a:off x="6762750" y="4343400"/>
            <a:ext cx="2476500" cy="190500"/>
          </a:xfrm>
          <a:prstGeom prst="rect">
            <a:avLst/>
          </a:prstGeom>
          <a:noFill/>
          <a:ln w="0">
            <a:noFill/>
            <a:prstDash val="solid"/>
          </a:ln>
        </p:spPr>
        <p:txBody>
          <a:bodyPr/>
          <a:lstStyle/>
          <a:p>
            <a:pPr algn="l">
              <a:defRPr sz="1275" b="1">
                <a:solidFill>
                  <a:srgbClr val="F58220"/>
                </a:solidFill>
              </a:defRPr>
            </a:pPr>
            <a:r>
              <a:rPr sz="1275" b="1">
                <a:solidFill>
                  <a:srgbClr val="F58220"/>
                </a:solidFill>
              </a:rPr>
              <a:t>Why pause after policy?</a:t>
            </a:r>
          </a:p>
        </p:txBody>
      </p:sp>
      <p:sp>
        <p:nvSpPr>
          <p:cNvPr id="17" name="Rectangle 16">
            <a:extLst>
              <a:ext uri="{FF2B5EF4-FFF2-40B4-BE49-F238E27FC236}">
                <a16:creationId xmlns:a16="http://schemas.microsoft.com/office/drawing/2014/main" id="{D3A40A11-AAB2-4A9F-8C38-BDA6C50EEEC3}"/>
              </a:ext>
            </a:extLst>
          </p:cNvPr>
          <p:cNvSpPr>
            <a:spLocks noGrp="1"/>
          </p:cNvSpPr>
          <p:nvPr/>
        </p:nvSpPr>
        <p:spPr>
          <a:xfrm>
            <a:off x="6762750" y="4591050"/>
            <a:ext cx="3448050" cy="285750"/>
          </a:xfrm>
          <a:prstGeom prst="rect">
            <a:avLst/>
          </a:prstGeom>
          <a:noFill/>
          <a:ln w="0">
            <a:noFill/>
            <a:prstDash val="solid"/>
          </a:ln>
        </p:spPr>
        <p:txBody>
          <a:bodyPr/>
          <a:lstStyle/>
          <a:p>
            <a:pPr algn="l">
              <a:defRPr sz="1200" b="0">
                <a:solidFill>
                  <a:srgbClr val="526777"/>
                </a:solidFill>
              </a:defRPr>
            </a:pPr>
            <a:r>
              <a:rPr sz="1200" b="0">
                <a:solidFill>
                  <a:srgbClr val="526777"/>
                </a:solidFill>
              </a:rPr>
              <a:t>The policy can recommend; a human owns consequential spend and retirement decisions.</a:t>
            </a:r>
          </a:p>
        </p:txBody>
      </p:sp>
      <p:sp>
        <p:nvSpPr>
          <p:cNvPr id="18" name="Rectangle 17">
            <a:extLst>
              <a:ext uri="{FF2B5EF4-FFF2-40B4-BE49-F238E27FC236}">
                <a16:creationId xmlns:a16="http://schemas.microsoft.com/office/drawing/2014/main" id="{B0D7B170-49BF-4460-9146-203441A771DE}"/>
              </a:ext>
            </a:extLst>
          </p:cNvPr>
          <p:cNvSpPr>
            <a:spLocks noGrp="1"/>
          </p:cNvSpPr>
          <p:nvPr/>
        </p:nvSpPr>
        <p:spPr>
          <a:xfrm>
            <a:off x="742950" y="5657850"/>
            <a:ext cx="9906000" cy="228600"/>
          </a:xfrm>
          <a:prstGeom prst="rect">
            <a:avLst/>
          </a:prstGeom>
          <a:noFill/>
          <a:ln w="0">
            <a:noFill/>
            <a:prstDash val="solid"/>
          </a:ln>
        </p:spPr>
        <p:txBody>
          <a:bodyPr/>
          <a:lstStyle/>
          <a:p>
            <a:pPr algn="l">
              <a:defRPr sz="1350" b="1">
                <a:solidFill>
                  <a:srgbClr val="0073B9"/>
                </a:solidFill>
              </a:defRPr>
            </a:pPr>
            <a:r>
              <a:rPr sz="1350" b="1">
                <a:solidFill>
                  <a:srgbClr val="0073B9"/>
                </a:solidFill>
              </a:rPr>
              <a:t>Resume is explicit: Command(resume=human_decision) records approve or override and then resolves.</a:t>
            </a:r>
          </a:p>
        </p:txBody>
      </p:sp>
      <p:sp>
        <p:nvSpPr>
          <p:cNvPr id="19" name="Rectangle 18">
            <a:extLst>
              <a:ext uri="{FF2B5EF4-FFF2-40B4-BE49-F238E27FC236}">
                <a16:creationId xmlns:a16="http://schemas.microsoft.com/office/drawing/2014/main" id="{0A337DDF-521D-46B9-94A1-362FD2563CC6}"/>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20" name="Rectangle 19">
            <a:extLst>
              <a:ext uri="{FF2B5EF4-FFF2-40B4-BE49-F238E27FC236}">
                <a16:creationId xmlns:a16="http://schemas.microsoft.com/office/drawing/2014/main" id="{FDAB754E-4413-4E24-8517-84545A27A4F6}"/>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21" name="Rectangle 20">
            <a:extLst>
              <a:ext uri="{FF2B5EF4-FFF2-40B4-BE49-F238E27FC236}">
                <a16:creationId xmlns:a16="http://schemas.microsoft.com/office/drawing/2014/main" id="{92DAFB5C-3903-46CB-A7A0-8DD9283184A7}"/>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06</a:t>
            </a:r>
          </a:p>
        </p:txBody>
      </p:sp>
    </p:spTree>
    <p:extLst>
      <p:ext uri="{BB962C8B-B14F-4D97-AF65-F5344CB8AC3E}">
        <p14:creationId xmlns:p14="http://schemas.microsoft.com/office/powerpoint/2010/main" val="1787678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D394C07-4E23-4DAC-92C6-83900D7ED680}"/>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DECISION 5 — OPERATOR EXPERIENCE</a:t>
            </a:r>
          </a:p>
        </p:txBody>
      </p:sp>
      <p:sp>
        <p:nvSpPr>
          <p:cNvPr id="2" name="Rectangle 1">
            <a:extLst>
              <a:ext uri="{FF2B5EF4-FFF2-40B4-BE49-F238E27FC236}">
                <a16:creationId xmlns:a16="http://schemas.microsoft.com/office/drawing/2014/main" id="{05FC7A4B-E127-4636-A7E7-AE9DC8FE3F0F}"/>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The dashboard is an evidence surface, not a graph animation</a:t>
            </a:r>
          </a:p>
        </p:txBody>
      </p:sp>
      <p:sp>
        <p:nvSpPr>
          <p:cNvPr id="3" name="Rectangle 2">
            <a:extLst>
              <a:ext uri="{FF2B5EF4-FFF2-40B4-BE49-F238E27FC236}">
                <a16:creationId xmlns:a16="http://schemas.microsoft.com/office/drawing/2014/main" id="{ABA3B652-1EF2-4A6D-A5AF-5C0DDAA94512}"/>
              </a:ext>
            </a:extLst>
          </p:cNvPr>
          <p:cNvSpPr>
            <a:spLocks noGrp="1"/>
          </p:cNvSpPr>
          <p:nvPr/>
        </p:nvSpPr>
        <p:spPr>
          <a:xfrm>
            <a:off x="533400" y="1295400"/>
            <a:ext cx="10477500" cy="266700"/>
          </a:xfrm>
          <a:prstGeom prst="rect">
            <a:avLst/>
          </a:prstGeom>
          <a:noFill/>
          <a:ln w="0">
            <a:noFill/>
            <a:prstDash val="solid"/>
          </a:ln>
        </p:spPr>
        <p:txBody>
          <a:bodyPr/>
          <a:lstStyle/>
          <a:p>
            <a:pPr algn="l">
              <a:defRPr sz="1350" b="0">
                <a:solidFill>
                  <a:srgbClr val="526777"/>
                </a:solidFill>
              </a:defRPr>
            </a:pPr>
            <a:r>
              <a:rPr sz="1350" b="0">
                <a:solidFill>
                  <a:srgbClr val="526777"/>
                </a:solidFill>
              </a:rPr>
              <a:t>Every visual element answers an operator question and comes from graph state or a node result.</a:t>
            </a:r>
          </a:p>
        </p:txBody>
      </p:sp>
      <p:sp>
        <p:nvSpPr>
          <p:cNvPr id="4" name="Rectangle 3">
            <a:extLst>
              <a:ext uri="{FF2B5EF4-FFF2-40B4-BE49-F238E27FC236}">
                <a16:creationId xmlns:a16="http://schemas.microsoft.com/office/drawing/2014/main" id="{5CDEFF78-BA0D-4716-BEEE-1C29E800FD5F}"/>
              </a:ext>
            </a:extLst>
          </p:cNvPr>
          <p:cNvSpPr>
            <a:spLocks noGrp="1"/>
          </p:cNvSpPr>
          <p:nvPr/>
        </p:nvSpPr>
        <p:spPr>
          <a:xfrm>
            <a:off x="533400" y="1676400"/>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Rounded Corners 4">
            <a:extLst>
              <a:ext uri="{FF2B5EF4-FFF2-40B4-BE49-F238E27FC236}">
                <a16:creationId xmlns:a16="http://schemas.microsoft.com/office/drawing/2014/main" id="{16CC6374-126B-468B-979D-516EF6FF07C5}"/>
              </a:ext>
            </a:extLst>
          </p:cNvPr>
          <p:cNvSpPr>
            <a:spLocks noGrp="1"/>
          </p:cNvSpPr>
          <p:nvPr/>
        </p:nvSpPr>
        <p:spPr>
          <a:xfrm>
            <a:off x="552450" y="2190750"/>
            <a:ext cx="7696200" cy="3562350"/>
          </a:xfrm>
          <a:prstGeom prst="roundRect">
            <a:avLst>
              <a:gd name="adj" fmla="val 2139"/>
            </a:avLst>
          </a:prstGeom>
          <a:solidFill>
            <a:srgbClr val="FFFFFF"/>
          </a:solidFill>
          <a:ln w="11430">
            <a:solidFill>
              <a:srgbClr val="D7E1E8"/>
            </a:solidFill>
            <a:prstDash val="solid"/>
          </a:ln>
        </p:spPr>
        <p:txBody>
          <a:bodyPr/>
          <a:lstStyle/>
          <a:p>
            <a:endParaRPr lang="en-US"/>
          </a:p>
        </p:txBody>
      </p:sp>
      <p:pic>
        <p:nvPicPr>
          <p:cNvPr id="30" name="Picture 29"/>
          <p:cNvPicPr>
            <a:picLocks noChangeAspect="1"/>
          </p:cNvPicPr>
          <p:nvPr/>
        </p:nvPicPr>
        <p:blipFill>
          <a:blip r:embed="rId3"/>
          <a:stretch/>
        </p:blipFill>
        <p:spPr>
          <a:xfrm>
            <a:off x="1150087" y="2286000"/>
            <a:ext cx="6500927" cy="3371850"/>
          </a:xfrm>
          <a:prstGeom prst="rect">
            <a:avLst/>
          </a:prstGeom>
        </p:spPr>
      </p:pic>
      <p:sp>
        <p:nvSpPr>
          <p:cNvPr id="7" name="Rectangle 6">
            <a:extLst>
              <a:ext uri="{FF2B5EF4-FFF2-40B4-BE49-F238E27FC236}">
                <a16:creationId xmlns:a16="http://schemas.microsoft.com/office/drawing/2014/main" id="{764279ED-0D0C-44B6-ADC1-F6DE7A55E25B}"/>
              </a:ext>
            </a:extLst>
          </p:cNvPr>
          <p:cNvSpPr>
            <a:spLocks noGrp="1"/>
          </p:cNvSpPr>
          <p:nvPr/>
        </p:nvSpPr>
        <p:spPr>
          <a:xfrm>
            <a:off x="8667750" y="2286000"/>
            <a:ext cx="342900" cy="171450"/>
          </a:xfrm>
          <a:prstGeom prst="rect">
            <a:avLst/>
          </a:prstGeom>
          <a:noFill/>
          <a:ln w="0">
            <a:noFill/>
            <a:prstDash val="solid"/>
          </a:ln>
        </p:spPr>
        <p:txBody>
          <a:bodyPr/>
          <a:lstStyle/>
          <a:p>
            <a:pPr algn="l">
              <a:defRPr sz="975" b="1">
                <a:solidFill>
                  <a:srgbClr val="0073B9"/>
                </a:solidFill>
              </a:defRPr>
            </a:pPr>
            <a:r>
              <a:rPr sz="975" b="1">
                <a:solidFill>
                  <a:srgbClr val="0073B9"/>
                </a:solidFill>
              </a:rPr>
              <a:t>01</a:t>
            </a:r>
          </a:p>
        </p:txBody>
      </p:sp>
      <p:sp>
        <p:nvSpPr>
          <p:cNvPr id="8" name="Rectangle 7">
            <a:extLst>
              <a:ext uri="{FF2B5EF4-FFF2-40B4-BE49-F238E27FC236}">
                <a16:creationId xmlns:a16="http://schemas.microsoft.com/office/drawing/2014/main" id="{9B2F5899-07D0-4F3F-9901-0EAE4B8C52CA}"/>
              </a:ext>
            </a:extLst>
          </p:cNvPr>
          <p:cNvSpPr>
            <a:spLocks noGrp="1"/>
          </p:cNvSpPr>
          <p:nvPr/>
        </p:nvSpPr>
        <p:spPr>
          <a:xfrm>
            <a:off x="9124950" y="2266950"/>
            <a:ext cx="2476500" cy="190500"/>
          </a:xfrm>
          <a:prstGeom prst="rect">
            <a:avLst/>
          </a:prstGeom>
          <a:noFill/>
          <a:ln w="0">
            <a:noFill/>
            <a:prstDash val="solid"/>
          </a:ln>
        </p:spPr>
        <p:txBody>
          <a:bodyPr/>
          <a:lstStyle/>
          <a:p>
            <a:pPr algn="l">
              <a:defRPr sz="1350" b="1">
                <a:solidFill>
                  <a:srgbClr val="102A43"/>
                </a:solidFill>
              </a:defRPr>
            </a:pPr>
            <a:r>
              <a:rPr sz="1350" b="1">
                <a:solidFill>
                  <a:srgbClr val="102A43"/>
                </a:solidFill>
              </a:rPr>
              <a:t>What is active?</a:t>
            </a:r>
          </a:p>
        </p:txBody>
      </p:sp>
      <p:sp>
        <p:nvSpPr>
          <p:cNvPr id="9" name="Rectangle 8">
            <a:extLst>
              <a:ext uri="{FF2B5EF4-FFF2-40B4-BE49-F238E27FC236}">
                <a16:creationId xmlns:a16="http://schemas.microsoft.com/office/drawing/2014/main" id="{79B7C739-69F5-47A1-9DB8-FDEAC1F5E14D}"/>
              </a:ext>
            </a:extLst>
          </p:cNvPr>
          <p:cNvSpPr>
            <a:spLocks noGrp="1"/>
          </p:cNvSpPr>
          <p:nvPr/>
        </p:nvSpPr>
        <p:spPr>
          <a:xfrm>
            <a:off x="9124950" y="2514600"/>
            <a:ext cx="2438400" cy="285750"/>
          </a:xfrm>
          <a:prstGeom prst="rect">
            <a:avLst/>
          </a:prstGeom>
          <a:noFill/>
          <a:ln w="0">
            <a:noFill/>
            <a:prstDash val="solid"/>
          </a:ln>
        </p:spPr>
        <p:txBody>
          <a:bodyPr/>
          <a:lstStyle/>
          <a:p>
            <a:pPr algn="l">
              <a:defRPr sz="1125" b="0">
                <a:solidFill>
                  <a:srgbClr val="526777"/>
                </a:solidFill>
              </a:defRPr>
            </a:pPr>
            <a:r>
              <a:rPr sz="1125" b="0">
                <a:solidFill>
                  <a:srgbClr val="526777"/>
                </a:solidFill>
              </a:rPr>
              <a:t>SSE step event updates the active node.</a:t>
            </a:r>
          </a:p>
        </p:txBody>
      </p:sp>
      <p:sp>
        <p:nvSpPr>
          <p:cNvPr id="10" name="Rectangle 9">
            <a:extLst>
              <a:ext uri="{FF2B5EF4-FFF2-40B4-BE49-F238E27FC236}">
                <a16:creationId xmlns:a16="http://schemas.microsoft.com/office/drawing/2014/main" id="{635F527E-9B53-447E-B406-4C1DBA0B6786}"/>
              </a:ext>
            </a:extLst>
          </p:cNvPr>
          <p:cNvSpPr>
            <a:spLocks noGrp="1"/>
          </p:cNvSpPr>
          <p:nvPr/>
        </p:nvSpPr>
        <p:spPr>
          <a:xfrm>
            <a:off x="8667750" y="2914650"/>
            <a:ext cx="342900" cy="171450"/>
          </a:xfrm>
          <a:prstGeom prst="rect">
            <a:avLst/>
          </a:prstGeom>
          <a:noFill/>
          <a:ln w="0">
            <a:noFill/>
            <a:prstDash val="solid"/>
          </a:ln>
        </p:spPr>
        <p:txBody>
          <a:bodyPr/>
          <a:lstStyle/>
          <a:p>
            <a:pPr algn="l">
              <a:defRPr sz="975" b="1">
                <a:solidFill>
                  <a:srgbClr val="F58220"/>
                </a:solidFill>
              </a:defRPr>
            </a:pPr>
            <a:r>
              <a:rPr sz="975" b="1">
                <a:solidFill>
                  <a:srgbClr val="F58220"/>
                </a:solidFill>
              </a:rPr>
              <a:t>02</a:t>
            </a:r>
          </a:p>
        </p:txBody>
      </p:sp>
      <p:sp>
        <p:nvSpPr>
          <p:cNvPr id="11" name="Rectangle 10">
            <a:extLst>
              <a:ext uri="{FF2B5EF4-FFF2-40B4-BE49-F238E27FC236}">
                <a16:creationId xmlns:a16="http://schemas.microsoft.com/office/drawing/2014/main" id="{23EA9375-1CBD-4EDE-B11B-0870363138C7}"/>
              </a:ext>
            </a:extLst>
          </p:cNvPr>
          <p:cNvSpPr>
            <a:spLocks noGrp="1"/>
          </p:cNvSpPr>
          <p:nvPr/>
        </p:nvSpPr>
        <p:spPr>
          <a:xfrm>
            <a:off x="9124950" y="2895600"/>
            <a:ext cx="2476500" cy="190500"/>
          </a:xfrm>
          <a:prstGeom prst="rect">
            <a:avLst/>
          </a:prstGeom>
          <a:noFill/>
          <a:ln w="0">
            <a:noFill/>
            <a:prstDash val="solid"/>
          </a:ln>
        </p:spPr>
        <p:txBody>
          <a:bodyPr/>
          <a:lstStyle/>
          <a:p>
            <a:pPr algn="l">
              <a:defRPr sz="1350" b="1">
                <a:solidFill>
                  <a:srgbClr val="102A43"/>
                </a:solidFill>
              </a:defRPr>
            </a:pPr>
            <a:r>
              <a:rPr sz="1350" b="1">
                <a:solidFill>
                  <a:srgbClr val="102A43"/>
                </a:solidFill>
              </a:rPr>
              <a:t>Why did it decide?</a:t>
            </a:r>
          </a:p>
        </p:txBody>
      </p:sp>
      <p:sp>
        <p:nvSpPr>
          <p:cNvPr id="12" name="Rectangle 11">
            <a:extLst>
              <a:ext uri="{FF2B5EF4-FFF2-40B4-BE49-F238E27FC236}">
                <a16:creationId xmlns:a16="http://schemas.microsoft.com/office/drawing/2014/main" id="{EF2E9595-3D93-4EFB-97EC-9BD9EDD154E1}"/>
              </a:ext>
            </a:extLst>
          </p:cNvPr>
          <p:cNvSpPr>
            <a:spLocks noGrp="1"/>
          </p:cNvSpPr>
          <p:nvPr/>
        </p:nvSpPr>
        <p:spPr>
          <a:xfrm>
            <a:off x="9124950" y="3143250"/>
            <a:ext cx="2438400" cy="285750"/>
          </a:xfrm>
          <a:prstGeom prst="rect">
            <a:avLst/>
          </a:prstGeom>
          <a:noFill/>
          <a:ln w="0">
            <a:noFill/>
            <a:prstDash val="solid"/>
          </a:ln>
        </p:spPr>
        <p:txBody>
          <a:bodyPr/>
          <a:lstStyle/>
          <a:p>
            <a:pPr algn="l">
              <a:defRPr sz="1125" b="0">
                <a:solidFill>
                  <a:srgbClr val="526777"/>
                </a:solidFill>
              </a:defRPr>
            </a:pPr>
            <a:r>
              <a:rPr sz="1125" b="0">
                <a:solidFill>
                  <a:srgbClr val="526777"/>
                </a:solidFill>
              </a:rPr>
              <a:t>History exposes decision + rationale.</a:t>
            </a:r>
          </a:p>
        </p:txBody>
      </p:sp>
      <p:sp>
        <p:nvSpPr>
          <p:cNvPr id="13" name="Rectangle 12">
            <a:extLst>
              <a:ext uri="{FF2B5EF4-FFF2-40B4-BE49-F238E27FC236}">
                <a16:creationId xmlns:a16="http://schemas.microsoft.com/office/drawing/2014/main" id="{24F5A853-4249-4CCF-BCA1-26E659C31EEA}"/>
              </a:ext>
            </a:extLst>
          </p:cNvPr>
          <p:cNvSpPr>
            <a:spLocks noGrp="1"/>
          </p:cNvSpPr>
          <p:nvPr/>
        </p:nvSpPr>
        <p:spPr>
          <a:xfrm>
            <a:off x="8667750" y="3543300"/>
            <a:ext cx="342900" cy="171450"/>
          </a:xfrm>
          <a:prstGeom prst="rect">
            <a:avLst/>
          </a:prstGeom>
          <a:noFill/>
          <a:ln w="0">
            <a:noFill/>
            <a:prstDash val="solid"/>
          </a:ln>
        </p:spPr>
        <p:txBody>
          <a:bodyPr/>
          <a:lstStyle/>
          <a:p>
            <a:pPr algn="l">
              <a:defRPr sz="975" b="1">
                <a:solidFill>
                  <a:srgbClr val="159947"/>
                </a:solidFill>
              </a:defRPr>
            </a:pPr>
            <a:r>
              <a:rPr sz="975" b="1">
                <a:solidFill>
                  <a:srgbClr val="159947"/>
                </a:solidFill>
              </a:rPr>
              <a:t>03</a:t>
            </a:r>
          </a:p>
        </p:txBody>
      </p:sp>
      <p:sp>
        <p:nvSpPr>
          <p:cNvPr id="14" name="Rectangle 13">
            <a:extLst>
              <a:ext uri="{FF2B5EF4-FFF2-40B4-BE49-F238E27FC236}">
                <a16:creationId xmlns:a16="http://schemas.microsoft.com/office/drawing/2014/main" id="{A8DB166C-18AE-44C4-A04C-7003CDBEC9CD}"/>
              </a:ext>
            </a:extLst>
          </p:cNvPr>
          <p:cNvSpPr>
            <a:spLocks noGrp="1"/>
          </p:cNvSpPr>
          <p:nvPr/>
        </p:nvSpPr>
        <p:spPr>
          <a:xfrm>
            <a:off x="9124950" y="3524250"/>
            <a:ext cx="2476500" cy="190500"/>
          </a:xfrm>
          <a:prstGeom prst="rect">
            <a:avLst/>
          </a:prstGeom>
          <a:noFill/>
          <a:ln w="0">
            <a:noFill/>
            <a:prstDash val="solid"/>
          </a:ln>
        </p:spPr>
        <p:txBody>
          <a:bodyPr/>
          <a:lstStyle/>
          <a:p>
            <a:pPr algn="l">
              <a:defRPr sz="1350" b="1">
                <a:solidFill>
                  <a:srgbClr val="102A43"/>
                </a:solidFill>
              </a:defRPr>
            </a:pPr>
            <a:r>
              <a:rPr sz="1350" b="1">
                <a:solidFill>
                  <a:srgbClr val="102A43"/>
                </a:solidFill>
              </a:rPr>
              <a:t>What evidence was used?</a:t>
            </a:r>
          </a:p>
        </p:txBody>
      </p:sp>
      <p:sp>
        <p:nvSpPr>
          <p:cNvPr id="15" name="Rectangle 14">
            <a:extLst>
              <a:ext uri="{FF2B5EF4-FFF2-40B4-BE49-F238E27FC236}">
                <a16:creationId xmlns:a16="http://schemas.microsoft.com/office/drawing/2014/main" id="{7CB488AF-231E-46EE-92E3-4A28FD0BFE9D}"/>
              </a:ext>
            </a:extLst>
          </p:cNvPr>
          <p:cNvSpPr>
            <a:spLocks noGrp="1"/>
          </p:cNvSpPr>
          <p:nvPr/>
        </p:nvSpPr>
        <p:spPr>
          <a:xfrm>
            <a:off x="9124950" y="3771900"/>
            <a:ext cx="2438400" cy="285750"/>
          </a:xfrm>
          <a:prstGeom prst="rect">
            <a:avLst/>
          </a:prstGeom>
          <a:noFill/>
          <a:ln w="0">
            <a:noFill/>
            <a:prstDash val="solid"/>
          </a:ln>
        </p:spPr>
        <p:txBody>
          <a:bodyPr/>
          <a:lstStyle/>
          <a:p>
            <a:pPr algn="l">
              <a:defRPr sz="1125" b="0">
                <a:solidFill>
                  <a:srgbClr val="526777"/>
                </a:solidFill>
              </a:defRPr>
            </a:pPr>
            <a:r>
              <a:rPr sz="1125" b="0">
                <a:solidFill>
                  <a:srgbClr val="526777"/>
                </a:solidFill>
              </a:rPr>
              <a:t>Tool calls and confidence travel with the result.</a:t>
            </a:r>
          </a:p>
        </p:txBody>
      </p:sp>
      <p:sp>
        <p:nvSpPr>
          <p:cNvPr id="16" name="Rectangle 15">
            <a:extLst>
              <a:ext uri="{FF2B5EF4-FFF2-40B4-BE49-F238E27FC236}">
                <a16:creationId xmlns:a16="http://schemas.microsoft.com/office/drawing/2014/main" id="{701F07EC-54CA-4CD9-AE1F-DE420E393D3C}"/>
              </a:ext>
            </a:extLst>
          </p:cNvPr>
          <p:cNvSpPr>
            <a:spLocks noGrp="1"/>
          </p:cNvSpPr>
          <p:nvPr/>
        </p:nvSpPr>
        <p:spPr>
          <a:xfrm>
            <a:off x="8667750" y="4171950"/>
            <a:ext cx="342900" cy="171450"/>
          </a:xfrm>
          <a:prstGeom prst="rect">
            <a:avLst/>
          </a:prstGeom>
          <a:noFill/>
          <a:ln w="0">
            <a:noFill/>
            <a:prstDash val="solid"/>
          </a:ln>
        </p:spPr>
        <p:txBody>
          <a:bodyPr/>
          <a:lstStyle/>
          <a:p>
            <a:pPr algn="l">
              <a:defRPr sz="975" b="1">
                <a:solidFill>
                  <a:srgbClr val="0073B9"/>
                </a:solidFill>
              </a:defRPr>
            </a:pPr>
            <a:r>
              <a:rPr sz="975" b="1">
                <a:solidFill>
                  <a:srgbClr val="0073B9"/>
                </a:solidFill>
              </a:rPr>
              <a:t>04</a:t>
            </a:r>
          </a:p>
        </p:txBody>
      </p:sp>
      <p:sp>
        <p:nvSpPr>
          <p:cNvPr id="17" name="Rectangle 16">
            <a:extLst>
              <a:ext uri="{FF2B5EF4-FFF2-40B4-BE49-F238E27FC236}">
                <a16:creationId xmlns:a16="http://schemas.microsoft.com/office/drawing/2014/main" id="{4E6D581F-6A69-4CAF-B0BD-F8B0C1845B4A}"/>
              </a:ext>
            </a:extLst>
          </p:cNvPr>
          <p:cNvSpPr>
            <a:spLocks noGrp="1"/>
          </p:cNvSpPr>
          <p:nvPr/>
        </p:nvSpPr>
        <p:spPr>
          <a:xfrm>
            <a:off x="9124950" y="4152900"/>
            <a:ext cx="2476500" cy="190500"/>
          </a:xfrm>
          <a:prstGeom prst="rect">
            <a:avLst/>
          </a:prstGeom>
          <a:noFill/>
          <a:ln w="0">
            <a:noFill/>
            <a:prstDash val="solid"/>
          </a:ln>
        </p:spPr>
        <p:txBody>
          <a:bodyPr/>
          <a:lstStyle/>
          <a:p>
            <a:pPr algn="l">
              <a:defRPr sz="1350" b="1">
                <a:solidFill>
                  <a:srgbClr val="102A43"/>
                </a:solidFill>
              </a:defRPr>
            </a:pPr>
            <a:r>
              <a:rPr sz="1350" b="1">
                <a:solidFill>
                  <a:srgbClr val="102A43"/>
                </a:solidFill>
              </a:rPr>
              <a:t>What happens next?</a:t>
            </a:r>
          </a:p>
        </p:txBody>
      </p:sp>
      <p:sp>
        <p:nvSpPr>
          <p:cNvPr id="18" name="Rectangle 17">
            <a:extLst>
              <a:ext uri="{FF2B5EF4-FFF2-40B4-BE49-F238E27FC236}">
                <a16:creationId xmlns:a16="http://schemas.microsoft.com/office/drawing/2014/main" id="{AC68AADC-4581-4186-9B17-2F917CA664B8}"/>
              </a:ext>
            </a:extLst>
          </p:cNvPr>
          <p:cNvSpPr>
            <a:spLocks noGrp="1"/>
          </p:cNvSpPr>
          <p:nvPr/>
        </p:nvSpPr>
        <p:spPr>
          <a:xfrm>
            <a:off x="9124950" y="4400550"/>
            <a:ext cx="2438400" cy="285750"/>
          </a:xfrm>
          <a:prstGeom prst="rect">
            <a:avLst/>
          </a:prstGeom>
          <a:noFill/>
          <a:ln w="0">
            <a:noFill/>
            <a:prstDash val="solid"/>
          </a:ln>
        </p:spPr>
        <p:txBody>
          <a:bodyPr/>
          <a:lstStyle/>
          <a:p>
            <a:pPr algn="l">
              <a:defRPr sz="1125" b="0">
                <a:solidFill>
                  <a:srgbClr val="526777"/>
                </a:solidFill>
              </a:defRPr>
            </a:pPr>
            <a:r>
              <a:rPr sz="1125" b="0">
                <a:solidFill>
                  <a:srgbClr val="526777"/>
                </a:solidFill>
              </a:rPr>
              <a:t>LangGraph planned transition, not a hardcoded display.</a:t>
            </a:r>
          </a:p>
        </p:txBody>
      </p:sp>
      <p:sp>
        <p:nvSpPr>
          <p:cNvPr id="19" name="Rectangle 18">
            <a:extLst>
              <a:ext uri="{FF2B5EF4-FFF2-40B4-BE49-F238E27FC236}">
                <a16:creationId xmlns:a16="http://schemas.microsoft.com/office/drawing/2014/main" id="{E65240B5-F7BF-48AF-A00B-A7002FF109E2}"/>
              </a:ext>
            </a:extLst>
          </p:cNvPr>
          <p:cNvSpPr>
            <a:spLocks noGrp="1"/>
          </p:cNvSpPr>
          <p:nvPr/>
        </p:nvSpPr>
        <p:spPr>
          <a:xfrm>
            <a:off x="8667750" y="4800600"/>
            <a:ext cx="342900" cy="171450"/>
          </a:xfrm>
          <a:prstGeom prst="rect">
            <a:avLst/>
          </a:prstGeom>
          <a:noFill/>
          <a:ln w="0">
            <a:noFill/>
            <a:prstDash val="solid"/>
          </a:ln>
        </p:spPr>
        <p:txBody>
          <a:bodyPr/>
          <a:lstStyle/>
          <a:p>
            <a:pPr algn="l">
              <a:defRPr sz="975" b="1">
                <a:solidFill>
                  <a:srgbClr val="F58220"/>
                </a:solidFill>
              </a:defRPr>
            </a:pPr>
            <a:r>
              <a:rPr sz="975" b="1">
                <a:solidFill>
                  <a:srgbClr val="F58220"/>
                </a:solidFill>
              </a:rPr>
              <a:t>05</a:t>
            </a:r>
          </a:p>
        </p:txBody>
      </p:sp>
      <p:sp>
        <p:nvSpPr>
          <p:cNvPr id="20" name="Rectangle 19">
            <a:extLst>
              <a:ext uri="{FF2B5EF4-FFF2-40B4-BE49-F238E27FC236}">
                <a16:creationId xmlns:a16="http://schemas.microsoft.com/office/drawing/2014/main" id="{24CD50E7-97FE-49A7-8BC5-BF15C9C79857}"/>
              </a:ext>
            </a:extLst>
          </p:cNvPr>
          <p:cNvSpPr>
            <a:spLocks noGrp="1"/>
          </p:cNvSpPr>
          <p:nvPr/>
        </p:nvSpPr>
        <p:spPr>
          <a:xfrm>
            <a:off x="9124950" y="4781550"/>
            <a:ext cx="2476500" cy="190500"/>
          </a:xfrm>
          <a:prstGeom prst="rect">
            <a:avLst/>
          </a:prstGeom>
          <a:noFill/>
          <a:ln w="0">
            <a:noFill/>
            <a:prstDash val="solid"/>
          </a:ln>
        </p:spPr>
        <p:txBody>
          <a:bodyPr/>
          <a:lstStyle/>
          <a:p>
            <a:pPr algn="l">
              <a:defRPr sz="1350" b="1">
                <a:solidFill>
                  <a:srgbClr val="102A43"/>
                </a:solidFill>
              </a:defRPr>
            </a:pPr>
            <a:r>
              <a:rPr sz="1350" b="1">
                <a:solidFill>
                  <a:srgbClr val="102A43"/>
                </a:solidFill>
              </a:rPr>
              <a:t>When must I act?</a:t>
            </a:r>
          </a:p>
        </p:txBody>
      </p:sp>
      <p:sp>
        <p:nvSpPr>
          <p:cNvPr id="21" name="Rectangle 20">
            <a:extLst>
              <a:ext uri="{FF2B5EF4-FFF2-40B4-BE49-F238E27FC236}">
                <a16:creationId xmlns:a16="http://schemas.microsoft.com/office/drawing/2014/main" id="{CE119ABB-2EDF-4620-8C2D-0153C6467E93}"/>
              </a:ext>
            </a:extLst>
          </p:cNvPr>
          <p:cNvSpPr>
            <a:spLocks noGrp="1"/>
          </p:cNvSpPr>
          <p:nvPr/>
        </p:nvSpPr>
        <p:spPr>
          <a:xfrm>
            <a:off x="9124950" y="5029200"/>
            <a:ext cx="2438400" cy="285750"/>
          </a:xfrm>
          <a:prstGeom prst="rect">
            <a:avLst/>
          </a:prstGeom>
          <a:noFill/>
          <a:ln w="0">
            <a:noFill/>
            <a:prstDash val="solid"/>
          </a:ln>
        </p:spPr>
        <p:txBody>
          <a:bodyPr/>
          <a:lstStyle/>
          <a:p>
            <a:pPr algn="l">
              <a:defRPr sz="1125" b="0">
                <a:solidFill>
                  <a:srgbClr val="526777"/>
                </a:solidFill>
              </a:defRPr>
            </a:pPr>
            <a:r>
              <a:rPr sz="1125" b="0">
                <a:solidFill>
                  <a:srgbClr val="526777"/>
                </a:solidFill>
              </a:rPr>
              <a:t>Interrupt state reveals review reasons and controls.</a:t>
            </a:r>
          </a:p>
        </p:txBody>
      </p:sp>
      <p:sp>
        <p:nvSpPr>
          <p:cNvPr id="22" name="Rectangle 21">
            <a:extLst>
              <a:ext uri="{FF2B5EF4-FFF2-40B4-BE49-F238E27FC236}">
                <a16:creationId xmlns:a16="http://schemas.microsoft.com/office/drawing/2014/main" id="{DBB80CAD-6162-44B7-91EE-BCFAB88AF810}"/>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23" name="Rectangle 22">
            <a:extLst>
              <a:ext uri="{FF2B5EF4-FFF2-40B4-BE49-F238E27FC236}">
                <a16:creationId xmlns:a16="http://schemas.microsoft.com/office/drawing/2014/main" id="{8CAD7DDF-0627-480B-A099-602A3F53373E}"/>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24" name="Rectangle 23">
            <a:extLst>
              <a:ext uri="{FF2B5EF4-FFF2-40B4-BE49-F238E27FC236}">
                <a16:creationId xmlns:a16="http://schemas.microsoft.com/office/drawing/2014/main" id="{68BE2AB0-AFE4-4655-890A-99C76A9BF954}"/>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07</a:t>
            </a:r>
          </a:p>
        </p:txBody>
      </p:sp>
    </p:spTree>
    <p:extLst>
      <p:ext uri="{BB962C8B-B14F-4D97-AF65-F5344CB8AC3E}">
        <p14:creationId xmlns:p14="http://schemas.microsoft.com/office/powerpoint/2010/main" val="41994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52AA075-0100-4EA1-A5B2-5683715E9033}"/>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DECISION 6 — EVALUATION AND INSTRUMENTATION</a:t>
            </a:r>
          </a:p>
        </p:txBody>
      </p:sp>
      <p:sp>
        <p:nvSpPr>
          <p:cNvPr id="2" name="Rectangle 1">
            <a:extLst>
              <a:ext uri="{FF2B5EF4-FFF2-40B4-BE49-F238E27FC236}">
                <a16:creationId xmlns:a16="http://schemas.microsoft.com/office/drawing/2014/main" id="{9537E66D-19C8-4945-947F-A98220FC40C0}"/>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I measure whether the decision system behaves safely and predictably</a:t>
            </a:r>
          </a:p>
        </p:txBody>
      </p:sp>
      <p:sp>
        <p:nvSpPr>
          <p:cNvPr id="4" name="Rectangle 3">
            <a:extLst>
              <a:ext uri="{FF2B5EF4-FFF2-40B4-BE49-F238E27FC236}">
                <a16:creationId xmlns:a16="http://schemas.microsoft.com/office/drawing/2014/main" id="{B478AF1A-2362-4360-933D-0ECE8A4B6968}"/>
              </a:ext>
            </a:extLst>
          </p:cNvPr>
          <p:cNvSpPr>
            <a:spLocks noGrp="1"/>
          </p:cNvSpPr>
          <p:nvPr/>
        </p:nvSpPr>
        <p:spPr>
          <a:xfrm>
            <a:off x="533400" y="1277387"/>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Rounded Corners 4">
            <a:extLst>
              <a:ext uri="{FF2B5EF4-FFF2-40B4-BE49-F238E27FC236}">
                <a16:creationId xmlns:a16="http://schemas.microsoft.com/office/drawing/2014/main" id="{DB9E0E8B-5BBC-48ED-86ED-20FB66B840CF}"/>
              </a:ext>
            </a:extLst>
          </p:cNvPr>
          <p:cNvSpPr>
            <a:spLocks noGrp="1"/>
          </p:cNvSpPr>
          <p:nvPr/>
        </p:nvSpPr>
        <p:spPr>
          <a:xfrm>
            <a:off x="609600" y="2247900"/>
            <a:ext cx="10972800" cy="704850"/>
          </a:xfrm>
          <a:prstGeom prst="roundRect">
            <a:avLst>
              <a:gd name="adj" fmla="val 10811"/>
            </a:avLst>
          </a:prstGeom>
          <a:solidFill>
            <a:srgbClr val="FFFFFF"/>
          </a:solidFill>
          <a:ln w="9525">
            <a:solidFill>
              <a:srgbClr val="D7E1E8"/>
            </a:solidFill>
            <a:prstDash val="solid"/>
          </a:ln>
        </p:spPr>
        <p:txBody>
          <a:bodyPr/>
          <a:lstStyle/>
          <a:p>
            <a:endParaRPr lang="en-US"/>
          </a:p>
        </p:txBody>
      </p:sp>
      <p:sp>
        <p:nvSpPr>
          <p:cNvPr id="6" name="Rectangle 5">
            <a:extLst>
              <a:ext uri="{FF2B5EF4-FFF2-40B4-BE49-F238E27FC236}">
                <a16:creationId xmlns:a16="http://schemas.microsoft.com/office/drawing/2014/main" id="{10F85468-D9A8-4932-B4A7-B279FA6971A0}"/>
              </a:ext>
            </a:extLst>
          </p:cNvPr>
          <p:cNvSpPr>
            <a:spLocks noGrp="1"/>
          </p:cNvSpPr>
          <p:nvPr/>
        </p:nvSpPr>
        <p:spPr>
          <a:xfrm>
            <a:off x="609600" y="2247900"/>
            <a:ext cx="66675" cy="704850"/>
          </a:xfrm>
          <a:prstGeom prst="rect">
            <a:avLst/>
          </a:prstGeom>
          <a:solidFill>
            <a:srgbClr val="159947"/>
          </a:solidFill>
          <a:ln w="0">
            <a:solidFill>
              <a:srgbClr val="159947"/>
            </a:solidFill>
            <a:prstDash val="solid"/>
          </a:ln>
        </p:spPr>
        <p:txBody>
          <a:bodyPr/>
          <a:lstStyle/>
          <a:p>
            <a:endParaRPr lang="en-US"/>
          </a:p>
        </p:txBody>
      </p:sp>
      <p:sp>
        <p:nvSpPr>
          <p:cNvPr id="7" name="Rectangle 6">
            <a:extLst>
              <a:ext uri="{FF2B5EF4-FFF2-40B4-BE49-F238E27FC236}">
                <a16:creationId xmlns:a16="http://schemas.microsoft.com/office/drawing/2014/main" id="{5F3B1FDE-237F-4E28-9F25-272699CE0FF0}"/>
              </a:ext>
            </a:extLst>
          </p:cNvPr>
          <p:cNvSpPr>
            <a:spLocks noGrp="1"/>
          </p:cNvSpPr>
          <p:nvPr/>
        </p:nvSpPr>
        <p:spPr>
          <a:xfrm>
            <a:off x="876300" y="2390775"/>
            <a:ext cx="2324100" cy="209550"/>
          </a:xfrm>
          <a:prstGeom prst="rect">
            <a:avLst/>
          </a:prstGeom>
          <a:noFill/>
          <a:ln w="0">
            <a:noFill/>
            <a:prstDash val="solid"/>
          </a:ln>
        </p:spPr>
        <p:txBody>
          <a:bodyPr/>
          <a:lstStyle/>
          <a:p>
            <a:pPr algn="l">
              <a:defRPr sz="1350" b="1">
                <a:solidFill>
                  <a:srgbClr val="102A43"/>
                </a:solidFill>
              </a:defRPr>
            </a:pPr>
            <a:r>
              <a:rPr sz="1350" b="1">
                <a:solidFill>
                  <a:srgbClr val="102A43"/>
                </a:solidFill>
              </a:rPr>
              <a:t>Deterministic regression</a:t>
            </a:r>
          </a:p>
        </p:txBody>
      </p:sp>
      <p:sp>
        <p:nvSpPr>
          <p:cNvPr id="8" name="Rectangle 7">
            <a:extLst>
              <a:ext uri="{FF2B5EF4-FFF2-40B4-BE49-F238E27FC236}">
                <a16:creationId xmlns:a16="http://schemas.microsoft.com/office/drawing/2014/main" id="{5ED00A47-16A6-4E13-8947-02E7FB6FE206}"/>
              </a:ext>
            </a:extLst>
          </p:cNvPr>
          <p:cNvSpPr>
            <a:spLocks noGrp="1"/>
          </p:cNvSpPr>
          <p:nvPr/>
        </p:nvSpPr>
        <p:spPr>
          <a:xfrm>
            <a:off x="3429000" y="2390775"/>
            <a:ext cx="4533900" cy="381000"/>
          </a:xfrm>
          <a:prstGeom prst="rect">
            <a:avLst/>
          </a:prstGeom>
          <a:noFill/>
          <a:ln w="0">
            <a:noFill/>
            <a:prstDash val="solid"/>
          </a:ln>
        </p:spPr>
        <p:txBody>
          <a:bodyPr/>
          <a:lstStyle/>
          <a:p>
            <a:pPr algn="l">
              <a:defRPr sz="1200" b="0">
                <a:solidFill>
                  <a:srgbClr val="526777"/>
                </a:solidFill>
              </a:defRPr>
            </a:pPr>
            <a:r>
              <a:rPr sz="1200" b="0">
                <a:solidFill>
                  <a:srgbClr val="526777"/>
                </a:solidFill>
              </a:rPr>
              <a:t>15-report golden set asserts OOS, roadable/fit, terminal route, and all six human pauses.</a:t>
            </a:r>
          </a:p>
        </p:txBody>
      </p:sp>
      <p:sp>
        <p:nvSpPr>
          <p:cNvPr id="9" name="Rectangle 8">
            <a:extLst>
              <a:ext uri="{FF2B5EF4-FFF2-40B4-BE49-F238E27FC236}">
                <a16:creationId xmlns:a16="http://schemas.microsoft.com/office/drawing/2014/main" id="{6A4BE122-94D0-42AA-84AF-5489B7112FA9}"/>
              </a:ext>
            </a:extLst>
          </p:cNvPr>
          <p:cNvSpPr>
            <a:spLocks noGrp="1"/>
          </p:cNvSpPr>
          <p:nvPr/>
        </p:nvSpPr>
        <p:spPr>
          <a:xfrm>
            <a:off x="8229600" y="2390775"/>
            <a:ext cx="2990850" cy="381000"/>
          </a:xfrm>
          <a:prstGeom prst="rect">
            <a:avLst/>
          </a:prstGeom>
          <a:noFill/>
          <a:ln w="0">
            <a:noFill/>
            <a:prstDash val="solid"/>
          </a:ln>
        </p:spPr>
        <p:txBody>
          <a:bodyPr/>
          <a:lstStyle/>
          <a:p>
            <a:pPr algn="l">
              <a:defRPr sz="1200" b="1">
                <a:solidFill>
                  <a:srgbClr val="159947"/>
                </a:solidFill>
              </a:defRPr>
            </a:pPr>
            <a:r>
              <a:rPr sz="1200" b="1">
                <a:solidFill>
                  <a:srgbClr val="159947"/>
                </a:solidFill>
              </a:rPr>
              <a:t>Why: rule changes cannot silently break safety policy.</a:t>
            </a:r>
          </a:p>
        </p:txBody>
      </p:sp>
      <p:sp>
        <p:nvSpPr>
          <p:cNvPr id="10" name="Rectangle: Rounded Corners 9">
            <a:extLst>
              <a:ext uri="{FF2B5EF4-FFF2-40B4-BE49-F238E27FC236}">
                <a16:creationId xmlns:a16="http://schemas.microsoft.com/office/drawing/2014/main" id="{72AF9320-AF22-4012-BB87-86E7E380B1EC}"/>
              </a:ext>
            </a:extLst>
          </p:cNvPr>
          <p:cNvSpPr>
            <a:spLocks noGrp="1"/>
          </p:cNvSpPr>
          <p:nvPr/>
        </p:nvSpPr>
        <p:spPr>
          <a:xfrm>
            <a:off x="609600" y="3143250"/>
            <a:ext cx="10972800" cy="704850"/>
          </a:xfrm>
          <a:prstGeom prst="roundRect">
            <a:avLst>
              <a:gd name="adj" fmla="val 10811"/>
            </a:avLst>
          </a:prstGeom>
          <a:solidFill>
            <a:srgbClr val="FFFFFF"/>
          </a:solidFill>
          <a:ln w="9525">
            <a:solidFill>
              <a:srgbClr val="D7E1E8"/>
            </a:solidFill>
            <a:prstDash val="solid"/>
          </a:ln>
        </p:spPr>
        <p:txBody>
          <a:bodyPr/>
          <a:lstStyle/>
          <a:p>
            <a:endParaRPr lang="en-US"/>
          </a:p>
        </p:txBody>
      </p:sp>
      <p:sp>
        <p:nvSpPr>
          <p:cNvPr id="11" name="Rectangle 10">
            <a:extLst>
              <a:ext uri="{FF2B5EF4-FFF2-40B4-BE49-F238E27FC236}">
                <a16:creationId xmlns:a16="http://schemas.microsoft.com/office/drawing/2014/main" id="{31D69330-0131-47DC-B319-EC56C5B9F9FC}"/>
              </a:ext>
            </a:extLst>
          </p:cNvPr>
          <p:cNvSpPr>
            <a:spLocks noGrp="1"/>
          </p:cNvSpPr>
          <p:nvPr/>
        </p:nvSpPr>
        <p:spPr>
          <a:xfrm>
            <a:off x="609600" y="3143250"/>
            <a:ext cx="66675" cy="704850"/>
          </a:xfrm>
          <a:prstGeom prst="rect">
            <a:avLst/>
          </a:prstGeom>
          <a:solidFill>
            <a:srgbClr val="F58220"/>
          </a:solidFill>
          <a:ln w="0">
            <a:solidFill>
              <a:srgbClr val="F58220"/>
            </a:solidFill>
            <a:prstDash val="solid"/>
          </a:ln>
        </p:spPr>
        <p:txBody>
          <a:bodyPr/>
          <a:lstStyle/>
          <a:p>
            <a:endParaRPr lang="en-US"/>
          </a:p>
        </p:txBody>
      </p:sp>
      <p:sp>
        <p:nvSpPr>
          <p:cNvPr id="12" name="Rectangle 11">
            <a:extLst>
              <a:ext uri="{FF2B5EF4-FFF2-40B4-BE49-F238E27FC236}">
                <a16:creationId xmlns:a16="http://schemas.microsoft.com/office/drawing/2014/main" id="{C7E400C6-508C-42C5-AA78-E71126D580EE}"/>
              </a:ext>
            </a:extLst>
          </p:cNvPr>
          <p:cNvSpPr>
            <a:spLocks noGrp="1"/>
          </p:cNvSpPr>
          <p:nvPr/>
        </p:nvSpPr>
        <p:spPr>
          <a:xfrm>
            <a:off x="876300" y="3286125"/>
            <a:ext cx="2324100" cy="209550"/>
          </a:xfrm>
          <a:prstGeom prst="rect">
            <a:avLst/>
          </a:prstGeom>
          <a:noFill/>
          <a:ln w="0">
            <a:noFill/>
            <a:prstDash val="solid"/>
          </a:ln>
        </p:spPr>
        <p:txBody>
          <a:bodyPr/>
          <a:lstStyle/>
          <a:p>
            <a:pPr algn="l">
              <a:defRPr sz="1350" b="1">
                <a:solidFill>
                  <a:srgbClr val="102A43"/>
                </a:solidFill>
              </a:defRPr>
            </a:pPr>
            <a:r>
              <a:rPr sz="1350" b="1">
                <a:solidFill>
                  <a:srgbClr val="102A43"/>
                </a:solidFill>
              </a:rPr>
              <a:t>LLM contract check</a:t>
            </a:r>
          </a:p>
        </p:txBody>
      </p:sp>
      <p:sp>
        <p:nvSpPr>
          <p:cNvPr id="13" name="Rectangle 12">
            <a:extLst>
              <a:ext uri="{FF2B5EF4-FFF2-40B4-BE49-F238E27FC236}">
                <a16:creationId xmlns:a16="http://schemas.microsoft.com/office/drawing/2014/main" id="{561C4663-5A9F-4DE9-9F12-46A77FC6359E}"/>
              </a:ext>
            </a:extLst>
          </p:cNvPr>
          <p:cNvSpPr>
            <a:spLocks noGrp="1"/>
          </p:cNvSpPr>
          <p:nvPr/>
        </p:nvSpPr>
        <p:spPr>
          <a:xfrm>
            <a:off x="3429000" y="3286125"/>
            <a:ext cx="4533900" cy="381000"/>
          </a:xfrm>
          <a:prstGeom prst="rect">
            <a:avLst/>
          </a:prstGeom>
          <a:noFill/>
          <a:ln w="0">
            <a:noFill/>
            <a:prstDash val="solid"/>
          </a:ln>
        </p:spPr>
        <p:txBody>
          <a:bodyPr/>
          <a:lstStyle/>
          <a:p>
            <a:pPr algn="l">
              <a:defRPr sz="1200" b="0">
                <a:solidFill>
                  <a:srgbClr val="526777"/>
                </a:solidFill>
              </a:defRPr>
            </a:pPr>
            <a:r>
              <a:rPr sz="1200" b="0">
                <a:solidFill>
                  <a:srgbClr val="526777"/>
                </a:solidFill>
              </a:rPr>
              <a:t>Stub and Bedrock assessor must emit the same validated Assessment schema.</a:t>
            </a:r>
          </a:p>
        </p:txBody>
      </p:sp>
      <p:sp>
        <p:nvSpPr>
          <p:cNvPr id="14" name="Rectangle 13">
            <a:extLst>
              <a:ext uri="{FF2B5EF4-FFF2-40B4-BE49-F238E27FC236}">
                <a16:creationId xmlns:a16="http://schemas.microsoft.com/office/drawing/2014/main" id="{DC37FD27-6452-4C04-90C3-D3C3F7A9C55F}"/>
              </a:ext>
            </a:extLst>
          </p:cNvPr>
          <p:cNvSpPr>
            <a:spLocks noGrp="1"/>
          </p:cNvSpPr>
          <p:nvPr/>
        </p:nvSpPr>
        <p:spPr>
          <a:xfrm>
            <a:off x="8229600" y="3286125"/>
            <a:ext cx="2990850" cy="381000"/>
          </a:xfrm>
          <a:prstGeom prst="rect">
            <a:avLst/>
          </a:prstGeom>
          <a:noFill/>
          <a:ln w="0">
            <a:noFill/>
            <a:prstDash val="solid"/>
          </a:ln>
        </p:spPr>
        <p:txBody>
          <a:bodyPr/>
          <a:lstStyle/>
          <a:p>
            <a:pPr algn="l">
              <a:defRPr sz="1200" b="1">
                <a:solidFill>
                  <a:srgbClr val="F58220"/>
                </a:solidFill>
              </a:defRPr>
            </a:pPr>
            <a:r>
              <a:rPr sz="1200" b="1">
                <a:solidFill>
                  <a:srgbClr val="F58220"/>
                </a:solidFill>
              </a:rPr>
              <a:t>Why: the model is swappable without changing the graph.</a:t>
            </a:r>
          </a:p>
        </p:txBody>
      </p:sp>
      <p:sp>
        <p:nvSpPr>
          <p:cNvPr id="15" name="Rectangle: Rounded Corners 14">
            <a:extLst>
              <a:ext uri="{FF2B5EF4-FFF2-40B4-BE49-F238E27FC236}">
                <a16:creationId xmlns:a16="http://schemas.microsoft.com/office/drawing/2014/main" id="{4595879E-A72D-4F3F-B56F-3F8CCC674723}"/>
              </a:ext>
            </a:extLst>
          </p:cNvPr>
          <p:cNvSpPr>
            <a:spLocks noGrp="1"/>
          </p:cNvSpPr>
          <p:nvPr/>
        </p:nvSpPr>
        <p:spPr>
          <a:xfrm>
            <a:off x="609600" y="4038600"/>
            <a:ext cx="10972800" cy="704850"/>
          </a:xfrm>
          <a:prstGeom prst="roundRect">
            <a:avLst>
              <a:gd name="adj" fmla="val 10811"/>
            </a:avLst>
          </a:prstGeom>
          <a:solidFill>
            <a:srgbClr val="FFFFFF"/>
          </a:solidFill>
          <a:ln w="9525">
            <a:solidFill>
              <a:srgbClr val="D7E1E8"/>
            </a:solidFill>
            <a:prstDash val="solid"/>
          </a:ln>
        </p:spPr>
        <p:txBody>
          <a:bodyPr/>
          <a:lstStyle/>
          <a:p>
            <a:endParaRPr lang="en-US"/>
          </a:p>
        </p:txBody>
      </p:sp>
      <p:sp>
        <p:nvSpPr>
          <p:cNvPr id="16" name="Rectangle 15">
            <a:extLst>
              <a:ext uri="{FF2B5EF4-FFF2-40B4-BE49-F238E27FC236}">
                <a16:creationId xmlns:a16="http://schemas.microsoft.com/office/drawing/2014/main" id="{2608B79C-87DC-4139-8669-53309158F827}"/>
              </a:ext>
            </a:extLst>
          </p:cNvPr>
          <p:cNvSpPr>
            <a:spLocks noGrp="1"/>
          </p:cNvSpPr>
          <p:nvPr/>
        </p:nvSpPr>
        <p:spPr>
          <a:xfrm>
            <a:off x="609600" y="4038600"/>
            <a:ext cx="66675" cy="704850"/>
          </a:xfrm>
          <a:prstGeom prst="rect">
            <a:avLst/>
          </a:prstGeom>
          <a:solidFill>
            <a:srgbClr val="0073B9"/>
          </a:solidFill>
          <a:ln w="0">
            <a:solidFill>
              <a:srgbClr val="0073B9"/>
            </a:solidFill>
            <a:prstDash val="solid"/>
          </a:ln>
        </p:spPr>
        <p:txBody>
          <a:bodyPr/>
          <a:lstStyle/>
          <a:p>
            <a:endParaRPr lang="en-US"/>
          </a:p>
        </p:txBody>
      </p:sp>
      <p:sp>
        <p:nvSpPr>
          <p:cNvPr id="17" name="Rectangle 16">
            <a:extLst>
              <a:ext uri="{FF2B5EF4-FFF2-40B4-BE49-F238E27FC236}">
                <a16:creationId xmlns:a16="http://schemas.microsoft.com/office/drawing/2014/main" id="{F3533F36-D749-4FAB-B45D-F3D4F83922CE}"/>
              </a:ext>
            </a:extLst>
          </p:cNvPr>
          <p:cNvSpPr>
            <a:spLocks noGrp="1"/>
          </p:cNvSpPr>
          <p:nvPr/>
        </p:nvSpPr>
        <p:spPr>
          <a:xfrm>
            <a:off x="876300" y="4181475"/>
            <a:ext cx="2324100" cy="209550"/>
          </a:xfrm>
          <a:prstGeom prst="rect">
            <a:avLst/>
          </a:prstGeom>
          <a:noFill/>
          <a:ln w="0">
            <a:noFill/>
            <a:prstDash val="solid"/>
          </a:ln>
        </p:spPr>
        <p:txBody>
          <a:bodyPr/>
          <a:lstStyle/>
          <a:p>
            <a:pPr algn="l">
              <a:defRPr sz="1350" b="1">
                <a:solidFill>
                  <a:srgbClr val="102A43"/>
                </a:solidFill>
              </a:defRPr>
            </a:pPr>
            <a:r>
              <a:rPr sz="1350" b="1">
                <a:solidFill>
                  <a:srgbClr val="102A43"/>
                </a:solidFill>
              </a:rPr>
              <a:t>Structured operations log</a:t>
            </a:r>
          </a:p>
        </p:txBody>
      </p:sp>
      <p:sp>
        <p:nvSpPr>
          <p:cNvPr id="18" name="Rectangle 17">
            <a:extLst>
              <a:ext uri="{FF2B5EF4-FFF2-40B4-BE49-F238E27FC236}">
                <a16:creationId xmlns:a16="http://schemas.microsoft.com/office/drawing/2014/main" id="{F5A2A195-1F3F-4436-876C-C92255E057E4}"/>
              </a:ext>
            </a:extLst>
          </p:cNvPr>
          <p:cNvSpPr>
            <a:spLocks noGrp="1"/>
          </p:cNvSpPr>
          <p:nvPr/>
        </p:nvSpPr>
        <p:spPr>
          <a:xfrm>
            <a:off x="3429000" y="4181475"/>
            <a:ext cx="4533900" cy="381000"/>
          </a:xfrm>
          <a:prstGeom prst="rect">
            <a:avLst/>
          </a:prstGeom>
          <a:noFill/>
          <a:ln w="0">
            <a:noFill/>
            <a:prstDash val="solid"/>
          </a:ln>
        </p:spPr>
        <p:txBody>
          <a:bodyPr/>
          <a:lstStyle/>
          <a:p>
            <a:pPr algn="l">
              <a:defRPr sz="1200" b="0">
                <a:solidFill>
                  <a:srgbClr val="526777"/>
                </a:solidFill>
              </a:defRPr>
            </a:pPr>
            <a:r>
              <a:rPr sz="1200" b="0">
                <a:solidFill>
                  <a:srgbClr val="526777"/>
                </a:solidFill>
              </a:rPr>
              <a:t>Per-node JSON: thread, decision, rationale, confidence, tools, elapsed time.</a:t>
            </a:r>
          </a:p>
        </p:txBody>
      </p:sp>
      <p:sp>
        <p:nvSpPr>
          <p:cNvPr id="19" name="Rectangle 18">
            <a:extLst>
              <a:ext uri="{FF2B5EF4-FFF2-40B4-BE49-F238E27FC236}">
                <a16:creationId xmlns:a16="http://schemas.microsoft.com/office/drawing/2014/main" id="{B3D72C49-8DF4-448B-BD1E-509C84AA431D}"/>
              </a:ext>
            </a:extLst>
          </p:cNvPr>
          <p:cNvSpPr>
            <a:spLocks noGrp="1"/>
          </p:cNvSpPr>
          <p:nvPr/>
        </p:nvSpPr>
        <p:spPr>
          <a:xfrm>
            <a:off x="8229600" y="4181475"/>
            <a:ext cx="2990850" cy="381000"/>
          </a:xfrm>
          <a:prstGeom prst="rect">
            <a:avLst/>
          </a:prstGeom>
          <a:noFill/>
          <a:ln w="0">
            <a:noFill/>
            <a:prstDash val="solid"/>
          </a:ln>
        </p:spPr>
        <p:txBody>
          <a:bodyPr/>
          <a:lstStyle/>
          <a:p>
            <a:pPr algn="l">
              <a:defRPr sz="1200" b="1">
                <a:solidFill>
                  <a:srgbClr val="0073B9"/>
                </a:solidFill>
              </a:defRPr>
            </a:pPr>
            <a:r>
              <a:rPr sz="1200" b="1">
                <a:solidFill>
                  <a:srgbClr val="0073B9"/>
                </a:solidFill>
              </a:rPr>
              <a:t>Why: a bad route can be investigated after the fact.</a:t>
            </a:r>
          </a:p>
        </p:txBody>
      </p:sp>
      <p:sp>
        <p:nvSpPr>
          <p:cNvPr id="20" name="Rectangle: Rounded Corners 19">
            <a:extLst>
              <a:ext uri="{FF2B5EF4-FFF2-40B4-BE49-F238E27FC236}">
                <a16:creationId xmlns:a16="http://schemas.microsoft.com/office/drawing/2014/main" id="{D0F94F89-10B3-439D-90F6-784F19CD1D84}"/>
              </a:ext>
            </a:extLst>
          </p:cNvPr>
          <p:cNvSpPr>
            <a:spLocks noGrp="1"/>
          </p:cNvSpPr>
          <p:nvPr/>
        </p:nvSpPr>
        <p:spPr>
          <a:xfrm>
            <a:off x="609600" y="4933950"/>
            <a:ext cx="10972800" cy="704850"/>
          </a:xfrm>
          <a:prstGeom prst="roundRect">
            <a:avLst>
              <a:gd name="adj" fmla="val 10811"/>
            </a:avLst>
          </a:prstGeom>
          <a:solidFill>
            <a:srgbClr val="FFFFFF"/>
          </a:solidFill>
          <a:ln w="9525">
            <a:solidFill>
              <a:srgbClr val="D7E1E8"/>
            </a:solidFill>
            <a:prstDash val="solid"/>
          </a:ln>
        </p:spPr>
        <p:txBody>
          <a:bodyPr/>
          <a:lstStyle/>
          <a:p>
            <a:endParaRPr lang="en-US"/>
          </a:p>
        </p:txBody>
      </p:sp>
      <p:sp>
        <p:nvSpPr>
          <p:cNvPr id="21" name="Rectangle 20">
            <a:extLst>
              <a:ext uri="{FF2B5EF4-FFF2-40B4-BE49-F238E27FC236}">
                <a16:creationId xmlns:a16="http://schemas.microsoft.com/office/drawing/2014/main" id="{EF07A2A2-E0BF-4463-AAAD-0FDA90DCDD09}"/>
              </a:ext>
            </a:extLst>
          </p:cNvPr>
          <p:cNvSpPr>
            <a:spLocks noGrp="1"/>
          </p:cNvSpPr>
          <p:nvPr/>
        </p:nvSpPr>
        <p:spPr>
          <a:xfrm>
            <a:off x="609600" y="4933950"/>
            <a:ext cx="66675" cy="704850"/>
          </a:xfrm>
          <a:prstGeom prst="rect">
            <a:avLst/>
          </a:prstGeom>
          <a:solidFill>
            <a:srgbClr val="102A43"/>
          </a:solidFill>
          <a:ln w="0">
            <a:solidFill>
              <a:srgbClr val="102A43"/>
            </a:solidFill>
            <a:prstDash val="solid"/>
          </a:ln>
        </p:spPr>
        <p:txBody>
          <a:bodyPr/>
          <a:lstStyle/>
          <a:p>
            <a:endParaRPr lang="en-US"/>
          </a:p>
        </p:txBody>
      </p:sp>
      <p:sp>
        <p:nvSpPr>
          <p:cNvPr id="22" name="Rectangle 21">
            <a:extLst>
              <a:ext uri="{FF2B5EF4-FFF2-40B4-BE49-F238E27FC236}">
                <a16:creationId xmlns:a16="http://schemas.microsoft.com/office/drawing/2014/main" id="{A79B767C-E47F-479E-A2DB-5DAF7E3E2C58}"/>
              </a:ext>
            </a:extLst>
          </p:cNvPr>
          <p:cNvSpPr>
            <a:spLocks noGrp="1"/>
          </p:cNvSpPr>
          <p:nvPr/>
        </p:nvSpPr>
        <p:spPr>
          <a:xfrm>
            <a:off x="876300" y="5076825"/>
            <a:ext cx="2324100" cy="209550"/>
          </a:xfrm>
          <a:prstGeom prst="rect">
            <a:avLst/>
          </a:prstGeom>
          <a:noFill/>
          <a:ln w="0">
            <a:noFill/>
            <a:prstDash val="solid"/>
          </a:ln>
        </p:spPr>
        <p:txBody>
          <a:bodyPr/>
          <a:lstStyle/>
          <a:p>
            <a:pPr algn="l">
              <a:defRPr sz="1350" b="1">
                <a:solidFill>
                  <a:srgbClr val="102A43"/>
                </a:solidFill>
              </a:defRPr>
            </a:pPr>
            <a:r>
              <a:rPr sz="1350" b="1">
                <a:solidFill>
                  <a:srgbClr val="102A43"/>
                </a:solidFill>
              </a:rPr>
              <a:t>Production feedback loop</a:t>
            </a:r>
          </a:p>
        </p:txBody>
      </p:sp>
      <p:sp>
        <p:nvSpPr>
          <p:cNvPr id="23" name="Rectangle 22">
            <a:extLst>
              <a:ext uri="{FF2B5EF4-FFF2-40B4-BE49-F238E27FC236}">
                <a16:creationId xmlns:a16="http://schemas.microsoft.com/office/drawing/2014/main" id="{2F21D14E-7772-42B4-8E85-EA769ABAC13A}"/>
              </a:ext>
            </a:extLst>
          </p:cNvPr>
          <p:cNvSpPr>
            <a:spLocks noGrp="1"/>
          </p:cNvSpPr>
          <p:nvPr/>
        </p:nvSpPr>
        <p:spPr>
          <a:xfrm>
            <a:off x="3429000" y="5076825"/>
            <a:ext cx="4533900" cy="381000"/>
          </a:xfrm>
          <a:prstGeom prst="rect">
            <a:avLst/>
          </a:prstGeom>
          <a:noFill/>
          <a:ln w="0">
            <a:noFill/>
            <a:prstDash val="solid"/>
          </a:ln>
        </p:spPr>
        <p:txBody>
          <a:bodyPr/>
          <a:lstStyle/>
          <a:p>
            <a:pPr algn="l">
              <a:defRPr sz="1200" b="0">
                <a:solidFill>
                  <a:srgbClr val="526777"/>
                </a:solidFill>
              </a:defRPr>
            </a:pPr>
            <a:r>
              <a:rPr sz="1200" b="0">
                <a:solidFill>
                  <a:srgbClr val="526777"/>
                </a:solidFill>
              </a:rPr>
              <a:t>Review rate and override rate become drift signals; traces can flow to LangSmith/CloudWatch.</a:t>
            </a:r>
          </a:p>
        </p:txBody>
      </p:sp>
      <p:sp>
        <p:nvSpPr>
          <p:cNvPr id="24" name="Rectangle 23">
            <a:extLst>
              <a:ext uri="{FF2B5EF4-FFF2-40B4-BE49-F238E27FC236}">
                <a16:creationId xmlns:a16="http://schemas.microsoft.com/office/drawing/2014/main" id="{996CB8EA-FA1E-4F4F-9F60-1D105B4C7291}"/>
              </a:ext>
            </a:extLst>
          </p:cNvPr>
          <p:cNvSpPr>
            <a:spLocks noGrp="1"/>
          </p:cNvSpPr>
          <p:nvPr/>
        </p:nvSpPr>
        <p:spPr>
          <a:xfrm>
            <a:off x="8229600" y="5076825"/>
            <a:ext cx="2990850" cy="381000"/>
          </a:xfrm>
          <a:prstGeom prst="rect">
            <a:avLst/>
          </a:prstGeom>
          <a:noFill/>
          <a:ln w="0">
            <a:noFill/>
            <a:prstDash val="solid"/>
          </a:ln>
        </p:spPr>
        <p:txBody>
          <a:bodyPr/>
          <a:lstStyle/>
          <a:p>
            <a:pPr algn="l">
              <a:defRPr sz="1200" b="1">
                <a:solidFill>
                  <a:srgbClr val="102A43"/>
                </a:solidFill>
              </a:defRPr>
            </a:pPr>
            <a:r>
              <a:rPr sz="1200" b="1">
                <a:solidFill>
                  <a:srgbClr val="102A43"/>
                </a:solidFill>
              </a:rPr>
              <a:t>Why: humans reveal where policy or model interpretation needs work.</a:t>
            </a:r>
          </a:p>
        </p:txBody>
      </p:sp>
      <p:sp>
        <p:nvSpPr>
          <p:cNvPr id="25" name="Rectangle 24">
            <a:extLst>
              <a:ext uri="{FF2B5EF4-FFF2-40B4-BE49-F238E27FC236}">
                <a16:creationId xmlns:a16="http://schemas.microsoft.com/office/drawing/2014/main" id="{B4F1962A-96CD-4BC6-9E89-F74E19BB2137}"/>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26" name="Rectangle 25">
            <a:extLst>
              <a:ext uri="{FF2B5EF4-FFF2-40B4-BE49-F238E27FC236}">
                <a16:creationId xmlns:a16="http://schemas.microsoft.com/office/drawing/2014/main" id="{4BA180A1-D0CD-418A-8C09-B38A52F756FC}"/>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27" name="Rectangle 26">
            <a:extLst>
              <a:ext uri="{FF2B5EF4-FFF2-40B4-BE49-F238E27FC236}">
                <a16:creationId xmlns:a16="http://schemas.microsoft.com/office/drawing/2014/main" id="{F77B4809-A7E9-4237-ABB4-EE6D3376114D}"/>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08</a:t>
            </a:r>
          </a:p>
        </p:txBody>
      </p:sp>
    </p:spTree>
    <p:extLst>
      <p:ext uri="{BB962C8B-B14F-4D97-AF65-F5344CB8AC3E}">
        <p14:creationId xmlns:p14="http://schemas.microsoft.com/office/powerpoint/2010/main" val="178442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0BB095-B695-45DC-96C8-266490B199D1}"/>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DECISION 7 — AWS DEPLOYMENT</a:t>
            </a:r>
          </a:p>
        </p:txBody>
      </p:sp>
      <p:sp>
        <p:nvSpPr>
          <p:cNvPr id="2" name="Rectangle 1">
            <a:extLst>
              <a:ext uri="{FF2B5EF4-FFF2-40B4-BE49-F238E27FC236}">
                <a16:creationId xmlns:a16="http://schemas.microsoft.com/office/drawing/2014/main" id="{9869E682-67C7-47EC-8273-259116FC3441}"/>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A clear AWS production path</a:t>
            </a:r>
          </a:p>
        </p:txBody>
      </p:sp>
      <p:sp>
        <p:nvSpPr>
          <p:cNvPr id="4" name="Rectangle 3">
            <a:extLst>
              <a:ext uri="{FF2B5EF4-FFF2-40B4-BE49-F238E27FC236}">
                <a16:creationId xmlns:a16="http://schemas.microsoft.com/office/drawing/2014/main" id="{F0C9A8BB-BE70-45F4-80FB-65A1ECB0B91E}"/>
              </a:ext>
            </a:extLst>
          </p:cNvPr>
          <p:cNvSpPr>
            <a:spLocks noGrp="1"/>
          </p:cNvSpPr>
          <p:nvPr/>
        </p:nvSpPr>
        <p:spPr>
          <a:xfrm>
            <a:off x="514350" y="1212599"/>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Rounded Corners 4">
            <a:extLst>
              <a:ext uri="{FF2B5EF4-FFF2-40B4-BE49-F238E27FC236}">
                <a16:creationId xmlns:a16="http://schemas.microsoft.com/office/drawing/2014/main" id="{72FC3022-FDFB-4B0A-957E-979167A543F0}"/>
              </a:ext>
            </a:extLst>
          </p:cNvPr>
          <p:cNvSpPr>
            <a:spLocks noGrp="1"/>
          </p:cNvSpPr>
          <p:nvPr/>
        </p:nvSpPr>
        <p:spPr>
          <a:xfrm>
            <a:off x="666750" y="3028950"/>
            <a:ext cx="2095500" cy="762000"/>
          </a:xfrm>
          <a:prstGeom prst="roundRect">
            <a:avLst>
              <a:gd name="adj" fmla="val 10000"/>
            </a:avLst>
          </a:prstGeom>
          <a:solidFill>
            <a:srgbClr val="FFFFFF"/>
          </a:solidFill>
          <a:ln w="9525">
            <a:solidFill>
              <a:srgbClr val="D7E1E8"/>
            </a:solidFill>
            <a:prstDash val="solid"/>
          </a:ln>
        </p:spPr>
        <p:txBody>
          <a:bodyPr/>
          <a:lstStyle/>
          <a:p>
            <a:endParaRPr lang="en-US"/>
          </a:p>
        </p:txBody>
      </p:sp>
      <p:sp>
        <p:nvSpPr>
          <p:cNvPr id="6" name="Rectangle 5">
            <a:extLst>
              <a:ext uri="{FF2B5EF4-FFF2-40B4-BE49-F238E27FC236}">
                <a16:creationId xmlns:a16="http://schemas.microsoft.com/office/drawing/2014/main" id="{0278F5E8-A758-45C6-B1AA-EB3AB9981C05}"/>
              </a:ext>
            </a:extLst>
          </p:cNvPr>
          <p:cNvSpPr>
            <a:spLocks noGrp="1"/>
          </p:cNvSpPr>
          <p:nvPr/>
        </p:nvSpPr>
        <p:spPr>
          <a:xfrm>
            <a:off x="666750" y="3028950"/>
            <a:ext cx="57150" cy="762000"/>
          </a:xfrm>
          <a:prstGeom prst="rect">
            <a:avLst/>
          </a:prstGeom>
          <a:solidFill>
            <a:srgbClr val="0073B9"/>
          </a:solidFill>
          <a:ln w="0">
            <a:solidFill>
              <a:srgbClr val="0073B9"/>
            </a:solidFill>
            <a:prstDash val="solid"/>
          </a:ln>
        </p:spPr>
        <p:txBody>
          <a:bodyPr/>
          <a:lstStyle/>
          <a:p>
            <a:endParaRPr lang="en-US"/>
          </a:p>
        </p:txBody>
      </p:sp>
      <p:sp>
        <p:nvSpPr>
          <p:cNvPr id="7" name="Rectangle 6">
            <a:extLst>
              <a:ext uri="{FF2B5EF4-FFF2-40B4-BE49-F238E27FC236}">
                <a16:creationId xmlns:a16="http://schemas.microsoft.com/office/drawing/2014/main" id="{4421E4A4-B1B8-4CAD-8189-AEE8D4444759}"/>
              </a:ext>
            </a:extLst>
          </p:cNvPr>
          <p:cNvSpPr>
            <a:spLocks noGrp="1"/>
          </p:cNvSpPr>
          <p:nvPr/>
        </p:nvSpPr>
        <p:spPr>
          <a:xfrm>
            <a:off x="838200" y="3143250"/>
            <a:ext cx="18097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S3 + CLOUDFRONT</a:t>
            </a:r>
          </a:p>
        </p:txBody>
      </p:sp>
      <p:sp>
        <p:nvSpPr>
          <p:cNvPr id="8" name="Rectangle 7">
            <a:extLst>
              <a:ext uri="{FF2B5EF4-FFF2-40B4-BE49-F238E27FC236}">
                <a16:creationId xmlns:a16="http://schemas.microsoft.com/office/drawing/2014/main" id="{544AE2AC-5ACC-44AB-AE47-92879A9E66C6}"/>
              </a:ext>
            </a:extLst>
          </p:cNvPr>
          <p:cNvSpPr>
            <a:spLocks noGrp="1"/>
          </p:cNvSpPr>
          <p:nvPr/>
        </p:nvSpPr>
        <p:spPr>
          <a:xfrm>
            <a:off x="838200" y="3390900"/>
            <a:ext cx="180975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Static console</a:t>
            </a:r>
          </a:p>
        </p:txBody>
      </p:sp>
      <p:sp>
        <p:nvSpPr>
          <p:cNvPr id="9" name="Rectangle: Rounded Corners 8">
            <a:extLst>
              <a:ext uri="{FF2B5EF4-FFF2-40B4-BE49-F238E27FC236}">
                <a16:creationId xmlns:a16="http://schemas.microsoft.com/office/drawing/2014/main" id="{579E663F-14CB-49BF-BF36-54978EFC8284}"/>
              </a:ext>
            </a:extLst>
          </p:cNvPr>
          <p:cNvSpPr>
            <a:spLocks noGrp="1"/>
          </p:cNvSpPr>
          <p:nvPr/>
        </p:nvSpPr>
        <p:spPr>
          <a:xfrm>
            <a:off x="3638550" y="3028950"/>
            <a:ext cx="2305050" cy="762000"/>
          </a:xfrm>
          <a:prstGeom prst="roundRect">
            <a:avLst>
              <a:gd name="adj" fmla="val 10000"/>
            </a:avLst>
          </a:prstGeom>
          <a:solidFill>
            <a:srgbClr val="FFFFFF"/>
          </a:solidFill>
          <a:ln w="9525">
            <a:solidFill>
              <a:srgbClr val="D7E1E8"/>
            </a:solidFill>
            <a:prstDash val="solid"/>
          </a:ln>
        </p:spPr>
        <p:txBody>
          <a:bodyPr/>
          <a:lstStyle/>
          <a:p>
            <a:endParaRPr lang="en-US"/>
          </a:p>
        </p:txBody>
      </p:sp>
      <p:sp>
        <p:nvSpPr>
          <p:cNvPr id="10" name="Rectangle 9">
            <a:extLst>
              <a:ext uri="{FF2B5EF4-FFF2-40B4-BE49-F238E27FC236}">
                <a16:creationId xmlns:a16="http://schemas.microsoft.com/office/drawing/2014/main" id="{B6B4BB80-28D3-4B74-9B9A-6F8A29AC20AE}"/>
              </a:ext>
            </a:extLst>
          </p:cNvPr>
          <p:cNvSpPr>
            <a:spLocks noGrp="1"/>
          </p:cNvSpPr>
          <p:nvPr/>
        </p:nvSpPr>
        <p:spPr>
          <a:xfrm>
            <a:off x="3638550" y="3028950"/>
            <a:ext cx="57150" cy="762000"/>
          </a:xfrm>
          <a:prstGeom prst="rect">
            <a:avLst/>
          </a:prstGeom>
          <a:solidFill>
            <a:srgbClr val="0073B9"/>
          </a:solidFill>
          <a:ln w="0">
            <a:solidFill>
              <a:srgbClr val="0073B9"/>
            </a:solidFill>
            <a:prstDash val="solid"/>
          </a:ln>
        </p:spPr>
        <p:txBody>
          <a:bodyPr/>
          <a:lstStyle/>
          <a:p>
            <a:endParaRPr lang="en-US"/>
          </a:p>
        </p:txBody>
      </p:sp>
      <p:sp>
        <p:nvSpPr>
          <p:cNvPr id="11" name="Rectangle 10">
            <a:extLst>
              <a:ext uri="{FF2B5EF4-FFF2-40B4-BE49-F238E27FC236}">
                <a16:creationId xmlns:a16="http://schemas.microsoft.com/office/drawing/2014/main" id="{155C4175-74D9-44ED-AE3C-044F16ECAA48}"/>
              </a:ext>
            </a:extLst>
          </p:cNvPr>
          <p:cNvSpPr>
            <a:spLocks noGrp="1"/>
          </p:cNvSpPr>
          <p:nvPr/>
        </p:nvSpPr>
        <p:spPr>
          <a:xfrm>
            <a:off x="3810000" y="3143250"/>
            <a:ext cx="20193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ECS FARGATE</a:t>
            </a:r>
          </a:p>
        </p:txBody>
      </p:sp>
      <p:sp>
        <p:nvSpPr>
          <p:cNvPr id="12" name="Rectangle 11">
            <a:extLst>
              <a:ext uri="{FF2B5EF4-FFF2-40B4-BE49-F238E27FC236}">
                <a16:creationId xmlns:a16="http://schemas.microsoft.com/office/drawing/2014/main" id="{7312A188-1791-4CA6-9E35-2A84080D0B15}"/>
              </a:ext>
            </a:extLst>
          </p:cNvPr>
          <p:cNvSpPr>
            <a:spLocks noGrp="1"/>
          </p:cNvSpPr>
          <p:nvPr/>
        </p:nvSpPr>
        <p:spPr>
          <a:xfrm>
            <a:off x="3810000" y="3390900"/>
            <a:ext cx="20193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FastAPI + LangGraph</a:t>
            </a:r>
          </a:p>
        </p:txBody>
      </p:sp>
      <p:sp>
        <p:nvSpPr>
          <p:cNvPr id="13" name="Rectangle: Rounded Corners 12">
            <a:extLst>
              <a:ext uri="{FF2B5EF4-FFF2-40B4-BE49-F238E27FC236}">
                <a16:creationId xmlns:a16="http://schemas.microsoft.com/office/drawing/2014/main" id="{44BEC65A-8BD3-4746-B9F1-DD49569EF4BB}"/>
              </a:ext>
            </a:extLst>
          </p:cNvPr>
          <p:cNvSpPr>
            <a:spLocks noGrp="1"/>
          </p:cNvSpPr>
          <p:nvPr/>
        </p:nvSpPr>
        <p:spPr>
          <a:xfrm>
            <a:off x="6896100" y="2209800"/>
            <a:ext cx="2190750" cy="762000"/>
          </a:xfrm>
          <a:prstGeom prst="roundRect">
            <a:avLst>
              <a:gd name="adj" fmla="val 10000"/>
            </a:avLst>
          </a:prstGeom>
          <a:solidFill>
            <a:srgbClr val="FFFFFF"/>
          </a:solidFill>
          <a:ln w="9525">
            <a:solidFill>
              <a:srgbClr val="D7E1E8"/>
            </a:solidFill>
            <a:prstDash val="solid"/>
          </a:ln>
        </p:spPr>
        <p:txBody>
          <a:bodyPr/>
          <a:lstStyle/>
          <a:p>
            <a:endParaRPr lang="en-US"/>
          </a:p>
        </p:txBody>
      </p:sp>
      <p:sp>
        <p:nvSpPr>
          <p:cNvPr id="14" name="Rectangle 13">
            <a:extLst>
              <a:ext uri="{FF2B5EF4-FFF2-40B4-BE49-F238E27FC236}">
                <a16:creationId xmlns:a16="http://schemas.microsoft.com/office/drawing/2014/main" id="{B0BD7EAD-DC44-4634-BCE7-AB383307BA9E}"/>
              </a:ext>
            </a:extLst>
          </p:cNvPr>
          <p:cNvSpPr>
            <a:spLocks noGrp="1"/>
          </p:cNvSpPr>
          <p:nvPr/>
        </p:nvSpPr>
        <p:spPr>
          <a:xfrm>
            <a:off x="6896100" y="2209800"/>
            <a:ext cx="57150" cy="762000"/>
          </a:xfrm>
          <a:prstGeom prst="rect">
            <a:avLst/>
          </a:prstGeom>
          <a:solidFill>
            <a:srgbClr val="F58220"/>
          </a:solidFill>
          <a:ln w="0">
            <a:solidFill>
              <a:srgbClr val="F58220"/>
            </a:solidFill>
            <a:prstDash val="solid"/>
          </a:ln>
        </p:spPr>
        <p:txBody>
          <a:bodyPr/>
          <a:lstStyle/>
          <a:p>
            <a:endParaRPr lang="en-US"/>
          </a:p>
        </p:txBody>
      </p:sp>
      <p:sp>
        <p:nvSpPr>
          <p:cNvPr id="15" name="Rectangle 14">
            <a:extLst>
              <a:ext uri="{FF2B5EF4-FFF2-40B4-BE49-F238E27FC236}">
                <a16:creationId xmlns:a16="http://schemas.microsoft.com/office/drawing/2014/main" id="{08651C67-2794-43E9-B56E-0C1043FC436E}"/>
              </a:ext>
            </a:extLst>
          </p:cNvPr>
          <p:cNvSpPr>
            <a:spLocks noGrp="1"/>
          </p:cNvSpPr>
          <p:nvPr/>
        </p:nvSpPr>
        <p:spPr>
          <a:xfrm>
            <a:off x="7067550" y="2324100"/>
            <a:ext cx="1905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AMAZON BEDROCK</a:t>
            </a:r>
          </a:p>
        </p:txBody>
      </p:sp>
      <p:sp>
        <p:nvSpPr>
          <p:cNvPr id="16" name="Rectangle 15">
            <a:extLst>
              <a:ext uri="{FF2B5EF4-FFF2-40B4-BE49-F238E27FC236}">
                <a16:creationId xmlns:a16="http://schemas.microsoft.com/office/drawing/2014/main" id="{A6223F21-2CBB-4106-955C-7F93C98D76FA}"/>
              </a:ext>
            </a:extLst>
          </p:cNvPr>
          <p:cNvSpPr>
            <a:spLocks noGrp="1"/>
          </p:cNvSpPr>
          <p:nvPr/>
        </p:nvSpPr>
        <p:spPr>
          <a:xfrm>
            <a:off x="7067550" y="2571750"/>
            <a:ext cx="19050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Claude inference</a:t>
            </a:r>
          </a:p>
        </p:txBody>
      </p:sp>
      <p:sp>
        <p:nvSpPr>
          <p:cNvPr id="17" name="Rectangle: Rounded Corners 16">
            <a:extLst>
              <a:ext uri="{FF2B5EF4-FFF2-40B4-BE49-F238E27FC236}">
                <a16:creationId xmlns:a16="http://schemas.microsoft.com/office/drawing/2014/main" id="{79AC4F5D-6FF7-4237-8FB9-F3B8DBBCE06F}"/>
              </a:ext>
            </a:extLst>
          </p:cNvPr>
          <p:cNvSpPr>
            <a:spLocks noGrp="1"/>
          </p:cNvSpPr>
          <p:nvPr/>
        </p:nvSpPr>
        <p:spPr>
          <a:xfrm>
            <a:off x="6896100" y="4171950"/>
            <a:ext cx="2190750" cy="762000"/>
          </a:xfrm>
          <a:prstGeom prst="roundRect">
            <a:avLst>
              <a:gd name="adj" fmla="val 10000"/>
            </a:avLst>
          </a:prstGeom>
          <a:solidFill>
            <a:srgbClr val="FFFFFF"/>
          </a:solidFill>
          <a:ln w="9525">
            <a:solidFill>
              <a:srgbClr val="D7E1E8"/>
            </a:solidFill>
            <a:prstDash val="solid"/>
          </a:ln>
        </p:spPr>
        <p:txBody>
          <a:bodyPr/>
          <a:lstStyle/>
          <a:p>
            <a:endParaRPr lang="en-US"/>
          </a:p>
        </p:txBody>
      </p:sp>
      <p:sp>
        <p:nvSpPr>
          <p:cNvPr id="18" name="Rectangle 17">
            <a:extLst>
              <a:ext uri="{FF2B5EF4-FFF2-40B4-BE49-F238E27FC236}">
                <a16:creationId xmlns:a16="http://schemas.microsoft.com/office/drawing/2014/main" id="{9220CE18-1B2C-4459-9CB0-C0F900F00952}"/>
              </a:ext>
            </a:extLst>
          </p:cNvPr>
          <p:cNvSpPr>
            <a:spLocks noGrp="1"/>
          </p:cNvSpPr>
          <p:nvPr/>
        </p:nvSpPr>
        <p:spPr>
          <a:xfrm>
            <a:off x="6896100" y="4171950"/>
            <a:ext cx="57150" cy="762000"/>
          </a:xfrm>
          <a:prstGeom prst="rect">
            <a:avLst/>
          </a:prstGeom>
          <a:solidFill>
            <a:srgbClr val="159947"/>
          </a:solidFill>
          <a:ln w="0">
            <a:solidFill>
              <a:srgbClr val="159947"/>
            </a:solidFill>
            <a:prstDash val="solid"/>
          </a:ln>
        </p:spPr>
        <p:txBody>
          <a:bodyPr/>
          <a:lstStyle/>
          <a:p>
            <a:endParaRPr lang="en-US"/>
          </a:p>
        </p:txBody>
      </p:sp>
      <p:sp>
        <p:nvSpPr>
          <p:cNvPr id="19" name="Rectangle 18">
            <a:extLst>
              <a:ext uri="{FF2B5EF4-FFF2-40B4-BE49-F238E27FC236}">
                <a16:creationId xmlns:a16="http://schemas.microsoft.com/office/drawing/2014/main" id="{11C5008B-DA08-4E63-819F-278A6BCAB65E}"/>
              </a:ext>
            </a:extLst>
          </p:cNvPr>
          <p:cNvSpPr>
            <a:spLocks noGrp="1"/>
          </p:cNvSpPr>
          <p:nvPr/>
        </p:nvSpPr>
        <p:spPr>
          <a:xfrm>
            <a:off x="7067550" y="4286250"/>
            <a:ext cx="190500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DYNAMODB</a:t>
            </a:r>
          </a:p>
        </p:txBody>
      </p:sp>
      <p:sp>
        <p:nvSpPr>
          <p:cNvPr id="20" name="Rectangle 19">
            <a:extLst>
              <a:ext uri="{FF2B5EF4-FFF2-40B4-BE49-F238E27FC236}">
                <a16:creationId xmlns:a16="http://schemas.microsoft.com/office/drawing/2014/main" id="{03ABB852-45B6-4394-978B-8471D3F82B16}"/>
              </a:ext>
            </a:extLst>
          </p:cNvPr>
          <p:cNvSpPr>
            <a:spLocks noGrp="1"/>
          </p:cNvSpPr>
          <p:nvPr/>
        </p:nvSpPr>
        <p:spPr>
          <a:xfrm>
            <a:off x="7067550" y="4533900"/>
            <a:ext cx="190500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Checkpoint state</a:t>
            </a:r>
          </a:p>
        </p:txBody>
      </p:sp>
      <p:sp>
        <p:nvSpPr>
          <p:cNvPr id="21" name="Rectangle: Rounded Corners 20">
            <a:extLst>
              <a:ext uri="{FF2B5EF4-FFF2-40B4-BE49-F238E27FC236}">
                <a16:creationId xmlns:a16="http://schemas.microsoft.com/office/drawing/2014/main" id="{673C3492-3304-4F75-BCAA-42823484F297}"/>
              </a:ext>
            </a:extLst>
          </p:cNvPr>
          <p:cNvSpPr>
            <a:spLocks noGrp="1"/>
          </p:cNvSpPr>
          <p:nvPr/>
        </p:nvSpPr>
        <p:spPr>
          <a:xfrm>
            <a:off x="9982200" y="3028950"/>
            <a:ext cx="1676400" cy="762000"/>
          </a:xfrm>
          <a:prstGeom prst="roundRect">
            <a:avLst>
              <a:gd name="adj" fmla="val 10000"/>
            </a:avLst>
          </a:prstGeom>
          <a:solidFill>
            <a:srgbClr val="FFFFFF"/>
          </a:solidFill>
          <a:ln w="9525">
            <a:solidFill>
              <a:srgbClr val="D7E1E8"/>
            </a:solidFill>
            <a:prstDash val="solid"/>
          </a:ln>
        </p:spPr>
        <p:txBody>
          <a:bodyPr/>
          <a:lstStyle/>
          <a:p>
            <a:endParaRPr lang="en-US"/>
          </a:p>
        </p:txBody>
      </p:sp>
      <p:sp>
        <p:nvSpPr>
          <p:cNvPr id="22" name="Rectangle 21">
            <a:extLst>
              <a:ext uri="{FF2B5EF4-FFF2-40B4-BE49-F238E27FC236}">
                <a16:creationId xmlns:a16="http://schemas.microsoft.com/office/drawing/2014/main" id="{E1CF1E3E-3CE2-4FA8-99EA-9638ECCA3C7C}"/>
              </a:ext>
            </a:extLst>
          </p:cNvPr>
          <p:cNvSpPr>
            <a:spLocks noGrp="1"/>
          </p:cNvSpPr>
          <p:nvPr/>
        </p:nvSpPr>
        <p:spPr>
          <a:xfrm>
            <a:off x="9982200" y="3028950"/>
            <a:ext cx="57150" cy="762000"/>
          </a:xfrm>
          <a:prstGeom prst="rect">
            <a:avLst/>
          </a:prstGeom>
          <a:solidFill>
            <a:srgbClr val="102A43"/>
          </a:solidFill>
          <a:ln w="0">
            <a:solidFill>
              <a:srgbClr val="102A43"/>
            </a:solidFill>
            <a:prstDash val="solid"/>
          </a:ln>
        </p:spPr>
        <p:txBody>
          <a:bodyPr/>
          <a:lstStyle/>
          <a:p>
            <a:endParaRPr lang="en-US"/>
          </a:p>
        </p:txBody>
      </p:sp>
      <p:sp>
        <p:nvSpPr>
          <p:cNvPr id="23" name="Rectangle 22">
            <a:extLst>
              <a:ext uri="{FF2B5EF4-FFF2-40B4-BE49-F238E27FC236}">
                <a16:creationId xmlns:a16="http://schemas.microsoft.com/office/drawing/2014/main" id="{74A7B942-7137-43B8-AAA6-99B2936CA963}"/>
              </a:ext>
            </a:extLst>
          </p:cNvPr>
          <p:cNvSpPr>
            <a:spLocks noGrp="1"/>
          </p:cNvSpPr>
          <p:nvPr/>
        </p:nvSpPr>
        <p:spPr>
          <a:xfrm>
            <a:off x="10153650" y="3143250"/>
            <a:ext cx="1390650" cy="152400"/>
          </a:xfrm>
          <a:prstGeom prst="rect">
            <a:avLst/>
          </a:prstGeom>
          <a:noFill/>
          <a:ln w="0">
            <a:noFill/>
            <a:prstDash val="solid"/>
          </a:ln>
        </p:spPr>
        <p:txBody>
          <a:bodyPr/>
          <a:lstStyle/>
          <a:p>
            <a:pPr algn="l">
              <a:defRPr sz="825" b="0">
                <a:solidFill>
                  <a:srgbClr val="7890A1"/>
                </a:solidFill>
              </a:defRPr>
            </a:pPr>
            <a:r>
              <a:rPr sz="825" b="0">
                <a:solidFill>
                  <a:srgbClr val="7890A1"/>
                </a:solidFill>
              </a:rPr>
              <a:t>CLOUDWATCH / LANGSMITH</a:t>
            </a:r>
          </a:p>
        </p:txBody>
      </p:sp>
      <p:sp>
        <p:nvSpPr>
          <p:cNvPr id="24" name="Rectangle 23">
            <a:extLst>
              <a:ext uri="{FF2B5EF4-FFF2-40B4-BE49-F238E27FC236}">
                <a16:creationId xmlns:a16="http://schemas.microsoft.com/office/drawing/2014/main" id="{8B8C6EEE-07E4-433E-8004-B017315E0244}"/>
              </a:ext>
            </a:extLst>
          </p:cNvPr>
          <p:cNvSpPr>
            <a:spLocks noGrp="1"/>
          </p:cNvSpPr>
          <p:nvPr/>
        </p:nvSpPr>
        <p:spPr>
          <a:xfrm>
            <a:off x="10153650" y="3390900"/>
            <a:ext cx="1390650" cy="247650"/>
          </a:xfrm>
          <a:prstGeom prst="rect">
            <a:avLst/>
          </a:prstGeom>
          <a:noFill/>
          <a:ln w="0">
            <a:noFill/>
            <a:prstDash val="solid"/>
          </a:ln>
        </p:spPr>
        <p:txBody>
          <a:bodyPr/>
          <a:lstStyle/>
          <a:p>
            <a:pPr algn="l">
              <a:defRPr sz="1350" b="1">
                <a:solidFill>
                  <a:srgbClr val="102A43"/>
                </a:solidFill>
              </a:defRPr>
            </a:pPr>
            <a:r>
              <a:rPr sz="1350" b="1">
                <a:solidFill>
                  <a:srgbClr val="102A43"/>
                </a:solidFill>
              </a:rPr>
              <a:t>Traces + logs</a:t>
            </a:r>
          </a:p>
        </p:txBody>
      </p:sp>
      <p:cxnSp>
        <p:nvCxnSpPr>
          <p:cNvPr id="62" name="Straight Arrow Connector 61"/>
          <p:cNvCxnSpPr>
            <a:stCxn id="5" idx="3"/>
            <a:endCxn id="9" idx="1"/>
          </p:cNvCxnSpPr>
          <p:nvPr/>
        </p:nvCxnSpPr>
        <p:spPr>
          <a:xfrm>
            <a:off x="2762250" y="3409950"/>
            <a:ext cx="876300" cy="0"/>
          </a:xfrm>
          <a:prstGeom prst="straightConnector1">
            <a:avLst/>
          </a:prstGeom>
          <a:ln w="19050">
            <a:solidFill>
              <a:srgbClr val="0073B9"/>
            </a:solidFill>
            <a:prstDash val="solid"/>
            <a:tailEnd type="arrow" w="sm" len="sm"/>
          </a:ln>
        </p:spPr>
      </p:cxnSp>
      <p:cxnSp>
        <p:nvCxnSpPr>
          <p:cNvPr id="63" name="Straight Arrow Connector 62"/>
          <p:cNvCxnSpPr>
            <a:stCxn id="9" idx="3"/>
            <a:endCxn id="13" idx="1"/>
          </p:cNvCxnSpPr>
          <p:nvPr/>
        </p:nvCxnSpPr>
        <p:spPr>
          <a:xfrm flipV="1">
            <a:off x="5943600" y="2590800"/>
            <a:ext cx="952500" cy="819150"/>
          </a:xfrm>
          <a:prstGeom prst="straightConnector1">
            <a:avLst/>
          </a:prstGeom>
          <a:ln w="19050">
            <a:solidFill>
              <a:srgbClr val="F58220"/>
            </a:solidFill>
            <a:prstDash val="solid"/>
            <a:tailEnd type="arrow" w="sm" len="sm"/>
          </a:ln>
        </p:spPr>
      </p:cxnSp>
      <p:cxnSp>
        <p:nvCxnSpPr>
          <p:cNvPr id="64" name="Straight Arrow Connector 63"/>
          <p:cNvCxnSpPr>
            <a:stCxn id="9" idx="3"/>
            <a:endCxn id="17" idx="1"/>
          </p:cNvCxnSpPr>
          <p:nvPr/>
        </p:nvCxnSpPr>
        <p:spPr>
          <a:xfrm>
            <a:off x="5943600" y="3409950"/>
            <a:ext cx="952500" cy="1143000"/>
          </a:xfrm>
          <a:prstGeom prst="straightConnector1">
            <a:avLst/>
          </a:prstGeom>
          <a:ln w="19050">
            <a:solidFill>
              <a:srgbClr val="159947"/>
            </a:solidFill>
            <a:prstDash val="solid"/>
            <a:tailEnd type="arrow" w="sm" len="sm"/>
          </a:ln>
        </p:spPr>
      </p:cxnSp>
      <p:cxnSp>
        <p:nvCxnSpPr>
          <p:cNvPr id="65" name="Straight Arrow Connector 64"/>
          <p:cNvCxnSpPr>
            <a:stCxn id="13" idx="3"/>
            <a:endCxn id="21" idx="1"/>
          </p:cNvCxnSpPr>
          <p:nvPr/>
        </p:nvCxnSpPr>
        <p:spPr>
          <a:xfrm>
            <a:off x="9086850" y="2590800"/>
            <a:ext cx="895350" cy="819150"/>
          </a:xfrm>
          <a:prstGeom prst="straightConnector1">
            <a:avLst/>
          </a:prstGeom>
          <a:ln w="19050">
            <a:solidFill>
              <a:srgbClr val="102A43"/>
            </a:solidFill>
            <a:prstDash val="solid"/>
            <a:tailEnd type="arrow" w="sm" len="sm"/>
          </a:ln>
        </p:spPr>
      </p:cxnSp>
      <p:cxnSp>
        <p:nvCxnSpPr>
          <p:cNvPr id="66" name="Straight Arrow Connector 65"/>
          <p:cNvCxnSpPr>
            <a:stCxn id="17" idx="3"/>
            <a:endCxn id="21" idx="1"/>
          </p:cNvCxnSpPr>
          <p:nvPr/>
        </p:nvCxnSpPr>
        <p:spPr>
          <a:xfrm flipV="1">
            <a:off x="9086850" y="3409950"/>
            <a:ext cx="895350" cy="1143000"/>
          </a:xfrm>
          <a:prstGeom prst="straightConnector1">
            <a:avLst/>
          </a:prstGeom>
          <a:ln w="19050">
            <a:solidFill>
              <a:srgbClr val="102A43"/>
            </a:solidFill>
            <a:prstDash val="solid"/>
            <a:tailEnd type="arrow" w="sm" len="sm"/>
          </a:ln>
        </p:spPr>
      </p:cxnSp>
      <p:sp>
        <p:nvSpPr>
          <p:cNvPr id="30" name="Rectangle 29">
            <a:extLst>
              <a:ext uri="{FF2B5EF4-FFF2-40B4-BE49-F238E27FC236}">
                <a16:creationId xmlns:a16="http://schemas.microsoft.com/office/drawing/2014/main" id="{89059102-8370-40DF-A685-9CA6A69F0E78}"/>
              </a:ext>
            </a:extLst>
          </p:cNvPr>
          <p:cNvSpPr>
            <a:spLocks noGrp="1"/>
          </p:cNvSpPr>
          <p:nvPr/>
        </p:nvSpPr>
        <p:spPr>
          <a:xfrm>
            <a:off x="666750" y="2190750"/>
            <a:ext cx="1524000" cy="190500"/>
          </a:xfrm>
          <a:prstGeom prst="rect">
            <a:avLst/>
          </a:prstGeom>
          <a:noFill/>
          <a:ln w="0">
            <a:noFill/>
            <a:prstDash val="solid"/>
          </a:ln>
        </p:spPr>
        <p:txBody>
          <a:bodyPr/>
          <a:lstStyle/>
          <a:p>
            <a:pPr algn="l">
              <a:defRPr sz="1350" b="1">
                <a:solidFill>
                  <a:srgbClr val="102A43"/>
                </a:solidFill>
              </a:defRPr>
            </a:pPr>
            <a:r>
              <a:rPr sz="1350" b="1">
                <a:solidFill>
                  <a:srgbClr val="102A43"/>
                </a:solidFill>
              </a:rPr>
              <a:t>Why Fargate?</a:t>
            </a:r>
          </a:p>
        </p:txBody>
      </p:sp>
      <p:sp>
        <p:nvSpPr>
          <p:cNvPr id="31" name="Rectangle 30">
            <a:extLst>
              <a:ext uri="{FF2B5EF4-FFF2-40B4-BE49-F238E27FC236}">
                <a16:creationId xmlns:a16="http://schemas.microsoft.com/office/drawing/2014/main" id="{A7296050-5A74-4AEA-B44B-4C46DBDB1671}"/>
              </a:ext>
            </a:extLst>
          </p:cNvPr>
          <p:cNvSpPr>
            <a:spLocks noGrp="1"/>
          </p:cNvSpPr>
          <p:nvPr/>
        </p:nvSpPr>
        <p:spPr>
          <a:xfrm>
            <a:off x="666750" y="2457450"/>
            <a:ext cx="2343150" cy="400050"/>
          </a:xfrm>
          <a:prstGeom prst="rect">
            <a:avLst/>
          </a:prstGeom>
          <a:noFill/>
          <a:ln w="0">
            <a:noFill/>
            <a:prstDash val="solid"/>
          </a:ln>
        </p:spPr>
        <p:txBody>
          <a:bodyPr/>
          <a:lstStyle/>
          <a:p>
            <a:pPr algn="l">
              <a:defRPr sz="1200" b="0">
                <a:solidFill>
                  <a:srgbClr val="526777"/>
                </a:solidFill>
              </a:defRPr>
            </a:pPr>
            <a:r>
              <a:rPr sz="1200" b="0">
                <a:solidFill>
                  <a:srgbClr val="526777"/>
                </a:solidFill>
              </a:rPr>
              <a:t>The graph is an HTTP/SSE service; it needs no cluster operations.</a:t>
            </a:r>
          </a:p>
        </p:txBody>
      </p:sp>
      <p:sp>
        <p:nvSpPr>
          <p:cNvPr id="32" name="Rectangle 31">
            <a:extLst>
              <a:ext uri="{FF2B5EF4-FFF2-40B4-BE49-F238E27FC236}">
                <a16:creationId xmlns:a16="http://schemas.microsoft.com/office/drawing/2014/main" id="{5686790E-D2DA-4D1F-AF38-F7DDCC290A0B}"/>
              </a:ext>
            </a:extLst>
          </p:cNvPr>
          <p:cNvSpPr>
            <a:spLocks noGrp="1"/>
          </p:cNvSpPr>
          <p:nvPr/>
        </p:nvSpPr>
        <p:spPr>
          <a:xfrm>
            <a:off x="6896100" y="5162550"/>
            <a:ext cx="2286000" cy="190500"/>
          </a:xfrm>
          <a:prstGeom prst="rect">
            <a:avLst/>
          </a:prstGeom>
          <a:noFill/>
          <a:ln w="0">
            <a:noFill/>
            <a:prstDash val="solid"/>
          </a:ln>
        </p:spPr>
        <p:txBody>
          <a:bodyPr/>
          <a:lstStyle/>
          <a:p>
            <a:pPr algn="l">
              <a:defRPr sz="1350" b="1">
                <a:solidFill>
                  <a:srgbClr val="102A43"/>
                </a:solidFill>
              </a:defRPr>
            </a:pPr>
            <a:r>
              <a:rPr sz="1350" b="1">
                <a:solidFill>
                  <a:srgbClr val="102A43"/>
                </a:solidFill>
              </a:rPr>
              <a:t>Why DynamoDB?</a:t>
            </a:r>
          </a:p>
        </p:txBody>
      </p:sp>
      <p:sp>
        <p:nvSpPr>
          <p:cNvPr id="33" name="Rectangle 32">
            <a:extLst>
              <a:ext uri="{FF2B5EF4-FFF2-40B4-BE49-F238E27FC236}">
                <a16:creationId xmlns:a16="http://schemas.microsoft.com/office/drawing/2014/main" id="{C97B7A40-003D-4608-912E-7F4A2810C3DE}"/>
              </a:ext>
            </a:extLst>
          </p:cNvPr>
          <p:cNvSpPr>
            <a:spLocks noGrp="1"/>
          </p:cNvSpPr>
          <p:nvPr/>
        </p:nvSpPr>
        <p:spPr>
          <a:xfrm>
            <a:off x="6896100" y="5429250"/>
            <a:ext cx="2952750" cy="361950"/>
          </a:xfrm>
          <a:prstGeom prst="rect">
            <a:avLst/>
          </a:prstGeom>
          <a:noFill/>
          <a:ln w="0">
            <a:noFill/>
            <a:prstDash val="solid"/>
          </a:ln>
        </p:spPr>
        <p:txBody>
          <a:bodyPr/>
          <a:lstStyle/>
          <a:p>
            <a:pPr algn="l">
              <a:defRPr sz="1200" b="0">
                <a:solidFill>
                  <a:srgbClr val="526777"/>
                </a:solidFill>
              </a:defRPr>
            </a:pPr>
            <a:r>
              <a:rPr sz="1200" b="0">
                <a:solidFill>
                  <a:srgbClr val="526777"/>
                </a:solidFill>
              </a:rPr>
              <a:t>A human pause must survive process restarts and scale-out.</a:t>
            </a:r>
          </a:p>
        </p:txBody>
      </p:sp>
      <p:sp>
        <p:nvSpPr>
          <p:cNvPr id="34" name="Rectangle 33">
            <a:extLst>
              <a:ext uri="{FF2B5EF4-FFF2-40B4-BE49-F238E27FC236}">
                <a16:creationId xmlns:a16="http://schemas.microsoft.com/office/drawing/2014/main" id="{686267E6-9907-43DF-8CF0-FC6CDEAED1B4}"/>
              </a:ext>
            </a:extLst>
          </p:cNvPr>
          <p:cNvSpPr>
            <a:spLocks noGrp="1"/>
          </p:cNvSpPr>
          <p:nvPr/>
        </p:nvSpPr>
        <p:spPr>
          <a:xfrm>
            <a:off x="666750" y="5943600"/>
            <a:ext cx="10096500" cy="209550"/>
          </a:xfrm>
          <a:prstGeom prst="rect">
            <a:avLst/>
          </a:prstGeom>
          <a:noFill/>
          <a:ln w="0">
            <a:noFill/>
            <a:prstDash val="solid"/>
          </a:ln>
        </p:spPr>
        <p:txBody>
          <a:bodyPr/>
          <a:lstStyle/>
          <a:p>
            <a:pPr algn="l">
              <a:defRPr sz="1275" b="1">
                <a:solidFill>
                  <a:srgbClr val="526777"/>
                </a:solidFill>
              </a:defRPr>
            </a:pPr>
            <a:r>
              <a:rPr sz="1275" b="1">
                <a:solidFill>
                  <a:srgbClr val="526777"/>
                </a:solidFill>
              </a:rPr>
              <a:t>IAM principle: use an ECS task role for Bedrock inference. Developer credentials never ship with the service.</a:t>
            </a:r>
          </a:p>
        </p:txBody>
      </p:sp>
      <p:sp>
        <p:nvSpPr>
          <p:cNvPr id="35" name="Rectangle 34">
            <a:extLst>
              <a:ext uri="{FF2B5EF4-FFF2-40B4-BE49-F238E27FC236}">
                <a16:creationId xmlns:a16="http://schemas.microsoft.com/office/drawing/2014/main" id="{8DD95BC9-42FC-4294-B299-7F4F6F65F630}"/>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36" name="Rectangle 35">
            <a:extLst>
              <a:ext uri="{FF2B5EF4-FFF2-40B4-BE49-F238E27FC236}">
                <a16:creationId xmlns:a16="http://schemas.microsoft.com/office/drawing/2014/main" id="{07C4D05D-78D7-468A-B842-7D7245193F0B}"/>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37" name="Rectangle 36">
            <a:extLst>
              <a:ext uri="{FF2B5EF4-FFF2-40B4-BE49-F238E27FC236}">
                <a16:creationId xmlns:a16="http://schemas.microsoft.com/office/drawing/2014/main" id="{D377DD71-7B74-45F0-B14A-ACFA77CE106D}"/>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09</a:t>
            </a:r>
          </a:p>
        </p:txBody>
      </p:sp>
    </p:spTree>
    <p:extLst>
      <p:ext uri="{BB962C8B-B14F-4D97-AF65-F5344CB8AC3E}">
        <p14:creationId xmlns:p14="http://schemas.microsoft.com/office/powerpoint/2010/main" val="545946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351634B-8E1A-4C9E-9968-CF0E41A9D367}"/>
              </a:ext>
            </a:extLst>
          </p:cNvPr>
          <p:cNvSpPr>
            <a:spLocks noGrp="1"/>
          </p:cNvSpPr>
          <p:nvPr/>
        </p:nvSpPr>
        <p:spPr>
          <a:xfrm>
            <a:off x="533400" y="419100"/>
            <a:ext cx="4762500" cy="171450"/>
          </a:xfrm>
          <a:prstGeom prst="rect">
            <a:avLst/>
          </a:prstGeom>
          <a:noFill/>
          <a:ln w="0">
            <a:noFill/>
            <a:prstDash val="solid"/>
          </a:ln>
        </p:spPr>
        <p:txBody>
          <a:bodyPr/>
          <a:lstStyle/>
          <a:p>
            <a:pPr algn="l">
              <a:defRPr sz="900" b="1">
                <a:solidFill>
                  <a:srgbClr val="0073B9"/>
                </a:solidFill>
              </a:defRPr>
            </a:pPr>
            <a:r>
              <a:rPr sz="900" b="1">
                <a:solidFill>
                  <a:srgbClr val="0073B9"/>
                </a:solidFill>
              </a:rPr>
              <a:t>WALKTHROUGH EVIDENCE</a:t>
            </a:r>
          </a:p>
        </p:txBody>
      </p:sp>
      <p:sp>
        <p:nvSpPr>
          <p:cNvPr id="2" name="Rectangle 1">
            <a:extLst>
              <a:ext uri="{FF2B5EF4-FFF2-40B4-BE49-F238E27FC236}">
                <a16:creationId xmlns:a16="http://schemas.microsoft.com/office/drawing/2014/main" id="{9C1067EE-EE9C-4176-AE3E-90652FB43C3E}"/>
              </a:ext>
            </a:extLst>
          </p:cNvPr>
          <p:cNvSpPr>
            <a:spLocks noGrp="1"/>
          </p:cNvSpPr>
          <p:nvPr/>
        </p:nvSpPr>
        <p:spPr>
          <a:xfrm>
            <a:off x="533400" y="723900"/>
            <a:ext cx="10763250" cy="457200"/>
          </a:xfrm>
          <a:prstGeom prst="rect">
            <a:avLst/>
          </a:prstGeom>
          <a:noFill/>
          <a:ln w="0">
            <a:noFill/>
            <a:prstDash val="solid"/>
          </a:ln>
        </p:spPr>
        <p:txBody>
          <a:bodyPr/>
          <a:lstStyle/>
          <a:p>
            <a:pPr algn="l">
              <a:defRPr sz="2550" b="1">
                <a:solidFill>
                  <a:srgbClr val="102A43"/>
                </a:solidFill>
              </a:defRPr>
            </a:pPr>
            <a:r>
              <a:rPr sz="2550" b="1">
                <a:solidFill>
                  <a:srgbClr val="102A43"/>
                </a:solidFill>
              </a:rPr>
              <a:t>Three reports make the trade-offs tangible</a:t>
            </a:r>
          </a:p>
        </p:txBody>
      </p:sp>
      <p:sp>
        <p:nvSpPr>
          <p:cNvPr id="3" name="Rectangle 2">
            <a:extLst>
              <a:ext uri="{FF2B5EF4-FFF2-40B4-BE49-F238E27FC236}">
                <a16:creationId xmlns:a16="http://schemas.microsoft.com/office/drawing/2014/main" id="{422CEE2E-A01F-417D-854E-54A348DFFACF}"/>
              </a:ext>
            </a:extLst>
          </p:cNvPr>
          <p:cNvSpPr>
            <a:spLocks noGrp="1"/>
          </p:cNvSpPr>
          <p:nvPr/>
        </p:nvSpPr>
        <p:spPr>
          <a:xfrm>
            <a:off x="533400" y="1295400"/>
            <a:ext cx="10477500" cy="266700"/>
          </a:xfrm>
          <a:prstGeom prst="rect">
            <a:avLst/>
          </a:prstGeom>
          <a:noFill/>
          <a:ln w="0">
            <a:noFill/>
            <a:prstDash val="solid"/>
          </a:ln>
        </p:spPr>
        <p:txBody>
          <a:bodyPr/>
          <a:lstStyle/>
          <a:p>
            <a:pPr algn="l">
              <a:defRPr sz="1350" b="0">
                <a:solidFill>
                  <a:srgbClr val="526777"/>
                </a:solidFill>
              </a:defRPr>
            </a:pPr>
            <a:endParaRPr sz="1350" b="0" dirty="0">
              <a:solidFill>
                <a:srgbClr val="526777"/>
              </a:solidFill>
            </a:endParaRPr>
          </a:p>
        </p:txBody>
      </p:sp>
      <p:sp>
        <p:nvSpPr>
          <p:cNvPr id="4" name="Rectangle 3">
            <a:extLst>
              <a:ext uri="{FF2B5EF4-FFF2-40B4-BE49-F238E27FC236}">
                <a16:creationId xmlns:a16="http://schemas.microsoft.com/office/drawing/2014/main" id="{F5EDA930-F45C-4B49-8E98-7A62763EA5A2}"/>
              </a:ext>
            </a:extLst>
          </p:cNvPr>
          <p:cNvSpPr>
            <a:spLocks noGrp="1"/>
          </p:cNvSpPr>
          <p:nvPr/>
        </p:nvSpPr>
        <p:spPr>
          <a:xfrm>
            <a:off x="533400" y="1219200"/>
            <a:ext cx="914400" cy="38100"/>
          </a:xfrm>
          <a:prstGeom prst="rect">
            <a:avLst/>
          </a:prstGeom>
          <a:solidFill>
            <a:srgbClr val="F58220"/>
          </a:solidFill>
          <a:ln w="0">
            <a:solidFill>
              <a:srgbClr val="F58220"/>
            </a:solidFill>
            <a:prstDash val="solid"/>
          </a:ln>
        </p:spPr>
        <p:txBody>
          <a:bodyPr/>
          <a:lstStyle/>
          <a:p>
            <a:endParaRPr lang="en-US"/>
          </a:p>
        </p:txBody>
      </p:sp>
      <p:sp>
        <p:nvSpPr>
          <p:cNvPr id="5" name="Rectangle: Rounded Corners 4">
            <a:extLst>
              <a:ext uri="{FF2B5EF4-FFF2-40B4-BE49-F238E27FC236}">
                <a16:creationId xmlns:a16="http://schemas.microsoft.com/office/drawing/2014/main" id="{06D8FDA3-269F-46A8-9E44-7F07D77B753A}"/>
              </a:ext>
            </a:extLst>
          </p:cNvPr>
          <p:cNvSpPr>
            <a:spLocks noGrp="1"/>
          </p:cNvSpPr>
          <p:nvPr/>
        </p:nvSpPr>
        <p:spPr>
          <a:xfrm>
            <a:off x="609600" y="2514600"/>
            <a:ext cx="3295650" cy="2381250"/>
          </a:xfrm>
          <a:prstGeom prst="roundRect">
            <a:avLst>
              <a:gd name="adj" fmla="val 3200"/>
            </a:avLst>
          </a:prstGeom>
          <a:solidFill>
            <a:srgbClr val="FFFFFF"/>
          </a:solidFill>
          <a:ln w="11430">
            <a:solidFill>
              <a:srgbClr val="D7E1E8"/>
            </a:solidFill>
            <a:prstDash val="solid"/>
          </a:ln>
        </p:spPr>
        <p:txBody>
          <a:bodyPr/>
          <a:lstStyle/>
          <a:p>
            <a:endParaRPr lang="en-US"/>
          </a:p>
        </p:txBody>
      </p:sp>
      <p:sp>
        <p:nvSpPr>
          <p:cNvPr id="6" name="Rectangle 5">
            <a:extLst>
              <a:ext uri="{FF2B5EF4-FFF2-40B4-BE49-F238E27FC236}">
                <a16:creationId xmlns:a16="http://schemas.microsoft.com/office/drawing/2014/main" id="{AD7337CD-F48D-4070-9FCB-4691F52090FC}"/>
              </a:ext>
            </a:extLst>
          </p:cNvPr>
          <p:cNvSpPr>
            <a:spLocks noGrp="1"/>
          </p:cNvSpPr>
          <p:nvPr/>
        </p:nvSpPr>
        <p:spPr>
          <a:xfrm>
            <a:off x="609600" y="2514600"/>
            <a:ext cx="3295650" cy="76200"/>
          </a:xfrm>
          <a:prstGeom prst="rect">
            <a:avLst/>
          </a:prstGeom>
          <a:solidFill>
            <a:srgbClr val="159947"/>
          </a:solidFill>
          <a:ln w="0">
            <a:solidFill>
              <a:srgbClr val="159947"/>
            </a:solidFill>
            <a:prstDash val="solid"/>
          </a:ln>
        </p:spPr>
        <p:txBody>
          <a:bodyPr/>
          <a:lstStyle/>
          <a:p>
            <a:endParaRPr lang="en-US"/>
          </a:p>
        </p:txBody>
      </p:sp>
      <p:sp>
        <p:nvSpPr>
          <p:cNvPr id="7" name="Rectangle 6">
            <a:extLst>
              <a:ext uri="{FF2B5EF4-FFF2-40B4-BE49-F238E27FC236}">
                <a16:creationId xmlns:a16="http://schemas.microsoft.com/office/drawing/2014/main" id="{FA65D137-0258-4FE2-B5A7-67D22A0CD310}"/>
              </a:ext>
            </a:extLst>
          </p:cNvPr>
          <p:cNvSpPr>
            <a:spLocks noGrp="1"/>
          </p:cNvSpPr>
          <p:nvPr/>
        </p:nvSpPr>
        <p:spPr>
          <a:xfrm>
            <a:off x="857250" y="2800350"/>
            <a:ext cx="952500" cy="266700"/>
          </a:xfrm>
          <a:prstGeom prst="rect">
            <a:avLst/>
          </a:prstGeom>
          <a:noFill/>
          <a:ln w="0">
            <a:noFill/>
            <a:prstDash val="solid"/>
          </a:ln>
        </p:spPr>
        <p:txBody>
          <a:bodyPr/>
          <a:lstStyle/>
          <a:p>
            <a:pPr algn="l">
              <a:defRPr sz="1950" b="1">
                <a:solidFill>
                  <a:srgbClr val="159947"/>
                </a:solidFill>
              </a:defRPr>
            </a:pPr>
            <a:r>
              <a:rPr sz="1950" b="1">
                <a:solidFill>
                  <a:srgbClr val="159947"/>
                </a:solidFill>
              </a:rPr>
              <a:t>#0001</a:t>
            </a:r>
          </a:p>
        </p:txBody>
      </p:sp>
      <p:sp>
        <p:nvSpPr>
          <p:cNvPr id="8" name="Rectangle 7">
            <a:extLst>
              <a:ext uri="{FF2B5EF4-FFF2-40B4-BE49-F238E27FC236}">
                <a16:creationId xmlns:a16="http://schemas.microsoft.com/office/drawing/2014/main" id="{CE02E16A-353B-439A-B766-61A843BAB2B1}"/>
              </a:ext>
            </a:extLst>
          </p:cNvPr>
          <p:cNvSpPr>
            <a:spLocks noGrp="1"/>
          </p:cNvSpPr>
          <p:nvPr/>
        </p:nvSpPr>
        <p:spPr>
          <a:xfrm>
            <a:off x="857250" y="3219450"/>
            <a:ext cx="2762250" cy="476250"/>
          </a:xfrm>
          <a:prstGeom prst="rect">
            <a:avLst/>
          </a:prstGeom>
          <a:noFill/>
          <a:ln w="0">
            <a:noFill/>
            <a:prstDash val="solid"/>
          </a:ln>
        </p:spPr>
        <p:txBody>
          <a:bodyPr/>
          <a:lstStyle/>
          <a:p>
            <a:pPr algn="l">
              <a:defRPr sz="1350" b="1">
                <a:solidFill>
                  <a:srgbClr val="102A43"/>
                </a:solidFill>
              </a:defRPr>
            </a:pPr>
            <a:r>
              <a:rPr sz="1350" b="1">
                <a:solidFill>
                  <a:srgbClr val="102A43"/>
                </a:solidFill>
              </a:rPr>
              <a:t>Cosmetic scuff + torn mud flap</a:t>
            </a:r>
          </a:p>
        </p:txBody>
      </p:sp>
      <p:sp>
        <p:nvSpPr>
          <p:cNvPr id="9" name="Rectangle 8">
            <a:extLst>
              <a:ext uri="{FF2B5EF4-FFF2-40B4-BE49-F238E27FC236}">
                <a16:creationId xmlns:a16="http://schemas.microsoft.com/office/drawing/2014/main" id="{3F2C6A43-8877-47FB-83AF-C1D6176707A4}"/>
              </a:ext>
            </a:extLst>
          </p:cNvPr>
          <p:cNvSpPr>
            <a:spLocks noGrp="1"/>
          </p:cNvSpPr>
          <p:nvPr/>
        </p:nvSpPr>
        <p:spPr>
          <a:xfrm>
            <a:off x="857250" y="3943350"/>
            <a:ext cx="2781300" cy="247650"/>
          </a:xfrm>
          <a:prstGeom prst="rect">
            <a:avLst/>
          </a:prstGeom>
          <a:noFill/>
          <a:ln w="0">
            <a:noFill/>
            <a:prstDash val="solid"/>
          </a:ln>
        </p:spPr>
        <p:txBody>
          <a:bodyPr/>
          <a:lstStyle/>
          <a:p>
            <a:pPr algn="l">
              <a:defRPr sz="1500" b="1">
                <a:solidFill>
                  <a:srgbClr val="159947"/>
                </a:solidFill>
              </a:defRPr>
            </a:pPr>
            <a:r>
              <a:rPr sz="1500" b="1">
                <a:solidFill>
                  <a:srgbClr val="159947"/>
                </a:solidFill>
              </a:rPr>
              <a:t>Auto-resolve: repair on site</a:t>
            </a:r>
          </a:p>
        </p:txBody>
      </p:sp>
      <p:sp>
        <p:nvSpPr>
          <p:cNvPr id="10" name="Rectangle 9">
            <a:extLst>
              <a:ext uri="{FF2B5EF4-FFF2-40B4-BE49-F238E27FC236}">
                <a16:creationId xmlns:a16="http://schemas.microsoft.com/office/drawing/2014/main" id="{BA088078-DA61-431F-8F46-AE111D496217}"/>
              </a:ext>
            </a:extLst>
          </p:cNvPr>
          <p:cNvSpPr>
            <a:spLocks noGrp="1"/>
          </p:cNvSpPr>
          <p:nvPr/>
        </p:nvSpPr>
        <p:spPr>
          <a:xfrm>
            <a:off x="857250" y="4362450"/>
            <a:ext cx="2762250" cy="361950"/>
          </a:xfrm>
          <a:prstGeom prst="rect">
            <a:avLst/>
          </a:prstGeom>
          <a:noFill/>
          <a:ln w="0">
            <a:noFill/>
            <a:prstDash val="solid"/>
          </a:ln>
        </p:spPr>
        <p:txBody>
          <a:bodyPr/>
          <a:lstStyle/>
          <a:p>
            <a:pPr algn="l">
              <a:defRPr sz="1200" b="0">
                <a:solidFill>
                  <a:srgbClr val="526777"/>
                </a:solidFill>
              </a:defRPr>
            </a:pPr>
            <a:r>
              <a:rPr sz="1200" b="0">
                <a:solidFill>
                  <a:srgbClr val="526777"/>
                </a:solidFill>
              </a:rPr>
              <a:t>Why: no OOS rule, low cost, high confidence.</a:t>
            </a:r>
          </a:p>
        </p:txBody>
      </p:sp>
      <p:sp>
        <p:nvSpPr>
          <p:cNvPr id="11" name="Rectangle: Rounded Corners 10">
            <a:extLst>
              <a:ext uri="{FF2B5EF4-FFF2-40B4-BE49-F238E27FC236}">
                <a16:creationId xmlns:a16="http://schemas.microsoft.com/office/drawing/2014/main" id="{BB0D56D5-716E-4B47-97EB-5D046855FCFA}"/>
              </a:ext>
            </a:extLst>
          </p:cNvPr>
          <p:cNvSpPr>
            <a:spLocks noGrp="1"/>
          </p:cNvSpPr>
          <p:nvPr/>
        </p:nvSpPr>
        <p:spPr>
          <a:xfrm>
            <a:off x="4286250" y="2514600"/>
            <a:ext cx="3295650" cy="2381250"/>
          </a:xfrm>
          <a:prstGeom prst="roundRect">
            <a:avLst>
              <a:gd name="adj" fmla="val 3200"/>
            </a:avLst>
          </a:prstGeom>
          <a:solidFill>
            <a:srgbClr val="FFFFFF"/>
          </a:solidFill>
          <a:ln w="11430">
            <a:solidFill>
              <a:srgbClr val="D7E1E8"/>
            </a:solidFill>
            <a:prstDash val="solid"/>
          </a:ln>
        </p:spPr>
        <p:txBody>
          <a:bodyPr/>
          <a:lstStyle/>
          <a:p>
            <a:endParaRPr lang="en-US"/>
          </a:p>
        </p:txBody>
      </p:sp>
      <p:sp>
        <p:nvSpPr>
          <p:cNvPr id="12" name="Rectangle 11">
            <a:extLst>
              <a:ext uri="{FF2B5EF4-FFF2-40B4-BE49-F238E27FC236}">
                <a16:creationId xmlns:a16="http://schemas.microsoft.com/office/drawing/2014/main" id="{A115B023-0091-4356-BCE0-91D17702FF96}"/>
              </a:ext>
            </a:extLst>
          </p:cNvPr>
          <p:cNvSpPr>
            <a:spLocks noGrp="1"/>
          </p:cNvSpPr>
          <p:nvPr/>
        </p:nvSpPr>
        <p:spPr>
          <a:xfrm>
            <a:off x="4286250" y="2514600"/>
            <a:ext cx="3295650" cy="76200"/>
          </a:xfrm>
          <a:prstGeom prst="rect">
            <a:avLst/>
          </a:prstGeom>
          <a:solidFill>
            <a:srgbClr val="F58220"/>
          </a:solidFill>
          <a:ln w="0">
            <a:solidFill>
              <a:srgbClr val="F58220"/>
            </a:solidFill>
            <a:prstDash val="solid"/>
          </a:ln>
        </p:spPr>
        <p:txBody>
          <a:bodyPr/>
          <a:lstStyle/>
          <a:p>
            <a:endParaRPr lang="en-US"/>
          </a:p>
        </p:txBody>
      </p:sp>
      <p:sp>
        <p:nvSpPr>
          <p:cNvPr id="13" name="Rectangle 12">
            <a:extLst>
              <a:ext uri="{FF2B5EF4-FFF2-40B4-BE49-F238E27FC236}">
                <a16:creationId xmlns:a16="http://schemas.microsoft.com/office/drawing/2014/main" id="{F8951211-FE60-45D7-9F82-6348C982D8DE}"/>
              </a:ext>
            </a:extLst>
          </p:cNvPr>
          <p:cNvSpPr>
            <a:spLocks noGrp="1"/>
          </p:cNvSpPr>
          <p:nvPr/>
        </p:nvSpPr>
        <p:spPr>
          <a:xfrm>
            <a:off x="4533900" y="2800350"/>
            <a:ext cx="952500" cy="266700"/>
          </a:xfrm>
          <a:prstGeom prst="rect">
            <a:avLst/>
          </a:prstGeom>
          <a:noFill/>
          <a:ln w="0">
            <a:noFill/>
            <a:prstDash val="solid"/>
          </a:ln>
        </p:spPr>
        <p:txBody>
          <a:bodyPr/>
          <a:lstStyle/>
          <a:p>
            <a:pPr algn="l">
              <a:defRPr sz="1950" b="1">
                <a:solidFill>
                  <a:srgbClr val="F58220"/>
                </a:solidFill>
              </a:defRPr>
            </a:pPr>
            <a:r>
              <a:rPr sz="1950" b="1">
                <a:solidFill>
                  <a:srgbClr val="F58220"/>
                </a:solidFill>
              </a:rPr>
              <a:t>#0013</a:t>
            </a:r>
          </a:p>
        </p:txBody>
      </p:sp>
      <p:sp>
        <p:nvSpPr>
          <p:cNvPr id="14" name="Rectangle 13">
            <a:extLst>
              <a:ext uri="{FF2B5EF4-FFF2-40B4-BE49-F238E27FC236}">
                <a16:creationId xmlns:a16="http://schemas.microsoft.com/office/drawing/2014/main" id="{C3B566D0-35BF-4779-BF6B-41A594E964BE}"/>
              </a:ext>
            </a:extLst>
          </p:cNvPr>
          <p:cNvSpPr>
            <a:spLocks noGrp="1"/>
          </p:cNvSpPr>
          <p:nvPr/>
        </p:nvSpPr>
        <p:spPr>
          <a:xfrm>
            <a:off x="4533900" y="3219450"/>
            <a:ext cx="2762250" cy="476250"/>
          </a:xfrm>
          <a:prstGeom prst="rect">
            <a:avLst/>
          </a:prstGeom>
          <a:noFill/>
          <a:ln w="0">
            <a:noFill/>
            <a:prstDash val="solid"/>
          </a:ln>
        </p:spPr>
        <p:txBody>
          <a:bodyPr/>
          <a:lstStyle/>
          <a:p>
            <a:pPr algn="l">
              <a:defRPr sz="1350" b="1">
                <a:solidFill>
                  <a:srgbClr val="102A43"/>
                </a:solidFill>
              </a:defRPr>
            </a:pPr>
            <a:r>
              <a:rPr sz="1350" b="1">
                <a:solidFill>
                  <a:srgbClr val="102A43"/>
                </a:solidFill>
              </a:rPr>
              <a:t>“Looks fine” vs ABS telemetry fault</a:t>
            </a:r>
          </a:p>
        </p:txBody>
      </p:sp>
      <p:sp>
        <p:nvSpPr>
          <p:cNvPr id="15" name="Rectangle 14">
            <a:extLst>
              <a:ext uri="{FF2B5EF4-FFF2-40B4-BE49-F238E27FC236}">
                <a16:creationId xmlns:a16="http://schemas.microsoft.com/office/drawing/2014/main" id="{83F54010-A4D8-4215-932B-A78FB9DEE146}"/>
              </a:ext>
            </a:extLst>
          </p:cNvPr>
          <p:cNvSpPr>
            <a:spLocks noGrp="1"/>
          </p:cNvSpPr>
          <p:nvPr/>
        </p:nvSpPr>
        <p:spPr>
          <a:xfrm>
            <a:off x="4533900" y="3943350"/>
            <a:ext cx="2781300" cy="247650"/>
          </a:xfrm>
          <a:prstGeom prst="rect">
            <a:avLst/>
          </a:prstGeom>
          <a:noFill/>
          <a:ln w="0">
            <a:noFill/>
            <a:prstDash val="solid"/>
          </a:ln>
        </p:spPr>
        <p:txBody>
          <a:bodyPr/>
          <a:lstStyle/>
          <a:p>
            <a:pPr algn="l">
              <a:defRPr sz="1500" b="1">
                <a:solidFill>
                  <a:srgbClr val="F58220"/>
                </a:solidFill>
              </a:defRPr>
            </a:pPr>
            <a:r>
              <a:rPr sz="1500" b="1">
                <a:solidFill>
                  <a:srgbClr val="F58220"/>
                </a:solidFill>
              </a:rPr>
              <a:t>Early human review</a:t>
            </a:r>
          </a:p>
        </p:txBody>
      </p:sp>
      <p:sp>
        <p:nvSpPr>
          <p:cNvPr id="16" name="Rectangle 15">
            <a:extLst>
              <a:ext uri="{FF2B5EF4-FFF2-40B4-BE49-F238E27FC236}">
                <a16:creationId xmlns:a16="http://schemas.microsoft.com/office/drawing/2014/main" id="{93A95AF2-6C25-4659-B37E-338FFB8FA848}"/>
              </a:ext>
            </a:extLst>
          </p:cNvPr>
          <p:cNvSpPr>
            <a:spLocks noGrp="1"/>
          </p:cNvSpPr>
          <p:nvPr/>
        </p:nvSpPr>
        <p:spPr>
          <a:xfrm>
            <a:off x="4533900" y="4362450"/>
            <a:ext cx="2762250" cy="361950"/>
          </a:xfrm>
          <a:prstGeom prst="rect">
            <a:avLst/>
          </a:prstGeom>
          <a:noFill/>
          <a:ln w="0">
            <a:noFill/>
            <a:prstDash val="solid"/>
          </a:ln>
        </p:spPr>
        <p:txBody>
          <a:bodyPr/>
          <a:lstStyle/>
          <a:p>
            <a:pPr algn="l">
              <a:defRPr sz="1200" b="0">
                <a:solidFill>
                  <a:srgbClr val="526777"/>
                </a:solidFill>
              </a:defRPr>
            </a:pPr>
            <a:r>
              <a:rPr sz="1200" b="0">
                <a:solidFill>
                  <a:srgbClr val="526777"/>
                </a:solidFill>
              </a:rPr>
              <a:t>Why: advisory conflict is not an OOS conclusion; do not invent certainty.</a:t>
            </a:r>
          </a:p>
        </p:txBody>
      </p:sp>
      <p:sp>
        <p:nvSpPr>
          <p:cNvPr id="17" name="Rectangle: Rounded Corners 16">
            <a:extLst>
              <a:ext uri="{FF2B5EF4-FFF2-40B4-BE49-F238E27FC236}">
                <a16:creationId xmlns:a16="http://schemas.microsoft.com/office/drawing/2014/main" id="{80B8CADD-C376-436E-82B5-1C35C1419D0B}"/>
              </a:ext>
            </a:extLst>
          </p:cNvPr>
          <p:cNvSpPr>
            <a:spLocks noGrp="1"/>
          </p:cNvSpPr>
          <p:nvPr/>
        </p:nvSpPr>
        <p:spPr>
          <a:xfrm>
            <a:off x="7962900" y="2514600"/>
            <a:ext cx="3295650" cy="2381250"/>
          </a:xfrm>
          <a:prstGeom prst="roundRect">
            <a:avLst>
              <a:gd name="adj" fmla="val 3200"/>
            </a:avLst>
          </a:prstGeom>
          <a:solidFill>
            <a:srgbClr val="FFFFFF"/>
          </a:solidFill>
          <a:ln w="11430">
            <a:solidFill>
              <a:srgbClr val="D7E1E8"/>
            </a:solidFill>
            <a:prstDash val="solid"/>
          </a:ln>
        </p:spPr>
        <p:txBody>
          <a:bodyPr/>
          <a:lstStyle/>
          <a:p>
            <a:endParaRPr lang="en-US"/>
          </a:p>
        </p:txBody>
      </p:sp>
      <p:sp>
        <p:nvSpPr>
          <p:cNvPr id="18" name="Rectangle 17">
            <a:extLst>
              <a:ext uri="{FF2B5EF4-FFF2-40B4-BE49-F238E27FC236}">
                <a16:creationId xmlns:a16="http://schemas.microsoft.com/office/drawing/2014/main" id="{AC218DE8-DDB9-4F87-89D8-113ADD811649}"/>
              </a:ext>
            </a:extLst>
          </p:cNvPr>
          <p:cNvSpPr>
            <a:spLocks noGrp="1"/>
          </p:cNvSpPr>
          <p:nvPr/>
        </p:nvSpPr>
        <p:spPr>
          <a:xfrm>
            <a:off x="7962900" y="2514600"/>
            <a:ext cx="3295650" cy="76200"/>
          </a:xfrm>
          <a:prstGeom prst="rect">
            <a:avLst/>
          </a:prstGeom>
          <a:solidFill>
            <a:srgbClr val="F58220"/>
          </a:solidFill>
          <a:ln w="0">
            <a:solidFill>
              <a:srgbClr val="F58220"/>
            </a:solidFill>
            <a:prstDash val="solid"/>
          </a:ln>
        </p:spPr>
        <p:txBody>
          <a:bodyPr/>
          <a:lstStyle/>
          <a:p>
            <a:endParaRPr lang="en-US"/>
          </a:p>
        </p:txBody>
      </p:sp>
      <p:sp>
        <p:nvSpPr>
          <p:cNvPr id="19" name="Rectangle 18">
            <a:extLst>
              <a:ext uri="{FF2B5EF4-FFF2-40B4-BE49-F238E27FC236}">
                <a16:creationId xmlns:a16="http://schemas.microsoft.com/office/drawing/2014/main" id="{6ADF7435-B509-4CAE-B150-1C1D7C574051}"/>
              </a:ext>
            </a:extLst>
          </p:cNvPr>
          <p:cNvSpPr>
            <a:spLocks noGrp="1"/>
          </p:cNvSpPr>
          <p:nvPr/>
        </p:nvSpPr>
        <p:spPr>
          <a:xfrm>
            <a:off x="8210550" y="2800350"/>
            <a:ext cx="952500" cy="266700"/>
          </a:xfrm>
          <a:prstGeom prst="rect">
            <a:avLst/>
          </a:prstGeom>
          <a:noFill/>
          <a:ln w="0">
            <a:noFill/>
            <a:prstDash val="solid"/>
          </a:ln>
        </p:spPr>
        <p:txBody>
          <a:bodyPr/>
          <a:lstStyle/>
          <a:p>
            <a:pPr algn="l">
              <a:defRPr sz="1950" b="1">
                <a:solidFill>
                  <a:srgbClr val="F58220"/>
                </a:solidFill>
              </a:defRPr>
            </a:pPr>
            <a:r>
              <a:rPr sz="1950" b="1">
                <a:solidFill>
                  <a:srgbClr val="F58220"/>
                </a:solidFill>
              </a:rPr>
              <a:t>#0004</a:t>
            </a:r>
          </a:p>
        </p:txBody>
      </p:sp>
      <p:sp>
        <p:nvSpPr>
          <p:cNvPr id="20" name="Rectangle 19">
            <a:extLst>
              <a:ext uri="{FF2B5EF4-FFF2-40B4-BE49-F238E27FC236}">
                <a16:creationId xmlns:a16="http://schemas.microsoft.com/office/drawing/2014/main" id="{C2F2B602-E4E5-40BC-9B21-1FCD54FB466A}"/>
              </a:ext>
            </a:extLst>
          </p:cNvPr>
          <p:cNvSpPr>
            <a:spLocks noGrp="1"/>
          </p:cNvSpPr>
          <p:nvPr/>
        </p:nvSpPr>
        <p:spPr>
          <a:xfrm>
            <a:off x="8210550" y="3219450"/>
            <a:ext cx="2762250" cy="476250"/>
          </a:xfrm>
          <a:prstGeom prst="rect">
            <a:avLst/>
          </a:prstGeom>
          <a:noFill/>
          <a:ln w="0">
            <a:noFill/>
            <a:prstDash val="solid"/>
          </a:ln>
        </p:spPr>
        <p:txBody>
          <a:bodyPr/>
          <a:lstStyle/>
          <a:p>
            <a:pPr algn="l">
              <a:defRPr sz="1350" b="1">
                <a:solidFill>
                  <a:srgbClr val="102A43"/>
                </a:solidFill>
              </a:defRPr>
            </a:pPr>
            <a:r>
              <a:rPr sz="1350" b="1">
                <a:solidFill>
                  <a:srgbClr val="102A43"/>
                </a:solidFill>
              </a:rPr>
              <a:t>Structural frame crack</a:t>
            </a:r>
          </a:p>
        </p:txBody>
      </p:sp>
      <p:sp>
        <p:nvSpPr>
          <p:cNvPr id="21" name="Rectangle 20">
            <a:extLst>
              <a:ext uri="{FF2B5EF4-FFF2-40B4-BE49-F238E27FC236}">
                <a16:creationId xmlns:a16="http://schemas.microsoft.com/office/drawing/2014/main" id="{C2CDA7E4-447F-406B-81A4-3F4523B0389C}"/>
              </a:ext>
            </a:extLst>
          </p:cNvPr>
          <p:cNvSpPr>
            <a:spLocks noGrp="1"/>
          </p:cNvSpPr>
          <p:nvPr/>
        </p:nvSpPr>
        <p:spPr>
          <a:xfrm>
            <a:off x="8210550" y="3943350"/>
            <a:ext cx="2781300" cy="247650"/>
          </a:xfrm>
          <a:prstGeom prst="rect">
            <a:avLst/>
          </a:prstGeom>
          <a:noFill/>
          <a:ln w="0">
            <a:noFill/>
            <a:prstDash val="solid"/>
          </a:ln>
        </p:spPr>
        <p:txBody>
          <a:bodyPr/>
          <a:lstStyle/>
          <a:p>
            <a:pPr algn="l">
              <a:defRPr sz="1500" b="1">
                <a:solidFill>
                  <a:srgbClr val="F58220"/>
                </a:solidFill>
              </a:defRPr>
            </a:pPr>
            <a:r>
              <a:rPr sz="1500" b="1">
                <a:solidFill>
                  <a:srgbClr val="F58220"/>
                </a:solidFill>
              </a:rPr>
              <a:t>Post-decision human review</a:t>
            </a:r>
          </a:p>
        </p:txBody>
      </p:sp>
      <p:sp>
        <p:nvSpPr>
          <p:cNvPr id="22" name="Rectangle 21">
            <a:extLst>
              <a:ext uri="{FF2B5EF4-FFF2-40B4-BE49-F238E27FC236}">
                <a16:creationId xmlns:a16="http://schemas.microsoft.com/office/drawing/2014/main" id="{9A9327C0-80B5-486C-81E2-379346EA412C}"/>
              </a:ext>
            </a:extLst>
          </p:cNvPr>
          <p:cNvSpPr>
            <a:spLocks noGrp="1"/>
          </p:cNvSpPr>
          <p:nvPr/>
        </p:nvSpPr>
        <p:spPr>
          <a:xfrm>
            <a:off x="8210550" y="4362450"/>
            <a:ext cx="2762250" cy="361950"/>
          </a:xfrm>
          <a:prstGeom prst="rect">
            <a:avLst/>
          </a:prstGeom>
          <a:noFill/>
          <a:ln w="0">
            <a:noFill/>
            <a:prstDash val="solid"/>
          </a:ln>
        </p:spPr>
        <p:txBody>
          <a:bodyPr/>
          <a:lstStyle/>
          <a:p>
            <a:pPr algn="l">
              <a:defRPr sz="1200" b="0">
                <a:solidFill>
                  <a:srgbClr val="526777"/>
                </a:solidFill>
              </a:defRPr>
            </a:pPr>
            <a:r>
              <a:rPr sz="1200" b="0">
                <a:solidFill>
                  <a:srgbClr val="526777"/>
                </a:solidFill>
              </a:rPr>
              <a:t>Why: deterministic OOS + high cost/retire recommendation require accountable sign-off.</a:t>
            </a:r>
          </a:p>
        </p:txBody>
      </p:sp>
      <p:sp>
        <p:nvSpPr>
          <p:cNvPr id="23" name="Rectangle 22">
            <a:extLst>
              <a:ext uri="{FF2B5EF4-FFF2-40B4-BE49-F238E27FC236}">
                <a16:creationId xmlns:a16="http://schemas.microsoft.com/office/drawing/2014/main" id="{00666659-914E-4B72-8582-58FFBFD9E63E}"/>
              </a:ext>
            </a:extLst>
          </p:cNvPr>
          <p:cNvSpPr>
            <a:spLocks noGrp="1"/>
          </p:cNvSpPr>
          <p:nvPr/>
        </p:nvSpPr>
        <p:spPr>
          <a:xfrm>
            <a:off x="609600" y="5524500"/>
            <a:ext cx="10477500" cy="381000"/>
          </a:xfrm>
          <a:prstGeom prst="rect">
            <a:avLst/>
          </a:prstGeom>
          <a:noFill/>
          <a:ln w="0">
            <a:noFill/>
            <a:prstDash val="solid"/>
          </a:ln>
        </p:spPr>
        <p:txBody>
          <a:bodyPr/>
          <a:lstStyle/>
          <a:p>
            <a:pPr algn="l">
              <a:defRPr sz="1425" b="1">
                <a:solidFill>
                  <a:srgbClr val="526777"/>
                </a:solidFill>
              </a:defRPr>
            </a:pPr>
            <a:r>
              <a:rPr sz="1425" b="1">
                <a:solidFill>
                  <a:srgbClr val="526777"/>
                </a:solidFill>
              </a:rPr>
              <a:t>Recommended demo order: #0001 proves the happy path; #0013 proves the system knows when it does not know; #0004 proves policy does not bypass human accountability.</a:t>
            </a:r>
          </a:p>
        </p:txBody>
      </p:sp>
      <p:sp>
        <p:nvSpPr>
          <p:cNvPr id="24" name="Rectangle 23">
            <a:extLst>
              <a:ext uri="{FF2B5EF4-FFF2-40B4-BE49-F238E27FC236}">
                <a16:creationId xmlns:a16="http://schemas.microsoft.com/office/drawing/2014/main" id="{F7116265-824D-4EA6-B9E6-5AE2AA9174FD}"/>
              </a:ext>
            </a:extLst>
          </p:cNvPr>
          <p:cNvSpPr>
            <a:spLocks noGrp="1"/>
          </p:cNvSpPr>
          <p:nvPr/>
        </p:nvSpPr>
        <p:spPr>
          <a:xfrm>
            <a:off x="0" y="6610350"/>
            <a:ext cx="12192000" cy="247650"/>
          </a:xfrm>
          <a:prstGeom prst="rect">
            <a:avLst/>
          </a:prstGeom>
          <a:solidFill>
            <a:srgbClr val="102A43"/>
          </a:solidFill>
          <a:ln w="0">
            <a:solidFill>
              <a:srgbClr val="102A43"/>
            </a:solidFill>
            <a:prstDash val="solid"/>
          </a:ln>
        </p:spPr>
        <p:txBody>
          <a:bodyPr/>
          <a:lstStyle/>
          <a:p>
            <a:endParaRPr lang="en-US"/>
          </a:p>
        </p:txBody>
      </p:sp>
      <p:sp>
        <p:nvSpPr>
          <p:cNvPr id="25" name="Rectangle 24">
            <a:extLst>
              <a:ext uri="{FF2B5EF4-FFF2-40B4-BE49-F238E27FC236}">
                <a16:creationId xmlns:a16="http://schemas.microsoft.com/office/drawing/2014/main" id="{2EE14B6E-8F19-491D-B737-F9999D364F66}"/>
              </a:ext>
            </a:extLst>
          </p:cNvPr>
          <p:cNvSpPr>
            <a:spLocks noGrp="1"/>
          </p:cNvSpPr>
          <p:nvPr/>
        </p:nvSpPr>
        <p:spPr>
          <a:xfrm>
            <a:off x="533400" y="6648450"/>
            <a:ext cx="4953000" cy="152400"/>
          </a:xfrm>
          <a:prstGeom prst="rect">
            <a:avLst/>
          </a:prstGeom>
          <a:noFill/>
          <a:ln w="0">
            <a:noFill/>
            <a:prstDash val="solid"/>
          </a:ln>
        </p:spPr>
        <p:txBody>
          <a:bodyPr/>
          <a:lstStyle/>
          <a:p>
            <a:pPr algn="l">
              <a:defRPr sz="750" b="1">
                <a:solidFill>
                  <a:srgbClr val="D8E5EE"/>
                </a:solidFill>
              </a:defRPr>
            </a:pPr>
            <a:r>
              <a:rPr sz="750" b="1">
                <a:solidFill>
                  <a:srgbClr val="D8E5EE"/>
                </a:solidFill>
              </a:rPr>
              <a:t>DCLI CHASSIS TRIAGE • PROOF OF CONCEPT</a:t>
            </a:r>
          </a:p>
        </p:txBody>
      </p:sp>
      <p:sp>
        <p:nvSpPr>
          <p:cNvPr id="26" name="Rectangle 25">
            <a:extLst>
              <a:ext uri="{FF2B5EF4-FFF2-40B4-BE49-F238E27FC236}">
                <a16:creationId xmlns:a16="http://schemas.microsoft.com/office/drawing/2014/main" id="{3EC7ACA0-22D9-4D11-B130-91079AE83952}"/>
              </a:ext>
            </a:extLst>
          </p:cNvPr>
          <p:cNvSpPr>
            <a:spLocks noGrp="1"/>
          </p:cNvSpPr>
          <p:nvPr/>
        </p:nvSpPr>
        <p:spPr>
          <a:xfrm>
            <a:off x="11125200" y="6648450"/>
            <a:ext cx="514350" cy="152400"/>
          </a:xfrm>
          <a:prstGeom prst="rect">
            <a:avLst/>
          </a:prstGeom>
          <a:noFill/>
          <a:ln w="0">
            <a:noFill/>
            <a:prstDash val="solid"/>
          </a:ln>
        </p:spPr>
        <p:txBody>
          <a:bodyPr/>
          <a:lstStyle/>
          <a:p>
            <a:pPr algn="r">
              <a:defRPr sz="750" b="1">
                <a:solidFill>
                  <a:srgbClr val="D8E5EE"/>
                </a:solidFill>
              </a:defRPr>
            </a:pPr>
            <a:r>
              <a:rPr sz="750" b="1">
                <a:solidFill>
                  <a:srgbClr val="D8E5EE"/>
                </a:solidFill>
              </a:rPr>
              <a:t>10</a:t>
            </a:r>
          </a:p>
        </p:txBody>
      </p:sp>
    </p:spTree>
    <p:extLst>
      <p:ext uri="{BB962C8B-B14F-4D97-AF65-F5344CB8AC3E}">
        <p14:creationId xmlns:p14="http://schemas.microsoft.com/office/powerpoint/2010/main" val="1091898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12E5F19-1BAC-429E-959A-38C80BEFBFA0}"/>
              </a:ext>
            </a:extLst>
          </p:cNvPr>
          <p:cNvSpPr>
            <a:spLocks noGrp="1"/>
          </p:cNvSpPr>
          <p:nvPr/>
        </p:nvSpPr>
        <p:spPr>
          <a:xfrm>
            <a:off x="609600" y="476250"/>
            <a:ext cx="4762500" cy="171450"/>
          </a:xfrm>
          <a:prstGeom prst="rect">
            <a:avLst/>
          </a:prstGeom>
          <a:noFill/>
          <a:ln w="0">
            <a:noFill/>
            <a:prstDash val="solid"/>
          </a:ln>
        </p:spPr>
        <p:txBody>
          <a:bodyPr/>
          <a:lstStyle/>
          <a:p>
            <a:pPr algn="l">
              <a:defRPr sz="900" b="1">
                <a:solidFill>
                  <a:srgbClr val="91CFEF"/>
                </a:solidFill>
              </a:defRPr>
            </a:pPr>
            <a:r>
              <a:rPr sz="900" b="1">
                <a:solidFill>
                  <a:srgbClr val="91CFEF"/>
                </a:solidFill>
              </a:rPr>
              <a:t>CONCLUSION</a:t>
            </a:r>
          </a:p>
        </p:txBody>
      </p:sp>
      <p:sp>
        <p:nvSpPr>
          <p:cNvPr id="2" name="Rectangle 1">
            <a:extLst>
              <a:ext uri="{FF2B5EF4-FFF2-40B4-BE49-F238E27FC236}">
                <a16:creationId xmlns:a16="http://schemas.microsoft.com/office/drawing/2014/main" id="{EC01300A-D46C-4CB8-B340-9FB905D58206}"/>
              </a:ext>
            </a:extLst>
          </p:cNvPr>
          <p:cNvSpPr>
            <a:spLocks noGrp="1"/>
          </p:cNvSpPr>
          <p:nvPr/>
        </p:nvSpPr>
        <p:spPr>
          <a:xfrm>
            <a:off x="609600" y="781050"/>
            <a:ext cx="10477500" cy="495300"/>
          </a:xfrm>
          <a:prstGeom prst="rect">
            <a:avLst/>
          </a:prstGeom>
          <a:noFill/>
          <a:ln w="0">
            <a:noFill/>
            <a:prstDash val="solid"/>
          </a:ln>
        </p:spPr>
        <p:txBody>
          <a:bodyPr/>
          <a:lstStyle/>
          <a:p>
            <a:pPr algn="l">
              <a:defRPr sz="2850" b="1">
                <a:solidFill>
                  <a:srgbClr val="FFFFFF"/>
                </a:solidFill>
              </a:defRPr>
            </a:pPr>
            <a:r>
              <a:rPr sz="2850" b="1">
                <a:solidFill>
                  <a:srgbClr val="FFFFFF"/>
                </a:solidFill>
              </a:rPr>
              <a:t>Policy and people retain authority</a:t>
            </a:r>
          </a:p>
        </p:txBody>
      </p:sp>
      <p:sp>
        <p:nvSpPr>
          <p:cNvPr id="3" name="Rectangle 2">
            <a:extLst>
              <a:ext uri="{FF2B5EF4-FFF2-40B4-BE49-F238E27FC236}">
                <a16:creationId xmlns:a16="http://schemas.microsoft.com/office/drawing/2014/main" id="{94DB3E9B-24CA-4F2B-B5CB-173CD58A0C83}"/>
              </a:ext>
            </a:extLst>
          </p:cNvPr>
          <p:cNvSpPr>
            <a:spLocks noGrp="1"/>
          </p:cNvSpPr>
          <p:nvPr/>
        </p:nvSpPr>
        <p:spPr>
          <a:xfrm>
            <a:off x="609600" y="1390650"/>
            <a:ext cx="10287000" cy="285750"/>
          </a:xfrm>
          <a:prstGeom prst="rect">
            <a:avLst/>
          </a:prstGeom>
          <a:noFill/>
          <a:ln w="0">
            <a:noFill/>
            <a:prstDash val="solid"/>
          </a:ln>
        </p:spPr>
        <p:txBody>
          <a:bodyPr/>
          <a:lstStyle/>
          <a:p>
            <a:pPr algn="l">
              <a:defRPr sz="1425" b="0">
                <a:solidFill>
                  <a:srgbClr val="C6D8E5"/>
                </a:solidFill>
              </a:defRPr>
            </a:pPr>
            <a:r>
              <a:rPr sz="1425" b="0" dirty="0">
                <a:solidFill>
                  <a:srgbClr val="C6D8E5"/>
                </a:solidFill>
              </a:rPr>
              <a:t>The model produces a structured interpretation; that boundary makes this a defensible triage system.</a:t>
            </a:r>
          </a:p>
        </p:txBody>
      </p:sp>
      <p:sp>
        <p:nvSpPr>
          <p:cNvPr id="4" name="Rectangle 3">
            <a:extLst>
              <a:ext uri="{FF2B5EF4-FFF2-40B4-BE49-F238E27FC236}">
                <a16:creationId xmlns:a16="http://schemas.microsoft.com/office/drawing/2014/main" id="{12256941-1D58-4854-8EC1-A73BBB9BC046}"/>
              </a:ext>
            </a:extLst>
          </p:cNvPr>
          <p:cNvSpPr>
            <a:spLocks noGrp="1"/>
          </p:cNvSpPr>
          <p:nvPr/>
        </p:nvSpPr>
        <p:spPr>
          <a:xfrm>
            <a:off x="704850" y="2571750"/>
            <a:ext cx="2000250" cy="209550"/>
          </a:xfrm>
          <a:prstGeom prst="rect">
            <a:avLst/>
          </a:prstGeom>
          <a:noFill/>
          <a:ln w="0">
            <a:noFill/>
            <a:prstDash val="solid"/>
          </a:ln>
        </p:spPr>
        <p:txBody>
          <a:bodyPr/>
          <a:lstStyle/>
          <a:p>
            <a:pPr algn="l">
              <a:defRPr sz="1425" b="1">
                <a:solidFill>
                  <a:srgbClr val="F58220"/>
                </a:solidFill>
              </a:defRPr>
            </a:pPr>
            <a:r>
              <a:rPr sz="1425" b="1">
                <a:solidFill>
                  <a:srgbClr val="F58220"/>
                </a:solidFill>
              </a:rPr>
              <a:t>Why one agent?</a:t>
            </a:r>
          </a:p>
        </p:txBody>
      </p:sp>
      <p:sp>
        <p:nvSpPr>
          <p:cNvPr id="5" name="Rectangle 4">
            <a:extLst>
              <a:ext uri="{FF2B5EF4-FFF2-40B4-BE49-F238E27FC236}">
                <a16:creationId xmlns:a16="http://schemas.microsoft.com/office/drawing/2014/main" id="{02B92AD4-7766-42A8-BA57-6BF15CB7F06D}"/>
              </a:ext>
            </a:extLst>
          </p:cNvPr>
          <p:cNvSpPr>
            <a:spLocks noGrp="1"/>
          </p:cNvSpPr>
          <p:nvPr/>
        </p:nvSpPr>
        <p:spPr>
          <a:xfrm>
            <a:off x="704850" y="2895600"/>
            <a:ext cx="4191000" cy="400050"/>
          </a:xfrm>
          <a:prstGeom prst="rect">
            <a:avLst/>
          </a:prstGeom>
          <a:noFill/>
          <a:ln w="0">
            <a:noFill/>
            <a:prstDash val="solid"/>
          </a:ln>
        </p:spPr>
        <p:txBody>
          <a:bodyPr/>
          <a:lstStyle/>
          <a:p>
            <a:pPr algn="l">
              <a:defRPr sz="1350" b="0">
                <a:solidFill>
                  <a:srgbClr val="C6D8E5"/>
                </a:solidFill>
              </a:defRPr>
            </a:pPr>
            <a:r>
              <a:rPr sz="1350" b="0">
                <a:solidFill>
                  <a:srgbClr val="C6D8E5"/>
                </a:solidFill>
              </a:rPr>
              <a:t>Only free-text interpretation needs language judgment.</a:t>
            </a:r>
          </a:p>
        </p:txBody>
      </p:sp>
      <p:sp>
        <p:nvSpPr>
          <p:cNvPr id="6" name="Rectangle 5">
            <a:extLst>
              <a:ext uri="{FF2B5EF4-FFF2-40B4-BE49-F238E27FC236}">
                <a16:creationId xmlns:a16="http://schemas.microsoft.com/office/drawing/2014/main" id="{3D9267BF-C2A7-4662-B30B-CEFB0F354EE0}"/>
              </a:ext>
            </a:extLst>
          </p:cNvPr>
          <p:cNvSpPr>
            <a:spLocks noGrp="1"/>
          </p:cNvSpPr>
          <p:nvPr/>
        </p:nvSpPr>
        <p:spPr>
          <a:xfrm>
            <a:off x="704850" y="3467100"/>
            <a:ext cx="4552950" cy="9525"/>
          </a:xfrm>
          <a:prstGeom prst="rect">
            <a:avLst/>
          </a:prstGeom>
          <a:solidFill>
            <a:srgbClr val="D7E1E8"/>
          </a:solidFill>
          <a:ln w="0">
            <a:solidFill>
              <a:srgbClr val="D7E1E8"/>
            </a:solidFill>
            <a:prstDash val="solid"/>
          </a:ln>
        </p:spPr>
        <p:txBody>
          <a:bodyPr/>
          <a:lstStyle/>
          <a:p>
            <a:endParaRPr lang="en-US"/>
          </a:p>
        </p:txBody>
      </p:sp>
      <p:sp>
        <p:nvSpPr>
          <p:cNvPr id="7" name="Rectangle 6">
            <a:extLst>
              <a:ext uri="{FF2B5EF4-FFF2-40B4-BE49-F238E27FC236}">
                <a16:creationId xmlns:a16="http://schemas.microsoft.com/office/drawing/2014/main" id="{80AA8525-7928-4B09-9F19-D057929099E5}"/>
              </a:ext>
            </a:extLst>
          </p:cNvPr>
          <p:cNvSpPr>
            <a:spLocks noGrp="1"/>
          </p:cNvSpPr>
          <p:nvPr/>
        </p:nvSpPr>
        <p:spPr>
          <a:xfrm>
            <a:off x="704850" y="3905250"/>
            <a:ext cx="2000250" cy="209550"/>
          </a:xfrm>
          <a:prstGeom prst="rect">
            <a:avLst/>
          </a:prstGeom>
          <a:noFill/>
          <a:ln w="0">
            <a:noFill/>
            <a:prstDash val="solid"/>
          </a:ln>
        </p:spPr>
        <p:txBody>
          <a:bodyPr/>
          <a:lstStyle/>
          <a:p>
            <a:pPr algn="l">
              <a:defRPr sz="1425" b="1">
                <a:solidFill>
                  <a:srgbClr val="91CFEF"/>
                </a:solidFill>
              </a:defRPr>
            </a:pPr>
            <a:r>
              <a:rPr sz="1425" b="1">
                <a:solidFill>
                  <a:srgbClr val="91CFEF"/>
                </a:solidFill>
              </a:rPr>
              <a:t>Why LangGraph?</a:t>
            </a:r>
          </a:p>
        </p:txBody>
      </p:sp>
      <p:sp>
        <p:nvSpPr>
          <p:cNvPr id="8" name="Rectangle 7">
            <a:extLst>
              <a:ext uri="{FF2B5EF4-FFF2-40B4-BE49-F238E27FC236}">
                <a16:creationId xmlns:a16="http://schemas.microsoft.com/office/drawing/2014/main" id="{48D8E255-7F58-446E-8F8A-39CD14A7E41B}"/>
              </a:ext>
            </a:extLst>
          </p:cNvPr>
          <p:cNvSpPr>
            <a:spLocks noGrp="1"/>
          </p:cNvSpPr>
          <p:nvPr/>
        </p:nvSpPr>
        <p:spPr>
          <a:xfrm>
            <a:off x="704850" y="4229100"/>
            <a:ext cx="4191000" cy="400050"/>
          </a:xfrm>
          <a:prstGeom prst="rect">
            <a:avLst/>
          </a:prstGeom>
          <a:noFill/>
          <a:ln w="0">
            <a:noFill/>
            <a:prstDash val="solid"/>
          </a:ln>
        </p:spPr>
        <p:txBody>
          <a:bodyPr/>
          <a:lstStyle/>
          <a:p>
            <a:pPr algn="l">
              <a:defRPr sz="1350" b="0">
                <a:solidFill>
                  <a:srgbClr val="C6D8E5"/>
                </a:solidFill>
              </a:defRPr>
            </a:pPr>
            <a:r>
              <a:rPr sz="1350" b="0">
                <a:solidFill>
                  <a:srgbClr val="C6D8E5"/>
                </a:solidFill>
              </a:rPr>
              <a:t>State, interrupts, and real planned transitions are first-class.</a:t>
            </a:r>
          </a:p>
        </p:txBody>
      </p:sp>
      <p:sp>
        <p:nvSpPr>
          <p:cNvPr id="9" name="Rectangle 8">
            <a:extLst>
              <a:ext uri="{FF2B5EF4-FFF2-40B4-BE49-F238E27FC236}">
                <a16:creationId xmlns:a16="http://schemas.microsoft.com/office/drawing/2014/main" id="{A056EDBA-4C58-4C75-9FBB-EFFC34C5DFF0}"/>
              </a:ext>
            </a:extLst>
          </p:cNvPr>
          <p:cNvSpPr>
            <a:spLocks noGrp="1"/>
          </p:cNvSpPr>
          <p:nvPr/>
        </p:nvSpPr>
        <p:spPr>
          <a:xfrm>
            <a:off x="704850" y="4800600"/>
            <a:ext cx="4552950" cy="9525"/>
          </a:xfrm>
          <a:prstGeom prst="rect">
            <a:avLst/>
          </a:prstGeom>
          <a:solidFill>
            <a:srgbClr val="D7E1E8"/>
          </a:solidFill>
          <a:ln w="0">
            <a:solidFill>
              <a:srgbClr val="D7E1E8"/>
            </a:solidFill>
            <a:prstDash val="solid"/>
          </a:ln>
        </p:spPr>
        <p:txBody>
          <a:bodyPr/>
          <a:lstStyle/>
          <a:p>
            <a:endParaRPr lang="en-US"/>
          </a:p>
        </p:txBody>
      </p:sp>
      <p:sp>
        <p:nvSpPr>
          <p:cNvPr id="10" name="Rectangle 9">
            <a:extLst>
              <a:ext uri="{FF2B5EF4-FFF2-40B4-BE49-F238E27FC236}">
                <a16:creationId xmlns:a16="http://schemas.microsoft.com/office/drawing/2014/main" id="{4F1FDE34-8D15-42B9-9BC1-768C468AB688}"/>
              </a:ext>
            </a:extLst>
          </p:cNvPr>
          <p:cNvSpPr>
            <a:spLocks noGrp="1"/>
          </p:cNvSpPr>
          <p:nvPr/>
        </p:nvSpPr>
        <p:spPr>
          <a:xfrm>
            <a:off x="6305550" y="2571750"/>
            <a:ext cx="2000250" cy="209550"/>
          </a:xfrm>
          <a:prstGeom prst="rect">
            <a:avLst/>
          </a:prstGeom>
          <a:noFill/>
          <a:ln w="0">
            <a:noFill/>
            <a:prstDash val="solid"/>
          </a:ln>
        </p:spPr>
        <p:txBody>
          <a:bodyPr/>
          <a:lstStyle/>
          <a:p>
            <a:pPr algn="l">
              <a:defRPr sz="1425" b="1">
                <a:solidFill>
                  <a:srgbClr val="91CFEF"/>
                </a:solidFill>
              </a:defRPr>
            </a:pPr>
            <a:r>
              <a:rPr sz="1425" b="1">
                <a:solidFill>
                  <a:srgbClr val="91CFEF"/>
                </a:solidFill>
              </a:rPr>
              <a:t>Why human review?</a:t>
            </a:r>
          </a:p>
        </p:txBody>
      </p:sp>
      <p:sp>
        <p:nvSpPr>
          <p:cNvPr id="11" name="Rectangle 10">
            <a:extLst>
              <a:ext uri="{FF2B5EF4-FFF2-40B4-BE49-F238E27FC236}">
                <a16:creationId xmlns:a16="http://schemas.microsoft.com/office/drawing/2014/main" id="{3E0F8CCD-73CD-4554-B433-761003341A2B}"/>
              </a:ext>
            </a:extLst>
          </p:cNvPr>
          <p:cNvSpPr>
            <a:spLocks noGrp="1"/>
          </p:cNvSpPr>
          <p:nvPr/>
        </p:nvSpPr>
        <p:spPr>
          <a:xfrm>
            <a:off x="6305550" y="2895600"/>
            <a:ext cx="4191000" cy="400050"/>
          </a:xfrm>
          <a:prstGeom prst="rect">
            <a:avLst/>
          </a:prstGeom>
          <a:noFill/>
          <a:ln w="0">
            <a:noFill/>
            <a:prstDash val="solid"/>
          </a:ln>
        </p:spPr>
        <p:txBody>
          <a:bodyPr/>
          <a:lstStyle/>
          <a:p>
            <a:pPr algn="l">
              <a:defRPr sz="1350" b="0">
                <a:solidFill>
                  <a:srgbClr val="C6D8E5"/>
                </a:solidFill>
              </a:defRPr>
            </a:pPr>
            <a:r>
              <a:rPr sz="1350" b="0">
                <a:solidFill>
                  <a:srgbClr val="C6D8E5"/>
                </a:solidFill>
              </a:rPr>
              <a:t>Ambiguous and consequential cases should not auto-resolve.</a:t>
            </a:r>
          </a:p>
        </p:txBody>
      </p:sp>
      <p:sp>
        <p:nvSpPr>
          <p:cNvPr id="12" name="Rectangle 11">
            <a:extLst>
              <a:ext uri="{FF2B5EF4-FFF2-40B4-BE49-F238E27FC236}">
                <a16:creationId xmlns:a16="http://schemas.microsoft.com/office/drawing/2014/main" id="{4F7406E9-0CD7-4C94-9413-1CF9ECB18DFC}"/>
              </a:ext>
            </a:extLst>
          </p:cNvPr>
          <p:cNvSpPr>
            <a:spLocks noGrp="1"/>
          </p:cNvSpPr>
          <p:nvPr/>
        </p:nvSpPr>
        <p:spPr>
          <a:xfrm>
            <a:off x="6305550" y="3467100"/>
            <a:ext cx="4552950" cy="9525"/>
          </a:xfrm>
          <a:prstGeom prst="rect">
            <a:avLst/>
          </a:prstGeom>
          <a:solidFill>
            <a:srgbClr val="D7E1E8"/>
          </a:solidFill>
          <a:ln w="0">
            <a:solidFill>
              <a:srgbClr val="D7E1E8"/>
            </a:solidFill>
            <a:prstDash val="solid"/>
          </a:ln>
        </p:spPr>
        <p:txBody>
          <a:bodyPr/>
          <a:lstStyle/>
          <a:p>
            <a:endParaRPr lang="en-US"/>
          </a:p>
        </p:txBody>
      </p:sp>
      <p:sp>
        <p:nvSpPr>
          <p:cNvPr id="13" name="Rectangle 12">
            <a:extLst>
              <a:ext uri="{FF2B5EF4-FFF2-40B4-BE49-F238E27FC236}">
                <a16:creationId xmlns:a16="http://schemas.microsoft.com/office/drawing/2014/main" id="{7902FCAA-90F4-4C11-AA3E-BD27B5ED614E}"/>
              </a:ext>
            </a:extLst>
          </p:cNvPr>
          <p:cNvSpPr>
            <a:spLocks noGrp="1"/>
          </p:cNvSpPr>
          <p:nvPr/>
        </p:nvSpPr>
        <p:spPr>
          <a:xfrm>
            <a:off x="6305550" y="3905250"/>
            <a:ext cx="2000250" cy="209550"/>
          </a:xfrm>
          <a:prstGeom prst="rect">
            <a:avLst/>
          </a:prstGeom>
          <a:noFill/>
          <a:ln w="0">
            <a:noFill/>
            <a:prstDash val="solid"/>
          </a:ln>
        </p:spPr>
        <p:txBody>
          <a:bodyPr/>
          <a:lstStyle/>
          <a:p>
            <a:pPr algn="l">
              <a:defRPr sz="1425" b="1">
                <a:solidFill>
                  <a:srgbClr val="91CFEF"/>
                </a:solidFill>
              </a:defRPr>
            </a:pPr>
            <a:r>
              <a:rPr sz="1425" b="1">
                <a:solidFill>
                  <a:srgbClr val="91CFEF"/>
                </a:solidFill>
              </a:rPr>
              <a:t>Why this AWS shape?</a:t>
            </a:r>
          </a:p>
        </p:txBody>
      </p:sp>
      <p:sp>
        <p:nvSpPr>
          <p:cNvPr id="14" name="Rectangle 13">
            <a:extLst>
              <a:ext uri="{FF2B5EF4-FFF2-40B4-BE49-F238E27FC236}">
                <a16:creationId xmlns:a16="http://schemas.microsoft.com/office/drawing/2014/main" id="{7E05AFF6-79E2-47D2-B128-67B35CF2780F}"/>
              </a:ext>
            </a:extLst>
          </p:cNvPr>
          <p:cNvSpPr>
            <a:spLocks noGrp="1"/>
          </p:cNvSpPr>
          <p:nvPr/>
        </p:nvSpPr>
        <p:spPr>
          <a:xfrm>
            <a:off x="6305550" y="4229100"/>
            <a:ext cx="4191000" cy="400050"/>
          </a:xfrm>
          <a:prstGeom prst="rect">
            <a:avLst/>
          </a:prstGeom>
          <a:noFill/>
          <a:ln w="0">
            <a:noFill/>
            <a:prstDash val="solid"/>
          </a:ln>
        </p:spPr>
        <p:txBody>
          <a:bodyPr/>
          <a:lstStyle/>
          <a:p>
            <a:pPr algn="l">
              <a:defRPr sz="1350" b="0">
                <a:solidFill>
                  <a:srgbClr val="C6D8E5"/>
                </a:solidFill>
              </a:defRPr>
            </a:pPr>
            <a:r>
              <a:rPr sz="1350" b="0">
                <a:solidFill>
                  <a:srgbClr val="C6D8E5"/>
                </a:solidFill>
              </a:rPr>
              <a:t>Inference, execution, state, and observability scale independently.</a:t>
            </a:r>
          </a:p>
        </p:txBody>
      </p:sp>
      <p:sp>
        <p:nvSpPr>
          <p:cNvPr id="15" name="Rectangle 14">
            <a:extLst>
              <a:ext uri="{FF2B5EF4-FFF2-40B4-BE49-F238E27FC236}">
                <a16:creationId xmlns:a16="http://schemas.microsoft.com/office/drawing/2014/main" id="{C97ECFA4-CD37-4DB2-820F-4C48256F162E}"/>
              </a:ext>
            </a:extLst>
          </p:cNvPr>
          <p:cNvSpPr>
            <a:spLocks noGrp="1"/>
          </p:cNvSpPr>
          <p:nvPr/>
        </p:nvSpPr>
        <p:spPr>
          <a:xfrm>
            <a:off x="6305550" y="4800600"/>
            <a:ext cx="4552950" cy="9525"/>
          </a:xfrm>
          <a:prstGeom prst="rect">
            <a:avLst/>
          </a:prstGeom>
          <a:solidFill>
            <a:srgbClr val="D7E1E8"/>
          </a:solidFill>
          <a:ln w="0">
            <a:solidFill>
              <a:srgbClr val="D7E1E8"/>
            </a:solidFill>
            <a:prstDash val="solid"/>
          </a:ln>
        </p:spPr>
        <p:txBody>
          <a:bodyPr/>
          <a:lstStyle/>
          <a:p>
            <a:endParaRPr lang="en-US"/>
          </a:p>
        </p:txBody>
      </p:sp>
      <p:sp>
        <p:nvSpPr>
          <p:cNvPr id="16" name="Rectangle 15">
            <a:extLst>
              <a:ext uri="{FF2B5EF4-FFF2-40B4-BE49-F238E27FC236}">
                <a16:creationId xmlns:a16="http://schemas.microsoft.com/office/drawing/2014/main" id="{05ECA86D-B146-4319-B495-DD80B7B394E8}"/>
              </a:ext>
            </a:extLst>
          </p:cNvPr>
          <p:cNvSpPr>
            <a:spLocks noGrp="1"/>
          </p:cNvSpPr>
          <p:nvPr/>
        </p:nvSpPr>
        <p:spPr>
          <a:xfrm>
            <a:off x="704850" y="5429250"/>
            <a:ext cx="9906000" cy="285750"/>
          </a:xfrm>
          <a:prstGeom prst="rect">
            <a:avLst/>
          </a:prstGeom>
          <a:noFill/>
          <a:ln w="0">
            <a:noFill/>
            <a:prstDash val="solid"/>
          </a:ln>
        </p:spPr>
        <p:txBody>
          <a:bodyPr/>
          <a:lstStyle/>
          <a:p>
            <a:pPr algn="l">
              <a:defRPr sz="1800" b="1">
                <a:solidFill>
                  <a:srgbClr val="FFFFFF"/>
                </a:solidFill>
              </a:defRPr>
            </a:pPr>
            <a:r>
              <a:rPr sz="1800" b="1">
                <a:solidFill>
                  <a:srgbClr val="FFFFFF"/>
                </a:solidFill>
              </a:rPr>
              <a:t>Result: a scoped proof-of-concept that is easy to reason about, test, demo, and evolve.</a:t>
            </a:r>
          </a:p>
        </p:txBody>
      </p:sp>
      <p:sp>
        <p:nvSpPr>
          <p:cNvPr id="17" name="Rectangle 16">
            <a:extLst>
              <a:ext uri="{FF2B5EF4-FFF2-40B4-BE49-F238E27FC236}">
                <a16:creationId xmlns:a16="http://schemas.microsoft.com/office/drawing/2014/main" id="{7617F3F8-FEC7-4014-BFF9-07B9B004525A}"/>
              </a:ext>
            </a:extLst>
          </p:cNvPr>
          <p:cNvSpPr>
            <a:spLocks noGrp="1"/>
          </p:cNvSpPr>
          <p:nvPr/>
        </p:nvSpPr>
        <p:spPr>
          <a:xfrm>
            <a:off x="609600" y="6191250"/>
            <a:ext cx="5048250" cy="171450"/>
          </a:xfrm>
          <a:prstGeom prst="rect">
            <a:avLst/>
          </a:prstGeom>
          <a:noFill/>
          <a:ln w="0">
            <a:noFill/>
            <a:prstDash val="solid"/>
          </a:ln>
        </p:spPr>
        <p:txBody>
          <a:bodyPr/>
          <a:lstStyle/>
          <a:p>
            <a:pPr algn="l">
              <a:defRPr sz="900" b="0">
                <a:solidFill>
                  <a:srgbClr val="9CD8F4"/>
                </a:solidFill>
              </a:defRPr>
            </a:pPr>
            <a:r>
              <a:rPr sz="900" b="0">
                <a:solidFill>
                  <a:srgbClr val="9CD8F4"/>
                </a:solidFill>
              </a:rPr>
              <a:t>DCLI Chassis Triage • Proof of Concept</a:t>
            </a:r>
          </a:p>
        </p:txBody>
      </p:sp>
      <p:sp>
        <p:nvSpPr>
          <p:cNvPr id="18" name="Rectangle 17">
            <a:extLst>
              <a:ext uri="{FF2B5EF4-FFF2-40B4-BE49-F238E27FC236}">
                <a16:creationId xmlns:a16="http://schemas.microsoft.com/office/drawing/2014/main" id="{86BD66F2-8BFA-43D7-9139-3A69703FA3A6}"/>
              </a:ext>
            </a:extLst>
          </p:cNvPr>
          <p:cNvSpPr>
            <a:spLocks noGrp="1"/>
          </p:cNvSpPr>
          <p:nvPr/>
        </p:nvSpPr>
        <p:spPr>
          <a:xfrm>
            <a:off x="11163300" y="6191250"/>
            <a:ext cx="457200" cy="171450"/>
          </a:xfrm>
          <a:prstGeom prst="rect">
            <a:avLst/>
          </a:prstGeom>
          <a:noFill/>
          <a:ln w="0">
            <a:noFill/>
            <a:prstDash val="solid"/>
          </a:ln>
        </p:spPr>
        <p:txBody>
          <a:bodyPr/>
          <a:lstStyle/>
          <a:p>
            <a:pPr algn="r">
              <a:defRPr sz="900" b="1">
                <a:solidFill>
                  <a:srgbClr val="9CD8F4"/>
                </a:solidFill>
              </a:defRPr>
            </a:pPr>
            <a:r>
              <a:rPr sz="900" b="1">
                <a:solidFill>
                  <a:srgbClr val="9CD8F4"/>
                </a:solidFill>
              </a:rPr>
              <a:t>11</a:t>
            </a:r>
          </a:p>
        </p:txBody>
      </p:sp>
    </p:spTree>
    <p:extLst>
      <p:ext uri="{BB962C8B-B14F-4D97-AF65-F5344CB8AC3E}">
        <p14:creationId xmlns:p14="http://schemas.microsoft.com/office/powerpoint/2010/main" val="189934160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2564</Words>
  <Application>Microsoft Office PowerPoint</Application>
  <DocSecurity>0</DocSecurity>
  <PresentationFormat>Widescreen</PresentationFormat>
  <Paragraphs>245</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Roopesh Gantasala</cp:lastModifiedBy>
  <cp:revision>3</cp:revision>
  <dcterms:created xsi:type="dcterms:W3CDTF">2026-07-10T12:35:35Z</dcterms:created>
  <dcterms:modified xsi:type="dcterms:W3CDTF">2026-07-10T13:07:53Z</dcterms:modified>
</cp:coreProperties>
</file>